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handoutMasterIdLst>
    <p:handoutMasterId r:id="rId5"/>
  </p:handoutMasterIdLst>
  <p:sldIdLst>
    <p:sldId id="256" r:id="rId2"/>
    <p:sldId id="257" r:id="rId3"/>
  </p:sldIdLst>
  <p:sldSz cx="7772400" cy="100584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90D11A-7725-40F9-BEDE-C76A5C07165C}" v="7" dt="2024-03-29T17:46:55.06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276"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handoutMaster" Target="handoutMasters/handoutMaster1.xml"/><Relationship Id="rId10" Type="http://schemas.microsoft.com/office/2016/11/relationships/changesInfo" Target="changesInfos/changesInfo1.xml"/><Relationship Id="rId4" Type="http://schemas.openxmlformats.org/officeDocument/2006/relationships/notesMaster" Target="notesMasters/notes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parham" userId="48bee6167aa5e6c1" providerId="LiveId" clId="{2390D11A-7725-40F9-BEDE-C76A5C07165C}"/>
    <pc:docChg chg="undo custSel modSld">
      <pc:chgData name="james parham" userId="48bee6167aa5e6c1" providerId="LiveId" clId="{2390D11A-7725-40F9-BEDE-C76A5C07165C}" dt="2024-03-29T17:47:13.383" v="46" actId="1076"/>
      <pc:docMkLst>
        <pc:docMk/>
      </pc:docMkLst>
      <pc:sldChg chg="addSp delSp modSp mod">
        <pc:chgData name="james parham" userId="48bee6167aa5e6c1" providerId="LiveId" clId="{2390D11A-7725-40F9-BEDE-C76A5C07165C}" dt="2024-03-29T17:47:13.383" v="46" actId="1076"/>
        <pc:sldMkLst>
          <pc:docMk/>
          <pc:sldMk cId="0" sldId="256"/>
        </pc:sldMkLst>
        <pc:spChg chg="mod">
          <ac:chgData name="james parham" userId="48bee6167aa5e6c1" providerId="LiveId" clId="{2390D11A-7725-40F9-BEDE-C76A5C07165C}" dt="2024-03-29T17:46:41.418" v="41"/>
          <ac:spMkLst>
            <pc:docMk/>
            <pc:sldMk cId="0" sldId="256"/>
            <ac:spMk id="41" creationId="{00000000-0000-0000-0000-000000000000}"/>
          </ac:spMkLst>
        </pc:spChg>
        <pc:graphicFrameChg chg="add mod">
          <ac:chgData name="james parham" userId="48bee6167aa5e6c1" providerId="LiveId" clId="{2390D11A-7725-40F9-BEDE-C76A5C07165C}" dt="2024-03-29T17:47:10.283" v="45" actId="1076"/>
          <ac:graphicFrameMkLst>
            <pc:docMk/>
            <pc:sldMk cId="0" sldId="256"/>
            <ac:graphicFrameMk id="10" creationId="{41A2AAA9-0BF1-003B-6C4B-9F8EB43416C1}"/>
          </ac:graphicFrameMkLst>
        </pc:graphicFrameChg>
        <pc:picChg chg="mod">
          <ac:chgData name="james parham" userId="48bee6167aa5e6c1" providerId="LiveId" clId="{2390D11A-7725-40F9-BEDE-C76A5C07165C}" dt="2024-03-29T17:47:13.383" v="46" actId="1076"/>
          <ac:picMkLst>
            <pc:docMk/>
            <pc:sldMk cId="0" sldId="256"/>
            <ac:picMk id="7" creationId="{639925EE-0D12-705C-ABF9-16FF5D991163}"/>
          </ac:picMkLst>
        </pc:picChg>
        <pc:picChg chg="add del mod">
          <ac:chgData name="james parham" userId="48bee6167aa5e6c1" providerId="LiveId" clId="{2390D11A-7725-40F9-BEDE-C76A5C07165C}" dt="2024-03-29T17:43:09.048" v="7" actId="478"/>
          <ac:picMkLst>
            <pc:docMk/>
            <pc:sldMk cId="0" sldId="256"/>
            <ac:picMk id="9" creationId="{061D0570-2DB3-BB51-F378-9834511A8CB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803C8CE-B028-CF69-9A79-1C1E073600A0}"/>
              </a:ext>
            </a:extLst>
          </p:cNvPr>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1000D67-E421-7596-FFE5-3A87DBE2A418}"/>
              </a:ext>
            </a:extLst>
          </p:cNvPr>
          <p:cNvSpPr>
            <a:spLocks noGrp="1"/>
          </p:cNvSpPr>
          <p:nvPr>
            <p:ph type="dt" sz="quarter" idx="1"/>
          </p:nvPr>
        </p:nvSpPr>
        <p:spPr>
          <a:xfrm>
            <a:off x="4402138" y="0"/>
            <a:ext cx="3368675" cy="504825"/>
          </a:xfrm>
          <a:prstGeom prst="rect">
            <a:avLst/>
          </a:prstGeom>
        </p:spPr>
        <p:txBody>
          <a:bodyPr vert="horz" lIns="91440" tIns="45720" rIns="91440" bIns="45720" rtlCol="0"/>
          <a:lstStyle>
            <a:lvl1pPr algn="r">
              <a:defRPr sz="1200"/>
            </a:lvl1pPr>
          </a:lstStyle>
          <a:p>
            <a:fld id="{AF61D0BC-C674-4FC5-8A43-BBC240E5AC9B}" type="datetimeFigureOut">
              <a:rPr lang="en-US" smtClean="0"/>
              <a:t>3/29/2024</a:t>
            </a:fld>
            <a:endParaRPr lang="en-US"/>
          </a:p>
        </p:txBody>
      </p:sp>
      <p:sp>
        <p:nvSpPr>
          <p:cNvPr id="4" name="Footer Placeholder 3">
            <a:extLst>
              <a:ext uri="{FF2B5EF4-FFF2-40B4-BE49-F238E27FC236}">
                <a16:creationId xmlns:a16="http://schemas.microsoft.com/office/drawing/2014/main" id="{6B2DC9A2-9245-0408-8ACB-677CC62524EB}"/>
              </a:ext>
            </a:extLst>
          </p:cNvPr>
          <p:cNvSpPr>
            <a:spLocks noGrp="1"/>
          </p:cNvSpPr>
          <p:nvPr>
            <p:ph type="ftr" sz="quarter" idx="2"/>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819712A-3222-675F-0639-D0482039D000}"/>
              </a:ext>
            </a:extLst>
          </p:cNvPr>
          <p:cNvSpPr>
            <a:spLocks noGrp="1"/>
          </p:cNvSpPr>
          <p:nvPr>
            <p:ph type="sldNum" sz="quarter" idx="3"/>
          </p:nvPr>
        </p:nvSpPr>
        <p:spPr>
          <a:xfrm>
            <a:off x="4402138" y="9553575"/>
            <a:ext cx="3368675" cy="504825"/>
          </a:xfrm>
          <a:prstGeom prst="rect">
            <a:avLst/>
          </a:prstGeom>
        </p:spPr>
        <p:txBody>
          <a:bodyPr vert="horz" lIns="91440" tIns="45720" rIns="91440" bIns="45720" rtlCol="0" anchor="b"/>
          <a:lstStyle>
            <a:lvl1pPr algn="r">
              <a:defRPr sz="1200"/>
            </a:lvl1pPr>
          </a:lstStyle>
          <a:p>
            <a:fld id="{0603C82B-F061-4E88-90DB-DDC3215EB969}" type="slidenum">
              <a:rPr lang="en-US" smtClean="0"/>
              <a:t>‹#›</a:t>
            </a:fld>
            <a:endParaRPr lang="en-US"/>
          </a:p>
        </p:txBody>
      </p:sp>
    </p:spTree>
    <p:extLst>
      <p:ext uri="{BB962C8B-B14F-4D97-AF65-F5344CB8AC3E}">
        <p14:creationId xmlns:p14="http://schemas.microsoft.com/office/powerpoint/2010/main" val="46508667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FDD04E1A-6264-4989-BF3E-35C3CD459B01}" type="datetimeFigureOut">
              <a:rPr lang="en-US" smtClean="0"/>
              <a:t>3/29/2024</a:t>
            </a:fld>
            <a:endParaRPr lang="en-US"/>
          </a:p>
        </p:txBody>
      </p:sp>
      <p:sp>
        <p:nvSpPr>
          <p:cNvPr id="4" name="Slide Image Placeholder 3"/>
          <p:cNvSpPr>
            <a:spLocks noGrp="1" noRot="1" noChangeAspect="1"/>
          </p:cNvSpPr>
          <p:nvPr>
            <p:ph type="sldImg" idx="2"/>
          </p:nvPr>
        </p:nvSpPr>
        <p:spPr>
          <a:xfrm>
            <a:off x="2574925" y="1257300"/>
            <a:ext cx="262255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8935A326-AB24-41F9-934B-BF9973838147}" type="slidenum">
              <a:rPr lang="en-US" smtClean="0"/>
              <a:t>‹#›</a:t>
            </a:fld>
            <a:endParaRPr lang="en-US"/>
          </a:p>
        </p:txBody>
      </p:sp>
    </p:spTree>
    <p:extLst>
      <p:ext uri="{BB962C8B-B14F-4D97-AF65-F5344CB8AC3E}">
        <p14:creationId xmlns:p14="http://schemas.microsoft.com/office/powerpoint/2010/main" val="418507026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jpeg"/><Relationship Id="rId3" Type="http://schemas.openxmlformats.org/officeDocument/2006/relationships/image" Target="../media/image2.jpeg"/><Relationship Id="rId21" Type="http://schemas.openxmlformats.org/officeDocument/2006/relationships/image" Target="../media/image19.emf"/><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jpe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8.jpe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24.jpe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E5FF8A-958E-DA2E-F9EC-6881A1D776FA}"/>
              </a:ext>
            </a:extLst>
          </p:cNvPr>
          <p:cNvPicPr>
            <a:picLocks noChangeAspect="1"/>
          </p:cNvPicPr>
          <p:nvPr/>
        </p:nvPicPr>
        <p:blipFill>
          <a:blip r:embed="rId2"/>
          <a:stretch>
            <a:fillRect/>
          </a:stretch>
        </p:blipFill>
        <p:spPr>
          <a:xfrm>
            <a:off x="3579009" y="3736376"/>
            <a:ext cx="718317" cy="718317"/>
          </a:xfrm>
          <a:prstGeom prst="rect">
            <a:avLst/>
          </a:prstGeom>
        </p:spPr>
      </p:pic>
      <p:pic>
        <p:nvPicPr>
          <p:cNvPr id="15" name="Picture 14" descr="A logo with skulls and text">
            <a:extLst>
              <a:ext uri="{FF2B5EF4-FFF2-40B4-BE49-F238E27FC236}">
                <a16:creationId xmlns:a16="http://schemas.microsoft.com/office/drawing/2014/main" id="{34AD508C-26B7-CD9E-70CE-670E51BAE36C}"/>
              </a:ext>
            </a:extLst>
          </p:cNvPr>
          <p:cNvPicPr>
            <a:picLocks noChangeAspect="1"/>
          </p:cNvPicPr>
          <p:nvPr/>
        </p:nvPicPr>
        <p:blipFill rotWithShape="1">
          <a:blip r:embed="rId3" cstate="print">
            <a:alphaModFix amt="93000"/>
            <a:extLst>
              <a:ext uri="{28A0092B-C50C-407E-A947-70E740481C1C}">
                <a14:useLocalDpi xmlns:a14="http://schemas.microsoft.com/office/drawing/2010/main" val="0"/>
              </a:ext>
            </a:extLst>
          </a:blip>
          <a:srcRect l="10422" t="31431" r="9257" b="33613"/>
          <a:stretch/>
        </p:blipFill>
        <p:spPr>
          <a:xfrm>
            <a:off x="705216" y="226695"/>
            <a:ext cx="2477993" cy="690943"/>
          </a:xfrm>
          <a:prstGeom prst="rect">
            <a:avLst/>
          </a:prstGeom>
        </p:spPr>
      </p:pic>
      <p:pic>
        <p:nvPicPr>
          <p:cNvPr id="7" name="Picture 6">
            <a:extLst>
              <a:ext uri="{FF2B5EF4-FFF2-40B4-BE49-F238E27FC236}">
                <a16:creationId xmlns:a16="http://schemas.microsoft.com/office/drawing/2014/main" id="{639925EE-0D12-705C-ABF9-16FF5D991163}"/>
              </a:ext>
            </a:extLst>
          </p:cNvPr>
          <p:cNvPicPr>
            <a:picLocks noChangeAspect="1"/>
          </p:cNvPicPr>
          <p:nvPr/>
        </p:nvPicPr>
        <p:blipFill>
          <a:blip r:embed="rId4"/>
          <a:stretch>
            <a:fillRect/>
          </a:stretch>
        </p:blipFill>
        <p:spPr>
          <a:xfrm>
            <a:off x="600010" y="4967892"/>
            <a:ext cx="925248" cy="850819"/>
          </a:xfrm>
          <a:prstGeom prst="rect">
            <a:avLst/>
          </a:prstGeom>
        </p:spPr>
      </p:pic>
      <p:pic>
        <p:nvPicPr>
          <p:cNvPr id="1038" name="Picture 14" descr="CompTIA Security+ ce Certification badge image. Issued by CompTIA">
            <a:extLst>
              <a:ext uri="{FF2B5EF4-FFF2-40B4-BE49-F238E27FC236}">
                <a16:creationId xmlns:a16="http://schemas.microsoft.com/office/drawing/2014/main" id="{5E534FBA-C40A-C561-42AB-CA29F4EA68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60357" y="3695135"/>
            <a:ext cx="718317" cy="718317"/>
          </a:xfrm>
          <a:prstGeom prst="rect">
            <a:avLst/>
          </a:prstGeom>
          <a:noFill/>
          <a:extLst>
            <a:ext uri="{909E8E84-426E-40DD-AFC4-6F175D3DCCD1}">
              <a14:hiddenFill xmlns:a14="http://schemas.microsoft.com/office/drawing/2010/main">
                <a:solidFill>
                  <a:srgbClr val="FFFFFF"/>
                </a:solidFill>
              </a14:hiddenFill>
            </a:ext>
          </a:extLst>
        </p:spPr>
      </p:pic>
      <p:sp>
        <p:nvSpPr>
          <p:cNvPr id="17" name="object 17"/>
          <p:cNvSpPr/>
          <p:nvPr/>
        </p:nvSpPr>
        <p:spPr>
          <a:xfrm>
            <a:off x="1673244" y="7355930"/>
            <a:ext cx="1832102" cy="940718"/>
          </a:xfrm>
          <a:custGeom>
            <a:avLst/>
            <a:gdLst/>
            <a:ahLst/>
            <a:cxnLst/>
            <a:rect l="l" t="t" r="r" b="b"/>
            <a:pathLst>
              <a:path w="1832102" h="146304">
                <a:moveTo>
                  <a:pt x="0" y="146304"/>
                </a:moveTo>
                <a:lnTo>
                  <a:pt x="1832102" y="146304"/>
                </a:lnTo>
                <a:lnTo>
                  <a:pt x="1832102" y="0"/>
                </a:lnTo>
                <a:lnTo>
                  <a:pt x="0" y="0"/>
                </a:lnTo>
                <a:close/>
              </a:path>
            </a:pathLst>
          </a:custGeom>
          <a:solidFill>
            <a:srgbClr val="E0E0E0"/>
          </a:solidFill>
        </p:spPr>
        <p:txBody>
          <a:bodyPr wrap="square" lIns="0" tIns="0" rIns="0" bIns="0" rtlCol="0">
            <a:noAutofit/>
          </a:bodyPr>
          <a:lstStyle/>
          <a:p>
            <a:endParaRPr/>
          </a:p>
        </p:txBody>
      </p:sp>
      <p:sp>
        <p:nvSpPr>
          <p:cNvPr id="35" name="text 1"/>
          <p:cNvSpPr txBox="1"/>
          <p:nvPr/>
        </p:nvSpPr>
        <p:spPr>
          <a:xfrm>
            <a:off x="4460113" y="468187"/>
            <a:ext cx="2468879" cy="250175"/>
          </a:xfrm>
          <a:prstGeom prst="rect">
            <a:avLst/>
          </a:prstGeom>
        </p:spPr>
        <p:txBody>
          <a:bodyPr vert="horz" wrap="none" lIns="0" tIns="0" rIns="0" bIns="0" rtlCol="0">
            <a:spAutoFit/>
          </a:bodyPr>
          <a:lstStyle/>
          <a:p>
            <a:pPr marL="0">
              <a:lnSpc>
                <a:spcPct val="100000"/>
              </a:lnSpc>
            </a:pPr>
            <a:r>
              <a:rPr sz="1960" b="1" i="1" spc="10" dirty="0">
                <a:solidFill>
                  <a:srgbClr val="C00000"/>
                </a:solidFill>
                <a:latin typeface="Arial"/>
                <a:cs typeface="Arial"/>
              </a:rPr>
              <a:t>Capability Statement</a:t>
            </a:r>
            <a:endParaRPr sz="1900" dirty="0">
              <a:latin typeface="Arial"/>
              <a:cs typeface="Arial"/>
            </a:endParaRPr>
          </a:p>
        </p:txBody>
      </p:sp>
      <p:sp>
        <p:nvSpPr>
          <p:cNvPr id="36" name="text 1"/>
          <p:cNvSpPr txBox="1"/>
          <p:nvPr/>
        </p:nvSpPr>
        <p:spPr>
          <a:xfrm>
            <a:off x="6789166" y="9483852"/>
            <a:ext cx="101791" cy="140208"/>
          </a:xfrm>
          <a:prstGeom prst="rect">
            <a:avLst/>
          </a:prstGeom>
        </p:spPr>
        <p:txBody>
          <a:bodyPr vert="horz" wrap="none" lIns="0" tIns="0" rIns="0" bIns="0" rtlCol="0">
            <a:spAutoFit/>
          </a:bodyPr>
          <a:lstStyle/>
          <a:p>
            <a:pPr marL="0">
              <a:lnSpc>
                <a:spcPct val="100000"/>
              </a:lnSpc>
            </a:pPr>
            <a:r>
              <a:rPr sz="1100" spc="10" dirty="0">
                <a:latin typeface="Calibri"/>
                <a:cs typeface="Calibri"/>
              </a:rPr>
              <a:t>1</a:t>
            </a:r>
            <a:endParaRPr sz="1100">
              <a:latin typeface="Calibri"/>
              <a:cs typeface="Calibri"/>
            </a:endParaRPr>
          </a:p>
        </p:txBody>
      </p:sp>
      <p:sp>
        <p:nvSpPr>
          <p:cNvPr id="37" name="text 1"/>
          <p:cNvSpPr txBox="1"/>
          <p:nvPr/>
        </p:nvSpPr>
        <p:spPr>
          <a:xfrm>
            <a:off x="2938907" y="9633632"/>
            <a:ext cx="1590372" cy="201594"/>
          </a:xfrm>
          <a:prstGeom prst="rect">
            <a:avLst/>
          </a:prstGeom>
        </p:spPr>
        <p:txBody>
          <a:bodyPr vert="horz" wrap="none" lIns="0" tIns="0" rIns="0" bIns="0" rtlCol="0">
            <a:spAutoFit/>
          </a:bodyPr>
          <a:lstStyle/>
          <a:p>
            <a:pPr marL="0">
              <a:lnSpc>
                <a:spcPct val="100000"/>
              </a:lnSpc>
            </a:pPr>
            <a:r>
              <a:rPr lang="en-US" sz="1310" b="1" spc="10" dirty="0">
                <a:latin typeface="Arial"/>
                <a:cs typeface="Arial"/>
              </a:rPr>
              <a:t>www.armyspm.com</a:t>
            </a:r>
            <a:endParaRPr sz="1300" dirty="0">
              <a:latin typeface="Arial"/>
              <a:cs typeface="Arial"/>
            </a:endParaRPr>
          </a:p>
        </p:txBody>
      </p:sp>
      <p:sp>
        <p:nvSpPr>
          <p:cNvPr id="38" name="object 1"/>
          <p:cNvSpPr/>
          <p:nvPr/>
        </p:nvSpPr>
        <p:spPr>
          <a:xfrm>
            <a:off x="355853" y="834076"/>
            <a:ext cx="7060693" cy="117348"/>
          </a:xfrm>
          <a:custGeom>
            <a:avLst/>
            <a:gdLst/>
            <a:ahLst/>
            <a:cxnLst/>
            <a:rect l="l" t="t" r="r" b="b"/>
            <a:pathLst>
              <a:path w="7060693" h="117348">
                <a:moveTo>
                  <a:pt x="0" y="117348"/>
                </a:moveTo>
                <a:lnTo>
                  <a:pt x="7060693" y="117348"/>
                </a:lnTo>
                <a:lnTo>
                  <a:pt x="7060693" y="0"/>
                </a:lnTo>
                <a:lnTo>
                  <a:pt x="0" y="0"/>
                </a:lnTo>
                <a:close/>
              </a:path>
            </a:pathLst>
          </a:custGeom>
          <a:solidFill>
            <a:srgbClr val="000000"/>
          </a:solidFill>
        </p:spPr>
        <p:txBody>
          <a:bodyPr wrap="square" lIns="0" tIns="0" rIns="0" bIns="0" rtlCol="0">
            <a:noAutofit/>
          </a:bodyPr>
          <a:lstStyle/>
          <a:p>
            <a:endParaRPr/>
          </a:p>
        </p:txBody>
      </p:sp>
      <p:sp>
        <p:nvSpPr>
          <p:cNvPr id="40" name="text 1"/>
          <p:cNvSpPr txBox="1"/>
          <p:nvPr/>
        </p:nvSpPr>
        <p:spPr>
          <a:xfrm>
            <a:off x="1751716" y="1014940"/>
            <a:ext cx="4196020" cy="135293"/>
          </a:xfrm>
          <a:prstGeom prst="rect">
            <a:avLst/>
          </a:prstGeom>
        </p:spPr>
        <p:txBody>
          <a:bodyPr vert="horz" wrap="none" lIns="0" tIns="0" rIns="0" bIns="0" rtlCol="0">
            <a:spAutoFit/>
          </a:bodyPr>
          <a:lstStyle/>
          <a:p>
            <a:pPr marL="0">
              <a:lnSpc>
                <a:spcPct val="100000"/>
              </a:lnSpc>
            </a:pPr>
            <a:r>
              <a:rPr lang="en-US" sz="879" b="1" spc="10" dirty="0">
                <a:latin typeface="Arial"/>
                <a:cs typeface="Arial"/>
              </a:rPr>
              <a:t>1440 Dominic Anakin Dr.</a:t>
            </a:r>
            <a:r>
              <a:rPr sz="879" b="1" spc="10" dirty="0">
                <a:latin typeface="Arial"/>
                <a:cs typeface="Arial"/>
              </a:rPr>
              <a:t>, </a:t>
            </a:r>
            <a:r>
              <a:rPr lang="en-US" sz="879" b="1" spc="10" dirty="0">
                <a:latin typeface="Arial"/>
                <a:cs typeface="Arial"/>
              </a:rPr>
              <a:t>El Paso</a:t>
            </a:r>
            <a:r>
              <a:rPr sz="879" b="1" spc="10" dirty="0">
                <a:latin typeface="Arial"/>
                <a:cs typeface="Arial"/>
              </a:rPr>
              <a:t>, </a:t>
            </a:r>
            <a:r>
              <a:rPr lang="en-US" sz="879" b="1" spc="10" dirty="0">
                <a:latin typeface="Arial"/>
                <a:cs typeface="Arial"/>
              </a:rPr>
              <a:t>TX</a:t>
            </a:r>
            <a:r>
              <a:rPr sz="879" b="1" spc="10" dirty="0">
                <a:latin typeface="Arial"/>
                <a:cs typeface="Arial"/>
              </a:rPr>
              <a:t> </a:t>
            </a:r>
            <a:r>
              <a:rPr lang="en-US" sz="879" b="1" spc="10" dirty="0">
                <a:latin typeface="Arial"/>
                <a:cs typeface="Arial"/>
              </a:rPr>
              <a:t>799</a:t>
            </a:r>
            <a:r>
              <a:rPr sz="879" b="1" spc="10" dirty="0">
                <a:latin typeface="Arial"/>
                <a:cs typeface="Arial"/>
              </a:rPr>
              <a:t>28 | </a:t>
            </a:r>
            <a:r>
              <a:rPr lang="en-US" sz="879" b="1" spc="10" dirty="0">
                <a:latin typeface="Arial"/>
                <a:cs typeface="Arial"/>
              </a:rPr>
              <a:t>armyspmcs.com</a:t>
            </a:r>
            <a:r>
              <a:rPr sz="879" b="1" spc="10" dirty="0">
                <a:latin typeface="Arial"/>
                <a:cs typeface="Arial"/>
              </a:rPr>
              <a:t>| </a:t>
            </a:r>
            <a:r>
              <a:rPr lang="en-US" sz="879" b="1" spc="10" dirty="0">
                <a:latin typeface="Arial"/>
                <a:cs typeface="Arial"/>
              </a:rPr>
              <a:t>915-264-3456</a:t>
            </a:r>
            <a:r>
              <a:rPr sz="879" b="1" spc="10" dirty="0">
                <a:latin typeface="Arial"/>
                <a:cs typeface="Arial"/>
              </a:rPr>
              <a:t> </a:t>
            </a:r>
            <a:endParaRPr sz="800" dirty="0">
              <a:latin typeface="Arial"/>
              <a:cs typeface="Arial"/>
            </a:endParaRPr>
          </a:p>
        </p:txBody>
      </p:sp>
      <p:sp>
        <p:nvSpPr>
          <p:cNvPr id="41" name="text 1"/>
          <p:cNvSpPr txBox="1"/>
          <p:nvPr/>
        </p:nvSpPr>
        <p:spPr>
          <a:xfrm>
            <a:off x="1779939" y="1249265"/>
            <a:ext cx="5613069" cy="677108"/>
          </a:xfrm>
          <a:prstGeom prst="rect">
            <a:avLst/>
          </a:prstGeom>
        </p:spPr>
        <p:txBody>
          <a:bodyPr vert="horz" wrap="square" lIns="0" tIns="0" rIns="0" bIns="0" rtlCol="0">
            <a:spAutoFit/>
          </a:bodyPr>
          <a:lstStyle/>
          <a:p>
            <a:r>
              <a:rPr lang="en-US" sz="1100" b="1" i="0" dirty="0">
                <a:solidFill>
                  <a:srgbClr val="0D0D0D"/>
                </a:solidFill>
                <a:effectLst/>
                <a:latin typeface="Söhne"/>
              </a:rPr>
              <a:t>Army Strong PM Consultants LLC </a:t>
            </a:r>
            <a:r>
              <a:rPr lang="en-US" sz="1100" b="0" i="0" dirty="0">
                <a:solidFill>
                  <a:srgbClr val="0D0D0D"/>
                </a:solidFill>
                <a:effectLst/>
                <a:latin typeface="Söhne"/>
              </a:rPr>
              <a:t>is a distinguished </a:t>
            </a:r>
            <a:r>
              <a:rPr lang="en-US" sz="1100" b="1" i="0" dirty="0">
                <a:solidFill>
                  <a:srgbClr val="0D0D0D"/>
                </a:solidFill>
                <a:effectLst/>
                <a:latin typeface="Söhne"/>
              </a:rPr>
              <a:t>SBA</a:t>
            </a:r>
            <a:r>
              <a:rPr lang="en-US" sz="1100" b="0" i="0" dirty="0">
                <a:solidFill>
                  <a:srgbClr val="0D0D0D"/>
                </a:solidFill>
                <a:effectLst/>
                <a:latin typeface="Söhne"/>
              </a:rPr>
              <a:t>, Service-Disabled Veteran-Owned Small Business (SDVOSB), and MBE certified business. We are dedicated to advancing program, project management, and field-level maintenance across public agencies and the U.S. Army. </a:t>
            </a:r>
            <a:r>
              <a:rPr lang="en-US" sz="1000" b="1" spc="10" dirty="0">
                <a:latin typeface="Arial"/>
                <a:cs typeface="Arial"/>
              </a:rPr>
              <a:t>Iron Thunder: “STRIKE FEAR!”</a:t>
            </a:r>
            <a:endParaRPr lang="en-US" sz="1000" spc="10" dirty="0">
              <a:latin typeface="Arial"/>
              <a:cs typeface="Arial"/>
            </a:endParaRPr>
          </a:p>
        </p:txBody>
      </p:sp>
      <p:sp>
        <p:nvSpPr>
          <p:cNvPr id="43" name="text 1"/>
          <p:cNvSpPr txBox="1"/>
          <p:nvPr/>
        </p:nvSpPr>
        <p:spPr>
          <a:xfrm>
            <a:off x="1733042" y="1810937"/>
            <a:ext cx="65" cy="289182"/>
          </a:xfrm>
          <a:prstGeom prst="rect">
            <a:avLst/>
          </a:prstGeom>
        </p:spPr>
        <p:txBody>
          <a:bodyPr vert="horz" wrap="none" lIns="0" tIns="0" rIns="0" bIns="0" rtlCol="0">
            <a:spAutoFit/>
          </a:bodyPr>
          <a:lstStyle/>
          <a:p>
            <a:pPr marL="0">
              <a:lnSpc>
                <a:spcPct val="100000"/>
              </a:lnSpc>
            </a:pPr>
            <a:endParaRPr lang="en-US" sz="979" spc="10" dirty="0">
              <a:latin typeface="Arial"/>
              <a:cs typeface="Arial"/>
            </a:endParaRPr>
          </a:p>
          <a:p>
            <a:pPr marL="0">
              <a:lnSpc>
                <a:spcPct val="100000"/>
              </a:lnSpc>
            </a:pPr>
            <a:endParaRPr sz="900" dirty="0">
              <a:latin typeface="Arial"/>
              <a:cs typeface="Arial"/>
            </a:endParaRPr>
          </a:p>
        </p:txBody>
      </p:sp>
      <p:sp>
        <p:nvSpPr>
          <p:cNvPr id="50" name="text 1"/>
          <p:cNvSpPr txBox="1"/>
          <p:nvPr/>
        </p:nvSpPr>
        <p:spPr>
          <a:xfrm>
            <a:off x="1705236" y="4306026"/>
            <a:ext cx="1233671" cy="155299"/>
          </a:xfrm>
          <a:prstGeom prst="rect">
            <a:avLst/>
          </a:prstGeom>
        </p:spPr>
        <p:txBody>
          <a:bodyPr vert="horz" wrap="none" lIns="0" tIns="0" rIns="0" bIns="0" rtlCol="0">
            <a:spAutoFit/>
          </a:bodyPr>
          <a:lstStyle/>
          <a:p>
            <a:pPr marL="0">
              <a:lnSpc>
                <a:spcPct val="100000"/>
              </a:lnSpc>
            </a:pPr>
            <a:r>
              <a:rPr lang="en-US" sz="1009" b="1" spc="10" dirty="0">
                <a:solidFill>
                  <a:srgbClr val="C00000"/>
                </a:solidFill>
                <a:latin typeface="Arial"/>
                <a:cs typeface="Arial"/>
              </a:rPr>
              <a:t>Core Competencies</a:t>
            </a:r>
            <a:endParaRPr sz="1000" dirty="0">
              <a:latin typeface="Arial"/>
              <a:cs typeface="Arial"/>
            </a:endParaRPr>
          </a:p>
        </p:txBody>
      </p:sp>
      <p:sp>
        <p:nvSpPr>
          <p:cNvPr id="69" name="text 1"/>
          <p:cNvSpPr txBox="1"/>
          <p:nvPr/>
        </p:nvSpPr>
        <p:spPr>
          <a:xfrm>
            <a:off x="1675151" y="4528645"/>
            <a:ext cx="5760740" cy="1846659"/>
          </a:xfrm>
          <a:prstGeom prst="rect">
            <a:avLst/>
          </a:prstGeom>
        </p:spPr>
        <p:txBody>
          <a:bodyPr vert="horz" wrap="square" lIns="0" tIns="0" rIns="0" bIns="0" rtlCol="0">
            <a:spAutoFit/>
          </a:bodyPr>
          <a:lstStyle/>
          <a:p>
            <a:pPr marL="171450" indent="-171450">
              <a:lnSpc>
                <a:spcPct val="100000"/>
              </a:lnSpc>
              <a:buFont typeface="Arial" panose="020B0604020202020204" pitchFamily="34" charset="0"/>
              <a:buChar char="•"/>
            </a:pPr>
            <a:r>
              <a:rPr lang="en-US" sz="1000" spc="10" dirty="0">
                <a:latin typeface="Arial"/>
                <a:cs typeface="Arial"/>
              </a:rPr>
              <a:t>Utilizing disciplined agile methodologies to assess, redesign, and enhance maintenance and logistics processes. Our strategies focus on improving operational efficiency, reducing downtime, and ensuring project success within budget and time constraints.</a:t>
            </a:r>
          </a:p>
          <a:p>
            <a:pPr marL="171450" indent="-171450">
              <a:lnSpc>
                <a:spcPct val="100000"/>
              </a:lnSpc>
              <a:buFont typeface="Arial" panose="020B0604020202020204" pitchFamily="34" charset="0"/>
              <a:buChar char="•"/>
            </a:pPr>
            <a:r>
              <a:rPr lang="en-US" sz="1000" spc="10" dirty="0">
                <a:latin typeface="Arial"/>
                <a:cs typeface="Arial"/>
              </a:rPr>
              <a:t>Expertise in identifying and eliminating waste within processes and optimizing workflows to enhance efficiency and productivity. Our approach integrates lean principles to streamline operations, reduce costs, and improve service delivery.</a:t>
            </a:r>
          </a:p>
          <a:p>
            <a:pPr marL="171450" indent="-171450">
              <a:lnSpc>
                <a:spcPct val="100000"/>
              </a:lnSpc>
              <a:buFont typeface="Arial" panose="020B0604020202020204" pitchFamily="34" charset="0"/>
              <a:buChar char="•"/>
            </a:pPr>
            <a:r>
              <a:rPr lang="en-US" sz="1000" spc="10" dirty="0">
                <a:latin typeface="Arial"/>
                <a:cs typeface="Arial"/>
              </a:rPr>
              <a:t>Exceptional ability to engage with stakeholders at all levels, implementing effective feedback mechanisms to adapt and improve training programs and operational processes continuously.</a:t>
            </a:r>
          </a:p>
          <a:p>
            <a:pPr marL="171450" indent="-171450">
              <a:lnSpc>
                <a:spcPct val="100000"/>
              </a:lnSpc>
              <a:buFont typeface="Arial" panose="020B0604020202020204" pitchFamily="34" charset="0"/>
              <a:buChar char="•"/>
            </a:pPr>
            <a:r>
              <a:rPr lang="en-US" sz="1000" spc="10" dirty="0">
                <a:latin typeface="Arial"/>
                <a:cs typeface="Arial"/>
              </a:rPr>
              <a:t>Expertise in managing and delivering complex maintenance programs, ensuring strategic alignment with organizational objectives and on-time, within-budget project delivery.</a:t>
            </a:r>
          </a:p>
          <a:p>
            <a:pPr marL="171450" indent="-171450">
              <a:lnSpc>
                <a:spcPct val="100000"/>
              </a:lnSpc>
              <a:buFont typeface="Arial" panose="020B0604020202020204" pitchFamily="34" charset="0"/>
              <a:buChar char="•"/>
            </a:pPr>
            <a:r>
              <a:rPr lang="en-US" sz="1000" spc="10" dirty="0">
                <a:latin typeface="Arial"/>
                <a:cs typeface="Arial"/>
              </a:rPr>
              <a:t>Profound knowledge in implementing Agile and Disciplined Agile practices to foster a culture of continuous improvement, adaptability, and responsiveness to rapidly changing operational needs.</a:t>
            </a:r>
            <a:endParaRPr sz="1000" spc="10" dirty="0">
              <a:latin typeface="Arial"/>
              <a:cs typeface="Arial"/>
            </a:endParaRPr>
          </a:p>
        </p:txBody>
      </p:sp>
      <p:sp>
        <p:nvSpPr>
          <p:cNvPr id="4" name="object 4"/>
          <p:cNvSpPr/>
          <p:nvPr/>
        </p:nvSpPr>
        <p:spPr>
          <a:xfrm>
            <a:off x="1672862" y="6409458"/>
            <a:ext cx="5615305" cy="175260"/>
          </a:xfrm>
          <a:custGeom>
            <a:avLst/>
            <a:gdLst/>
            <a:ahLst/>
            <a:cxnLst/>
            <a:rect l="l" t="t" r="r" b="b"/>
            <a:pathLst>
              <a:path w="5615305" h="175260">
                <a:moveTo>
                  <a:pt x="0" y="175260"/>
                </a:moveTo>
                <a:lnTo>
                  <a:pt x="5615305" y="175260"/>
                </a:lnTo>
                <a:lnTo>
                  <a:pt x="5615305" y="0"/>
                </a:lnTo>
                <a:lnTo>
                  <a:pt x="0" y="0"/>
                </a:lnTo>
                <a:close/>
              </a:path>
            </a:pathLst>
          </a:custGeom>
          <a:solidFill>
            <a:srgbClr val="000000"/>
          </a:solidFill>
        </p:spPr>
        <p:txBody>
          <a:bodyPr wrap="square" lIns="0" tIns="0" rIns="0" bIns="0" rtlCol="0">
            <a:noAutofit/>
          </a:bodyPr>
          <a:lstStyle/>
          <a:p>
            <a:endParaRPr/>
          </a:p>
        </p:txBody>
      </p:sp>
      <p:sp>
        <p:nvSpPr>
          <p:cNvPr id="118" name="text 1"/>
          <p:cNvSpPr txBox="1"/>
          <p:nvPr/>
        </p:nvSpPr>
        <p:spPr>
          <a:xfrm>
            <a:off x="1741824" y="6403064"/>
            <a:ext cx="512063" cy="136708"/>
          </a:xfrm>
          <a:prstGeom prst="rect">
            <a:avLst/>
          </a:prstGeom>
        </p:spPr>
        <p:txBody>
          <a:bodyPr vert="horz" wrap="none" lIns="0" tIns="0" rIns="0" bIns="0" rtlCol="0">
            <a:spAutoFit/>
          </a:bodyPr>
          <a:lstStyle/>
          <a:p>
            <a:pPr marL="0">
              <a:lnSpc>
                <a:spcPct val="100000"/>
              </a:lnSpc>
            </a:pPr>
            <a:r>
              <a:rPr sz="1200" b="1" spc="10" dirty="0">
                <a:solidFill>
                  <a:srgbClr val="FFFFFF"/>
                </a:solidFill>
                <a:latin typeface="Arial"/>
                <a:cs typeface="Arial"/>
              </a:rPr>
              <a:t>NAICS</a:t>
            </a:r>
            <a:endParaRPr sz="1200" dirty="0">
              <a:latin typeface="Arial"/>
              <a:cs typeface="Arial"/>
            </a:endParaRPr>
          </a:p>
        </p:txBody>
      </p:sp>
      <p:sp>
        <p:nvSpPr>
          <p:cNvPr id="119" name="text 1"/>
          <p:cNvSpPr txBox="1"/>
          <p:nvPr/>
        </p:nvSpPr>
        <p:spPr>
          <a:xfrm>
            <a:off x="1726266" y="6604444"/>
            <a:ext cx="1234439" cy="115500"/>
          </a:xfrm>
          <a:prstGeom prst="rect">
            <a:avLst/>
          </a:prstGeom>
        </p:spPr>
        <p:txBody>
          <a:bodyPr vert="horz" wrap="none" lIns="0" tIns="0" rIns="0" bIns="0" rtlCol="0">
            <a:spAutoFit/>
          </a:bodyPr>
          <a:lstStyle/>
          <a:p>
            <a:pPr marL="0">
              <a:lnSpc>
                <a:spcPct val="100000"/>
              </a:lnSpc>
            </a:pPr>
            <a:r>
              <a:rPr sz="970" spc="10" dirty="0">
                <a:latin typeface="Arial"/>
                <a:cs typeface="Arial"/>
              </a:rPr>
              <a:t>541611 </a:t>
            </a:r>
            <a:r>
              <a:rPr sz="970" spc="10" dirty="0">
                <a:latin typeface="Times New Roman"/>
                <a:cs typeface="Times New Roman"/>
              </a:rPr>
              <a:t>–</a:t>
            </a:r>
            <a:r>
              <a:rPr sz="970" spc="10" dirty="0">
                <a:latin typeface="Arial"/>
                <a:cs typeface="Arial"/>
              </a:rPr>
              <a:t> Admin Mgmt</a:t>
            </a:r>
            <a:endParaRPr sz="900" dirty="0">
              <a:latin typeface="Arial"/>
              <a:cs typeface="Arial"/>
            </a:endParaRPr>
          </a:p>
        </p:txBody>
      </p:sp>
      <p:sp>
        <p:nvSpPr>
          <p:cNvPr id="120" name="text 1"/>
          <p:cNvSpPr txBox="1"/>
          <p:nvPr/>
        </p:nvSpPr>
        <p:spPr>
          <a:xfrm>
            <a:off x="1726266" y="6750748"/>
            <a:ext cx="1002791" cy="115501"/>
          </a:xfrm>
          <a:prstGeom prst="rect">
            <a:avLst/>
          </a:prstGeom>
        </p:spPr>
        <p:txBody>
          <a:bodyPr vert="horz" wrap="none" lIns="0" tIns="0" rIns="0" bIns="0" rtlCol="0">
            <a:spAutoFit/>
          </a:bodyPr>
          <a:lstStyle/>
          <a:p>
            <a:pPr marL="0">
              <a:lnSpc>
                <a:spcPct val="100000"/>
              </a:lnSpc>
            </a:pPr>
            <a:r>
              <a:rPr sz="1000" spc="10" dirty="0">
                <a:latin typeface="Arial"/>
                <a:cs typeface="Arial"/>
              </a:rPr>
              <a:t>541512 </a:t>
            </a:r>
            <a:r>
              <a:rPr sz="1000" spc="10" dirty="0">
                <a:latin typeface="Times New Roman"/>
                <a:cs typeface="Times New Roman"/>
              </a:rPr>
              <a:t>–</a:t>
            </a:r>
            <a:r>
              <a:rPr sz="1000" spc="10" dirty="0">
                <a:latin typeface="Arial"/>
                <a:cs typeface="Arial"/>
              </a:rPr>
              <a:t> IT Mgmt</a:t>
            </a:r>
            <a:endParaRPr sz="1000" dirty="0">
              <a:latin typeface="Arial"/>
              <a:cs typeface="Arial"/>
            </a:endParaRPr>
          </a:p>
        </p:txBody>
      </p:sp>
      <p:sp>
        <p:nvSpPr>
          <p:cNvPr id="121" name="text 1"/>
          <p:cNvSpPr txBox="1"/>
          <p:nvPr/>
        </p:nvSpPr>
        <p:spPr>
          <a:xfrm>
            <a:off x="1726266" y="6897052"/>
            <a:ext cx="1456943" cy="115501"/>
          </a:xfrm>
          <a:prstGeom prst="rect">
            <a:avLst/>
          </a:prstGeom>
        </p:spPr>
        <p:txBody>
          <a:bodyPr vert="horz" wrap="none" lIns="0" tIns="0" rIns="0" bIns="0" rtlCol="0">
            <a:spAutoFit/>
          </a:bodyPr>
          <a:lstStyle/>
          <a:p>
            <a:pPr marL="0">
              <a:lnSpc>
                <a:spcPct val="100000"/>
              </a:lnSpc>
            </a:pPr>
            <a:r>
              <a:rPr sz="909" spc="10" dirty="0">
                <a:latin typeface="Arial"/>
                <a:cs typeface="Arial"/>
              </a:rPr>
              <a:t>541513 </a:t>
            </a:r>
            <a:r>
              <a:rPr sz="909" spc="10" dirty="0">
                <a:latin typeface="Times New Roman"/>
                <a:cs typeface="Times New Roman"/>
              </a:rPr>
              <a:t>–</a:t>
            </a:r>
            <a:r>
              <a:rPr sz="909" spc="10" dirty="0">
                <a:latin typeface="Arial"/>
                <a:cs typeface="Arial"/>
              </a:rPr>
              <a:t> IT Systems Mgmt</a:t>
            </a:r>
            <a:endParaRPr sz="900" dirty="0">
              <a:latin typeface="Arial"/>
              <a:cs typeface="Arial"/>
            </a:endParaRPr>
          </a:p>
        </p:txBody>
      </p:sp>
      <p:sp>
        <p:nvSpPr>
          <p:cNvPr id="122" name="text 1"/>
          <p:cNvSpPr txBox="1"/>
          <p:nvPr/>
        </p:nvSpPr>
        <p:spPr>
          <a:xfrm>
            <a:off x="1726266" y="7041832"/>
            <a:ext cx="1220723" cy="115501"/>
          </a:xfrm>
          <a:prstGeom prst="rect">
            <a:avLst/>
          </a:prstGeom>
        </p:spPr>
        <p:txBody>
          <a:bodyPr vert="horz" wrap="none" lIns="0" tIns="0" rIns="0" bIns="0" rtlCol="0">
            <a:spAutoFit/>
          </a:bodyPr>
          <a:lstStyle/>
          <a:p>
            <a:pPr marL="0">
              <a:lnSpc>
                <a:spcPct val="100000"/>
              </a:lnSpc>
            </a:pPr>
            <a:r>
              <a:rPr sz="909" spc="10" dirty="0">
                <a:latin typeface="Arial"/>
                <a:cs typeface="Arial"/>
              </a:rPr>
              <a:t>541690 </a:t>
            </a:r>
            <a:r>
              <a:rPr sz="909" spc="10" dirty="0">
                <a:latin typeface="Times New Roman"/>
                <a:cs typeface="Times New Roman"/>
              </a:rPr>
              <a:t>–</a:t>
            </a:r>
            <a:r>
              <a:rPr sz="909" spc="10" dirty="0">
                <a:latin typeface="Arial"/>
                <a:cs typeface="Arial"/>
              </a:rPr>
              <a:t> Tech Consult</a:t>
            </a:r>
            <a:endParaRPr sz="900" dirty="0">
              <a:latin typeface="Arial"/>
              <a:cs typeface="Arial"/>
            </a:endParaRPr>
          </a:p>
        </p:txBody>
      </p:sp>
      <p:sp>
        <p:nvSpPr>
          <p:cNvPr id="123" name="text 1"/>
          <p:cNvSpPr txBox="1"/>
          <p:nvPr/>
        </p:nvSpPr>
        <p:spPr>
          <a:xfrm>
            <a:off x="3558495" y="6604444"/>
            <a:ext cx="1301368" cy="115500"/>
          </a:xfrm>
          <a:prstGeom prst="rect">
            <a:avLst/>
          </a:prstGeom>
        </p:spPr>
        <p:txBody>
          <a:bodyPr vert="horz" wrap="none" lIns="0" tIns="0" rIns="0" bIns="0" rtlCol="0">
            <a:spAutoFit/>
          </a:bodyPr>
          <a:lstStyle/>
          <a:p>
            <a:pPr marL="0">
              <a:lnSpc>
                <a:spcPct val="100000"/>
              </a:lnSpc>
            </a:pPr>
            <a:r>
              <a:rPr sz="909" spc="10" dirty="0">
                <a:latin typeface="Arial"/>
                <a:cs typeface="Arial"/>
              </a:rPr>
              <a:t>541990 </a:t>
            </a:r>
            <a:r>
              <a:rPr sz="909" spc="10" dirty="0">
                <a:latin typeface="Times New Roman"/>
                <a:cs typeface="Times New Roman"/>
              </a:rPr>
              <a:t>–</a:t>
            </a:r>
            <a:r>
              <a:rPr sz="909" spc="10" dirty="0">
                <a:latin typeface="Arial"/>
                <a:cs typeface="Arial"/>
              </a:rPr>
              <a:t> Prof, Sci, Tech</a:t>
            </a:r>
            <a:endParaRPr sz="900" dirty="0">
              <a:latin typeface="Arial"/>
              <a:cs typeface="Arial"/>
            </a:endParaRPr>
          </a:p>
        </p:txBody>
      </p:sp>
      <p:sp>
        <p:nvSpPr>
          <p:cNvPr id="124" name="text 1"/>
          <p:cNvSpPr txBox="1"/>
          <p:nvPr/>
        </p:nvSpPr>
        <p:spPr>
          <a:xfrm>
            <a:off x="3558495" y="6750748"/>
            <a:ext cx="1206880" cy="115501"/>
          </a:xfrm>
          <a:prstGeom prst="rect">
            <a:avLst/>
          </a:prstGeom>
        </p:spPr>
        <p:txBody>
          <a:bodyPr vert="horz" wrap="none" lIns="0" tIns="0" rIns="0" bIns="0" rtlCol="0">
            <a:spAutoFit/>
          </a:bodyPr>
          <a:lstStyle/>
          <a:p>
            <a:pPr marL="0">
              <a:lnSpc>
                <a:spcPct val="100000"/>
              </a:lnSpc>
            </a:pPr>
            <a:r>
              <a:rPr sz="970" spc="10" dirty="0">
                <a:latin typeface="Arial"/>
                <a:cs typeface="Arial"/>
              </a:rPr>
              <a:t>561110 </a:t>
            </a:r>
            <a:r>
              <a:rPr sz="970" spc="10" dirty="0">
                <a:latin typeface="Times New Roman"/>
                <a:cs typeface="Times New Roman"/>
              </a:rPr>
              <a:t>–</a:t>
            </a:r>
            <a:r>
              <a:rPr sz="970" spc="10" dirty="0">
                <a:latin typeface="Arial"/>
                <a:cs typeface="Arial"/>
              </a:rPr>
              <a:t> Office Mgmt</a:t>
            </a:r>
            <a:endParaRPr sz="900" dirty="0">
              <a:latin typeface="Arial"/>
              <a:cs typeface="Arial"/>
            </a:endParaRPr>
          </a:p>
        </p:txBody>
      </p:sp>
      <p:sp>
        <p:nvSpPr>
          <p:cNvPr id="125" name="text 1"/>
          <p:cNvSpPr txBox="1"/>
          <p:nvPr/>
        </p:nvSpPr>
        <p:spPr>
          <a:xfrm>
            <a:off x="3558495" y="6897052"/>
            <a:ext cx="1193164" cy="115501"/>
          </a:xfrm>
          <a:prstGeom prst="rect">
            <a:avLst/>
          </a:prstGeom>
        </p:spPr>
        <p:txBody>
          <a:bodyPr vert="horz" wrap="none" lIns="0" tIns="0" rIns="0" bIns="0" rtlCol="0">
            <a:spAutoFit/>
          </a:bodyPr>
          <a:lstStyle/>
          <a:p>
            <a:pPr marL="0">
              <a:lnSpc>
                <a:spcPct val="100000"/>
              </a:lnSpc>
            </a:pPr>
            <a:r>
              <a:rPr sz="909" spc="10" dirty="0">
                <a:latin typeface="Arial"/>
                <a:cs typeface="Arial"/>
              </a:rPr>
              <a:t>561499 </a:t>
            </a:r>
            <a:r>
              <a:rPr sz="909" spc="10" dirty="0">
                <a:latin typeface="Times New Roman"/>
                <a:cs typeface="Times New Roman"/>
              </a:rPr>
              <a:t>–</a:t>
            </a:r>
            <a:r>
              <a:rPr sz="909" spc="10" dirty="0">
                <a:latin typeface="Arial"/>
                <a:cs typeface="Arial"/>
              </a:rPr>
              <a:t> Business Spt</a:t>
            </a:r>
            <a:endParaRPr sz="900" dirty="0">
              <a:latin typeface="Arial"/>
              <a:cs typeface="Arial"/>
            </a:endParaRPr>
          </a:p>
        </p:txBody>
      </p:sp>
      <p:sp>
        <p:nvSpPr>
          <p:cNvPr id="127" name="text 1"/>
          <p:cNvSpPr txBox="1"/>
          <p:nvPr/>
        </p:nvSpPr>
        <p:spPr>
          <a:xfrm>
            <a:off x="3558495" y="7040328"/>
            <a:ext cx="1844040" cy="115500"/>
          </a:xfrm>
          <a:prstGeom prst="rect">
            <a:avLst/>
          </a:prstGeom>
        </p:spPr>
        <p:txBody>
          <a:bodyPr vert="horz" wrap="none" lIns="0" tIns="0" rIns="0" bIns="0" rtlCol="0">
            <a:spAutoFit/>
          </a:bodyPr>
          <a:lstStyle/>
          <a:p>
            <a:pPr marL="0">
              <a:lnSpc>
                <a:spcPct val="100000"/>
              </a:lnSpc>
            </a:pPr>
            <a:r>
              <a:rPr sz="909" spc="10" dirty="0">
                <a:latin typeface="Arial"/>
                <a:cs typeface="Arial"/>
              </a:rPr>
              <a:t>611430 </a:t>
            </a:r>
            <a:r>
              <a:rPr sz="909" spc="10" dirty="0">
                <a:latin typeface="Times New Roman"/>
                <a:cs typeface="Times New Roman"/>
              </a:rPr>
              <a:t>–</a:t>
            </a:r>
            <a:r>
              <a:rPr sz="909" spc="10" dirty="0">
                <a:latin typeface="Arial"/>
                <a:cs typeface="Arial"/>
              </a:rPr>
              <a:t> Prof, Mgmt Dev Training</a:t>
            </a:r>
            <a:endParaRPr sz="900" dirty="0">
              <a:latin typeface="Arial"/>
              <a:cs typeface="Arial"/>
            </a:endParaRPr>
          </a:p>
        </p:txBody>
      </p:sp>
      <p:sp>
        <p:nvSpPr>
          <p:cNvPr id="6" name="object 6"/>
          <p:cNvSpPr/>
          <p:nvPr/>
        </p:nvSpPr>
        <p:spPr>
          <a:xfrm>
            <a:off x="1675157" y="7192098"/>
            <a:ext cx="5683885" cy="175260"/>
          </a:xfrm>
          <a:custGeom>
            <a:avLst/>
            <a:gdLst/>
            <a:ahLst/>
            <a:cxnLst/>
            <a:rect l="l" t="t" r="r" b="b"/>
            <a:pathLst>
              <a:path w="5615305" h="175260">
                <a:moveTo>
                  <a:pt x="0" y="175260"/>
                </a:moveTo>
                <a:lnTo>
                  <a:pt x="5615305" y="175260"/>
                </a:lnTo>
                <a:lnTo>
                  <a:pt x="5615305" y="0"/>
                </a:lnTo>
                <a:lnTo>
                  <a:pt x="0" y="0"/>
                </a:lnTo>
                <a:close/>
              </a:path>
            </a:pathLst>
          </a:custGeom>
          <a:solidFill>
            <a:srgbClr val="000000"/>
          </a:solidFill>
        </p:spPr>
        <p:txBody>
          <a:bodyPr wrap="square" lIns="0" tIns="0" rIns="0" bIns="0" rtlCol="0">
            <a:noAutofit/>
          </a:bodyPr>
          <a:lstStyle/>
          <a:p>
            <a:endParaRPr/>
          </a:p>
        </p:txBody>
      </p:sp>
      <p:sp>
        <p:nvSpPr>
          <p:cNvPr id="130" name="text 1"/>
          <p:cNvSpPr txBox="1"/>
          <p:nvPr/>
        </p:nvSpPr>
        <p:spPr>
          <a:xfrm>
            <a:off x="1748355" y="7184863"/>
            <a:ext cx="838580" cy="136708"/>
          </a:xfrm>
          <a:prstGeom prst="rect">
            <a:avLst/>
          </a:prstGeom>
        </p:spPr>
        <p:txBody>
          <a:bodyPr vert="horz" wrap="none" lIns="0" tIns="0" rIns="0" bIns="0" rtlCol="0">
            <a:spAutoFit/>
          </a:bodyPr>
          <a:lstStyle/>
          <a:p>
            <a:pPr marL="0">
              <a:lnSpc>
                <a:spcPct val="100000"/>
              </a:lnSpc>
            </a:pPr>
            <a:r>
              <a:rPr sz="1140" b="1" spc="10" dirty="0">
                <a:solidFill>
                  <a:srgbClr val="FFFFFF"/>
                </a:solidFill>
                <a:latin typeface="Arial"/>
                <a:cs typeface="Arial"/>
              </a:rPr>
              <a:t>Core Profile</a:t>
            </a:r>
            <a:endParaRPr sz="1100" dirty="0">
              <a:latin typeface="Arial"/>
              <a:cs typeface="Arial"/>
            </a:endParaRPr>
          </a:p>
        </p:txBody>
      </p:sp>
      <p:sp>
        <p:nvSpPr>
          <p:cNvPr id="131" name="text 1"/>
          <p:cNvSpPr txBox="1"/>
          <p:nvPr/>
        </p:nvSpPr>
        <p:spPr>
          <a:xfrm>
            <a:off x="2144160" y="7393276"/>
            <a:ext cx="3580147" cy="139910"/>
          </a:xfrm>
          <a:prstGeom prst="rect">
            <a:avLst/>
          </a:prstGeom>
        </p:spPr>
        <p:txBody>
          <a:bodyPr vert="horz" wrap="none" lIns="0" tIns="0" rIns="0" bIns="0" rtlCol="0">
            <a:spAutoFit/>
          </a:bodyPr>
          <a:lstStyle/>
          <a:p>
            <a:pPr marL="0">
              <a:lnSpc>
                <a:spcPct val="100000"/>
              </a:lnSpc>
            </a:pPr>
            <a:r>
              <a:rPr sz="909" spc="10" dirty="0">
                <a:latin typeface="Arial"/>
                <a:cs typeface="Arial"/>
              </a:rPr>
              <a:t>UEI | Cage Code | DUNS   </a:t>
            </a:r>
            <a:r>
              <a:rPr lang="en-US" sz="909" spc="10" dirty="0">
                <a:latin typeface="Arial"/>
                <a:cs typeface="Arial"/>
              </a:rPr>
              <a:t>TZPFNF9HMFE5</a:t>
            </a:r>
            <a:r>
              <a:rPr sz="909" spc="10" dirty="0">
                <a:latin typeface="Arial"/>
                <a:cs typeface="Arial"/>
              </a:rPr>
              <a:t> |</a:t>
            </a:r>
            <a:r>
              <a:rPr lang="en-US" sz="909" spc="10" dirty="0">
                <a:latin typeface="Arial"/>
                <a:cs typeface="Arial"/>
              </a:rPr>
              <a:t> 9T7G6 </a:t>
            </a:r>
            <a:r>
              <a:rPr sz="909" spc="10" dirty="0">
                <a:latin typeface="Arial"/>
                <a:cs typeface="Arial"/>
              </a:rPr>
              <a:t>| </a:t>
            </a:r>
            <a:r>
              <a:rPr lang="en-US" sz="909" spc="10" dirty="0">
                <a:latin typeface="Arial"/>
                <a:cs typeface="Arial"/>
              </a:rPr>
              <a:t>926021820</a:t>
            </a:r>
            <a:endParaRPr sz="900" dirty="0">
              <a:latin typeface="Arial"/>
              <a:cs typeface="Arial"/>
            </a:endParaRPr>
          </a:p>
        </p:txBody>
      </p:sp>
      <p:sp>
        <p:nvSpPr>
          <p:cNvPr id="132" name="text 1"/>
          <p:cNvSpPr txBox="1"/>
          <p:nvPr/>
        </p:nvSpPr>
        <p:spPr>
          <a:xfrm>
            <a:off x="3017364" y="7538984"/>
            <a:ext cx="476630" cy="115501"/>
          </a:xfrm>
          <a:prstGeom prst="rect">
            <a:avLst/>
          </a:prstGeom>
        </p:spPr>
        <p:txBody>
          <a:bodyPr vert="horz" wrap="none" lIns="0" tIns="0" rIns="0" bIns="0" rtlCol="0">
            <a:spAutoFit/>
          </a:bodyPr>
          <a:lstStyle/>
          <a:p>
            <a:pPr marL="0">
              <a:lnSpc>
                <a:spcPct val="100000"/>
              </a:lnSpc>
            </a:pPr>
            <a:r>
              <a:rPr sz="909" spc="10" dirty="0">
                <a:latin typeface="Arial"/>
                <a:cs typeface="Arial"/>
              </a:rPr>
              <a:t>Founded</a:t>
            </a:r>
            <a:endParaRPr sz="900" dirty="0">
              <a:latin typeface="Arial"/>
              <a:cs typeface="Arial"/>
            </a:endParaRPr>
          </a:p>
        </p:txBody>
      </p:sp>
      <p:sp>
        <p:nvSpPr>
          <p:cNvPr id="133" name="text 1"/>
          <p:cNvSpPr txBox="1"/>
          <p:nvPr/>
        </p:nvSpPr>
        <p:spPr>
          <a:xfrm>
            <a:off x="3574053" y="7539580"/>
            <a:ext cx="287258" cy="153888"/>
          </a:xfrm>
          <a:prstGeom prst="rect">
            <a:avLst/>
          </a:prstGeom>
        </p:spPr>
        <p:txBody>
          <a:bodyPr vert="horz" wrap="none" lIns="0" tIns="0" rIns="0" bIns="0" rtlCol="0">
            <a:spAutoFit/>
          </a:bodyPr>
          <a:lstStyle/>
          <a:p>
            <a:pPr marL="0">
              <a:lnSpc>
                <a:spcPct val="100000"/>
              </a:lnSpc>
            </a:pPr>
            <a:r>
              <a:rPr sz="1000" spc="10" dirty="0">
                <a:latin typeface="Arial"/>
                <a:cs typeface="Arial"/>
              </a:rPr>
              <a:t>20</a:t>
            </a:r>
            <a:r>
              <a:rPr lang="en-US" sz="1000" spc="10" dirty="0">
                <a:latin typeface="Arial"/>
                <a:cs typeface="Arial"/>
              </a:rPr>
              <a:t>24</a:t>
            </a:r>
            <a:endParaRPr sz="1000" dirty="0">
              <a:latin typeface="Arial"/>
              <a:cs typeface="Arial"/>
            </a:endParaRPr>
          </a:p>
        </p:txBody>
      </p:sp>
      <p:sp>
        <p:nvSpPr>
          <p:cNvPr id="134" name="text 1"/>
          <p:cNvSpPr txBox="1"/>
          <p:nvPr/>
        </p:nvSpPr>
        <p:spPr>
          <a:xfrm>
            <a:off x="3028875" y="7686097"/>
            <a:ext cx="447674" cy="115501"/>
          </a:xfrm>
          <a:prstGeom prst="rect">
            <a:avLst/>
          </a:prstGeom>
        </p:spPr>
        <p:txBody>
          <a:bodyPr vert="horz" wrap="none" lIns="0" tIns="0" rIns="0" bIns="0" rtlCol="0">
            <a:spAutoFit/>
          </a:bodyPr>
          <a:lstStyle/>
          <a:p>
            <a:pPr marL="0">
              <a:lnSpc>
                <a:spcPct val="100000"/>
              </a:lnSpc>
            </a:pPr>
            <a:r>
              <a:rPr sz="909" spc="10" dirty="0">
                <a:latin typeface="Arial"/>
                <a:cs typeface="Arial"/>
              </a:rPr>
              <a:t>Website</a:t>
            </a:r>
            <a:endParaRPr sz="900" dirty="0">
              <a:latin typeface="Arial"/>
              <a:cs typeface="Arial"/>
            </a:endParaRPr>
          </a:p>
        </p:txBody>
      </p:sp>
      <p:sp>
        <p:nvSpPr>
          <p:cNvPr id="135" name="text 1"/>
          <p:cNvSpPr txBox="1"/>
          <p:nvPr/>
        </p:nvSpPr>
        <p:spPr>
          <a:xfrm>
            <a:off x="3574053" y="7686274"/>
            <a:ext cx="743473" cy="139910"/>
          </a:xfrm>
          <a:prstGeom prst="rect">
            <a:avLst/>
          </a:prstGeom>
        </p:spPr>
        <p:txBody>
          <a:bodyPr vert="horz" wrap="none" lIns="0" tIns="0" rIns="0" bIns="0" rtlCol="0">
            <a:spAutoFit/>
          </a:bodyPr>
          <a:lstStyle/>
          <a:p>
            <a:pPr marL="0">
              <a:lnSpc>
                <a:spcPct val="100000"/>
              </a:lnSpc>
            </a:pPr>
            <a:r>
              <a:rPr lang="en-US" sz="909" spc="10" dirty="0">
                <a:latin typeface="Arial"/>
                <a:cs typeface="Arial"/>
              </a:rPr>
              <a:t>armyspm.com</a:t>
            </a:r>
            <a:endParaRPr lang="en-US" sz="900" dirty="0">
              <a:latin typeface="Arial"/>
              <a:cs typeface="Arial"/>
            </a:endParaRPr>
          </a:p>
        </p:txBody>
      </p:sp>
      <p:sp>
        <p:nvSpPr>
          <p:cNvPr id="136" name="text 1"/>
          <p:cNvSpPr txBox="1"/>
          <p:nvPr/>
        </p:nvSpPr>
        <p:spPr>
          <a:xfrm>
            <a:off x="2758599" y="7830021"/>
            <a:ext cx="710772" cy="130677"/>
          </a:xfrm>
          <a:prstGeom prst="rect">
            <a:avLst/>
          </a:prstGeom>
        </p:spPr>
        <p:txBody>
          <a:bodyPr vert="horz" wrap="none" lIns="0" tIns="0" rIns="0" bIns="0" rtlCol="0">
            <a:spAutoFit/>
          </a:bodyPr>
          <a:lstStyle/>
          <a:p>
            <a:pPr marL="0">
              <a:lnSpc>
                <a:spcPct val="100000"/>
              </a:lnSpc>
            </a:pPr>
            <a:r>
              <a:rPr lang="en-US" sz="849" spc="10" dirty="0">
                <a:latin typeface="Arial"/>
                <a:cs typeface="Arial"/>
              </a:rPr>
              <a:t> </a:t>
            </a:r>
            <a:r>
              <a:rPr sz="849" spc="10" dirty="0">
                <a:latin typeface="Arial"/>
                <a:cs typeface="Arial"/>
              </a:rPr>
              <a:t>Headquarters</a:t>
            </a:r>
            <a:endParaRPr sz="800" dirty="0">
              <a:latin typeface="Arial"/>
              <a:cs typeface="Arial"/>
            </a:endParaRPr>
          </a:p>
        </p:txBody>
      </p:sp>
      <p:sp>
        <p:nvSpPr>
          <p:cNvPr id="137" name="text 1"/>
          <p:cNvSpPr txBox="1"/>
          <p:nvPr/>
        </p:nvSpPr>
        <p:spPr>
          <a:xfrm>
            <a:off x="3574053" y="7832569"/>
            <a:ext cx="2366995" cy="139910"/>
          </a:xfrm>
          <a:prstGeom prst="rect">
            <a:avLst/>
          </a:prstGeom>
        </p:spPr>
        <p:txBody>
          <a:bodyPr vert="horz" wrap="none" lIns="0" tIns="0" rIns="0" bIns="0" rtlCol="0">
            <a:spAutoFit/>
          </a:bodyPr>
          <a:lstStyle/>
          <a:p>
            <a:pPr marL="0">
              <a:lnSpc>
                <a:spcPct val="100000"/>
              </a:lnSpc>
            </a:pPr>
            <a:r>
              <a:rPr lang="en-US" sz="909" spc="10" dirty="0">
                <a:latin typeface="Arial"/>
                <a:cs typeface="Arial"/>
              </a:rPr>
              <a:t>1440 Dominic Anakin Dr.</a:t>
            </a:r>
            <a:r>
              <a:rPr sz="909" spc="10" dirty="0">
                <a:latin typeface="Arial"/>
                <a:cs typeface="Arial"/>
              </a:rPr>
              <a:t>,</a:t>
            </a:r>
            <a:r>
              <a:rPr lang="en-US" sz="909" spc="10" dirty="0">
                <a:latin typeface="Arial"/>
                <a:cs typeface="Arial"/>
              </a:rPr>
              <a:t> El Paso</a:t>
            </a:r>
            <a:r>
              <a:rPr sz="909" spc="10" dirty="0">
                <a:latin typeface="Arial"/>
                <a:cs typeface="Arial"/>
              </a:rPr>
              <a:t>, </a:t>
            </a:r>
            <a:r>
              <a:rPr lang="en-US" sz="909" spc="10" dirty="0">
                <a:latin typeface="Arial"/>
                <a:cs typeface="Arial"/>
              </a:rPr>
              <a:t>TX 79928</a:t>
            </a:r>
            <a:endParaRPr sz="900" dirty="0">
              <a:latin typeface="Arial"/>
              <a:cs typeface="Arial"/>
            </a:endParaRPr>
          </a:p>
        </p:txBody>
      </p:sp>
      <p:sp>
        <p:nvSpPr>
          <p:cNvPr id="138" name="text 1"/>
          <p:cNvSpPr txBox="1"/>
          <p:nvPr/>
        </p:nvSpPr>
        <p:spPr>
          <a:xfrm>
            <a:off x="2930103" y="7995463"/>
            <a:ext cx="537327" cy="139910"/>
          </a:xfrm>
          <a:prstGeom prst="rect">
            <a:avLst/>
          </a:prstGeom>
        </p:spPr>
        <p:txBody>
          <a:bodyPr vert="horz" wrap="none" lIns="0" tIns="0" rIns="0" bIns="0" rtlCol="0">
            <a:spAutoFit/>
          </a:bodyPr>
          <a:lstStyle/>
          <a:p>
            <a:pPr marL="0">
              <a:lnSpc>
                <a:spcPct val="100000"/>
              </a:lnSpc>
            </a:pPr>
            <a:r>
              <a:rPr lang="en-US" sz="909" spc="10" dirty="0">
                <a:latin typeface="Arial"/>
                <a:cs typeface="Arial"/>
              </a:rPr>
              <a:t>Alias/DBA</a:t>
            </a:r>
            <a:endParaRPr sz="900" dirty="0">
              <a:latin typeface="Arial"/>
              <a:cs typeface="Arial"/>
            </a:endParaRPr>
          </a:p>
        </p:txBody>
      </p:sp>
      <p:sp>
        <p:nvSpPr>
          <p:cNvPr id="144" name="text 1"/>
          <p:cNvSpPr txBox="1"/>
          <p:nvPr/>
        </p:nvSpPr>
        <p:spPr>
          <a:xfrm>
            <a:off x="2186754" y="8153251"/>
            <a:ext cx="1330451" cy="115501"/>
          </a:xfrm>
          <a:prstGeom prst="rect">
            <a:avLst/>
          </a:prstGeom>
        </p:spPr>
        <p:txBody>
          <a:bodyPr vert="horz" wrap="none" lIns="0" tIns="0" rIns="0" bIns="0" rtlCol="0">
            <a:spAutoFit/>
          </a:bodyPr>
          <a:lstStyle/>
          <a:p>
            <a:pPr marL="0">
              <a:lnSpc>
                <a:spcPct val="100000"/>
              </a:lnSpc>
            </a:pPr>
            <a:r>
              <a:rPr sz="849" spc="10" dirty="0">
                <a:latin typeface="Arial"/>
                <a:cs typeface="Arial"/>
              </a:rPr>
              <a:t>Small Business Programs</a:t>
            </a:r>
            <a:endParaRPr sz="800" dirty="0">
              <a:latin typeface="Arial"/>
              <a:cs typeface="Arial"/>
            </a:endParaRPr>
          </a:p>
        </p:txBody>
      </p:sp>
      <p:sp>
        <p:nvSpPr>
          <p:cNvPr id="145" name="text 1"/>
          <p:cNvSpPr txBox="1"/>
          <p:nvPr/>
        </p:nvSpPr>
        <p:spPr>
          <a:xfrm>
            <a:off x="3550596" y="8156974"/>
            <a:ext cx="1266745" cy="139910"/>
          </a:xfrm>
          <a:prstGeom prst="rect">
            <a:avLst/>
          </a:prstGeom>
        </p:spPr>
        <p:txBody>
          <a:bodyPr vert="horz" wrap="square" lIns="0" tIns="0" rIns="0" bIns="0" rtlCol="0">
            <a:spAutoFit/>
          </a:bodyPr>
          <a:lstStyle/>
          <a:p>
            <a:pPr marL="0">
              <a:lnSpc>
                <a:spcPct val="100000"/>
              </a:lnSpc>
            </a:pPr>
            <a:r>
              <a:rPr sz="909" spc="10" dirty="0">
                <a:latin typeface="Arial"/>
                <a:cs typeface="Arial"/>
              </a:rPr>
              <a:t> </a:t>
            </a:r>
            <a:r>
              <a:rPr lang="en-US" sz="909" spc="10" dirty="0">
                <a:latin typeface="Arial"/>
                <a:cs typeface="Arial"/>
              </a:rPr>
              <a:t>SBA, SDVOSB, VOSB</a:t>
            </a:r>
            <a:endParaRPr sz="900" dirty="0">
              <a:latin typeface="Arial"/>
              <a:cs typeface="Arial"/>
            </a:endParaRPr>
          </a:p>
        </p:txBody>
      </p:sp>
      <p:sp>
        <p:nvSpPr>
          <p:cNvPr id="23" name="object 23"/>
          <p:cNvSpPr/>
          <p:nvPr/>
        </p:nvSpPr>
        <p:spPr>
          <a:xfrm>
            <a:off x="1673244" y="8296647"/>
            <a:ext cx="5752847" cy="175260"/>
          </a:xfrm>
          <a:custGeom>
            <a:avLst/>
            <a:gdLst/>
            <a:ahLst/>
            <a:cxnLst/>
            <a:rect l="l" t="t" r="r" b="b"/>
            <a:pathLst>
              <a:path w="5752847" h="175260">
                <a:moveTo>
                  <a:pt x="0" y="175260"/>
                </a:moveTo>
                <a:lnTo>
                  <a:pt x="5752847" y="175260"/>
                </a:lnTo>
                <a:lnTo>
                  <a:pt x="5752847" y="0"/>
                </a:lnTo>
                <a:lnTo>
                  <a:pt x="0" y="0"/>
                </a:lnTo>
                <a:close/>
              </a:path>
            </a:pathLst>
          </a:custGeom>
          <a:solidFill>
            <a:srgbClr val="000000"/>
          </a:solidFill>
        </p:spPr>
        <p:txBody>
          <a:bodyPr wrap="square" lIns="0" tIns="0" rIns="0" bIns="0" rtlCol="0">
            <a:noAutofit/>
          </a:bodyPr>
          <a:lstStyle/>
          <a:p>
            <a:endParaRPr/>
          </a:p>
        </p:txBody>
      </p:sp>
      <p:sp>
        <p:nvSpPr>
          <p:cNvPr id="24" name="object 24"/>
          <p:cNvSpPr/>
          <p:nvPr/>
        </p:nvSpPr>
        <p:spPr>
          <a:xfrm>
            <a:off x="1741824" y="8296647"/>
            <a:ext cx="5615305" cy="175260"/>
          </a:xfrm>
          <a:custGeom>
            <a:avLst/>
            <a:gdLst/>
            <a:ahLst/>
            <a:cxnLst/>
            <a:rect l="l" t="t" r="r" b="b"/>
            <a:pathLst>
              <a:path w="5615305" h="175260">
                <a:moveTo>
                  <a:pt x="0" y="175260"/>
                </a:moveTo>
                <a:lnTo>
                  <a:pt x="5615305" y="175260"/>
                </a:lnTo>
                <a:lnTo>
                  <a:pt x="5615305" y="0"/>
                </a:lnTo>
                <a:lnTo>
                  <a:pt x="0" y="0"/>
                </a:lnTo>
                <a:close/>
              </a:path>
            </a:pathLst>
          </a:custGeom>
          <a:solidFill>
            <a:srgbClr val="000000"/>
          </a:solidFill>
        </p:spPr>
        <p:txBody>
          <a:bodyPr wrap="square" lIns="0" tIns="0" rIns="0" bIns="0" rtlCol="0">
            <a:noAutofit/>
          </a:bodyPr>
          <a:lstStyle/>
          <a:p>
            <a:endParaRPr/>
          </a:p>
        </p:txBody>
      </p:sp>
      <p:sp>
        <p:nvSpPr>
          <p:cNvPr id="146" name="text 1"/>
          <p:cNvSpPr txBox="1"/>
          <p:nvPr/>
        </p:nvSpPr>
        <p:spPr>
          <a:xfrm>
            <a:off x="1741824" y="8289101"/>
            <a:ext cx="1003172" cy="136707"/>
          </a:xfrm>
          <a:prstGeom prst="rect">
            <a:avLst/>
          </a:prstGeom>
        </p:spPr>
        <p:txBody>
          <a:bodyPr vert="horz" wrap="none" lIns="0" tIns="0" rIns="0" bIns="0" rtlCol="0">
            <a:spAutoFit/>
          </a:bodyPr>
          <a:lstStyle/>
          <a:p>
            <a:pPr marL="0">
              <a:lnSpc>
                <a:spcPct val="100000"/>
              </a:lnSpc>
            </a:pPr>
            <a:r>
              <a:rPr sz="1140" b="1" spc="10" dirty="0">
                <a:solidFill>
                  <a:srgbClr val="FFFFFF"/>
                </a:solidFill>
                <a:latin typeface="Arial"/>
                <a:cs typeface="Arial"/>
              </a:rPr>
              <a:t>Differentiators</a:t>
            </a:r>
            <a:endParaRPr sz="1100" dirty="0">
              <a:latin typeface="Arial"/>
              <a:cs typeface="Arial"/>
            </a:endParaRPr>
          </a:p>
        </p:txBody>
      </p:sp>
      <p:sp>
        <p:nvSpPr>
          <p:cNvPr id="26" name="object 26"/>
          <p:cNvSpPr/>
          <p:nvPr/>
        </p:nvSpPr>
        <p:spPr>
          <a:xfrm>
            <a:off x="1672862" y="8471907"/>
            <a:ext cx="1859002" cy="923126"/>
          </a:xfrm>
          <a:custGeom>
            <a:avLst/>
            <a:gdLst/>
            <a:ahLst/>
            <a:cxnLst/>
            <a:rect l="l" t="t" r="r" b="b"/>
            <a:pathLst>
              <a:path w="1694943" h="144780">
                <a:moveTo>
                  <a:pt x="0" y="144780"/>
                </a:moveTo>
                <a:lnTo>
                  <a:pt x="1694942" y="144780"/>
                </a:lnTo>
                <a:lnTo>
                  <a:pt x="1694942" y="0"/>
                </a:lnTo>
                <a:lnTo>
                  <a:pt x="0" y="0"/>
                </a:lnTo>
                <a:close/>
              </a:path>
            </a:pathLst>
          </a:custGeom>
          <a:solidFill>
            <a:srgbClr val="E0E0E0"/>
          </a:solidFill>
        </p:spPr>
        <p:txBody>
          <a:bodyPr wrap="square" lIns="0" tIns="0" rIns="0" bIns="0" rtlCol="0">
            <a:noAutofit/>
          </a:bodyPr>
          <a:lstStyle/>
          <a:p>
            <a:r>
              <a:rPr lang="en-US" sz="1000" u="sng" dirty="0">
                <a:solidFill>
                  <a:srgbClr val="0D0D0D"/>
                </a:solidFill>
                <a:latin typeface="Söhne"/>
              </a:rPr>
              <a:t>Founders Individual Certification</a:t>
            </a:r>
            <a:endParaRPr sz="1000" u="sng" dirty="0">
              <a:solidFill>
                <a:srgbClr val="0D0D0D"/>
              </a:solidFill>
              <a:latin typeface="Söhne"/>
            </a:endParaRPr>
          </a:p>
        </p:txBody>
      </p:sp>
      <p:sp>
        <p:nvSpPr>
          <p:cNvPr id="150" name="text 1"/>
          <p:cNvSpPr txBox="1"/>
          <p:nvPr/>
        </p:nvSpPr>
        <p:spPr>
          <a:xfrm>
            <a:off x="3550597" y="8489211"/>
            <a:ext cx="3875494" cy="1231106"/>
          </a:xfrm>
          <a:prstGeom prst="rect">
            <a:avLst/>
          </a:prstGeom>
        </p:spPr>
        <p:txBody>
          <a:bodyPr vert="horz" wrap="square" lIns="0" tIns="0" rIns="0" bIns="0" rtlCol="0">
            <a:spAutoFit/>
          </a:bodyPr>
          <a:lstStyle/>
          <a:p>
            <a:pPr algn="l"/>
            <a:r>
              <a:rPr lang="en-US" sz="1000" b="0" i="0" dirty="0">
                <a:solidFill>
                  <a:srgbClr val="0D0D0D"/>
                </a:solidFill>
                <a:effectLst/>
                <a:latin typeface="Söhne"/>
              </a:rPr>
              <a:t>Our approach marries disciplined agile methodologies with lean practices to optimize workflows for clients in military and commercial domains. Leveraging our founder's deep-rooted experience and our team's unwavering commitment to quality, we excel in delivering streamlined operations that enhance productivity and performance across sectors.</a:t>
            </a:r>
            <a:br>
              <a:rPr lang="en-US" sz="1000" dirty="0"/>
            </a:br>
            <a:endParaRPr lang="en-US" sz="1000" b="0" i="0" dirty="0">
              <a:solidFill>
                <a:srgbClr val="0D0D0D"/>
              </a:solidFill>
              <a:effectLst/>
              <a:latin typeface="Söhne"/>
            </a:endParaRPr>
          </a:p>
          <a:p>
            <a:br>
              <a:rPr lang="en-US" sz="1000" dirty="0"/>
            </a:br>
            <a:endParaRPr sz="1000" dirty="0">
              <a:latin typeface="Arial"/>
              <a:cs typeface="Arial"/>
            </a:endParaRPr>
          </a:p>
        </p:txBody>
      </p:sp>
      <p:pic>
        <p:nvPicPr>
          <p:cNvPr id="1026" name="Picture 2" descr="Disciplined Agile Coach (DAC) badge image. Issued by Project Management Institute">
            <a:extLst>
              <a:ext uri="{FF2B5EF4-FFF2-40B4-BE49-F238E27FC236}">
                <a16:creationId xmlns:a16="http://schemas.microsoft.com/office/drawing/2014/main" id="{88680897-CF16-4AA8-6799-3019BF0BFD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37713" y="3137037"/>
            <a:ext cx="599339" cy="59933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isciplined Agile Senior Scrum Master (DASSM) badge image. Issued by Project Management Institute">
            <a:extLst>
              <a:ext uri="{FF2B5EF4-FFF2-40B4-BE49-F238E27FC236}">
                <a16:creationId xmlns:a16="http://schemas.microsoft.com/office/drawing/2014/main" id="{CB5D7AF3-E79A-5B3D-F91F-7FE40902E4A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4417" y="3131664"/>
            <a:ext cx="591836" cy="59183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isciplined Agile Scrum Master (DASM) badge image. Issued by Project Management Institute">
            <a:extLst>
              <a:ext uri="{FF2B5EF4-FFF2-40B4-BE49-F238E27FC236}">
                <a16:creationId xmlns:a16="http://schemas.microsoft.com/office/drawing/2014/main" id="{33673E26-EEFF-AA9C-E368-06352FFBA7A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83618" y="3127443"/>
            <a:ext cx="581877" cy="58187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MI Professional in Business Analysis (PMI-PBA)® badge image. Issued by Project Management Institute">
            <a:extLst>
              <a:ext uri="{FF2B5EF4-FFF2-40B4-BE49-F238E27FC236}">
                <a16:creationId xmlns:a16="http://schemas.microsoft.com/office/drawing/2014/main" id="{DDEEF174-8302-B411-F56F-AD41DBEF095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322131" y="3110350"/>
            <a:ext cx="606171" cy="606171"/>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PMI Risk Management Professional (PMI-RMP)® badge image. Issued by Project Management Institute">
            <a:extLst>
              <a:ext uri="{FF2B5EF4-FFF2-40B4-BE49-F238E27FC236}">
                <a16:creationId xmlns:a16="http://schemas.microsoft.com/office/drawing/2014/main" id="{815E023F-88F5-220C-BCCD-B1CEFCF886F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06206" y="3141421"/>
            <a:ext cx="599339" cy="59933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Diversity, Equity and Inclusion in the Workplace Certificate badge image. Issued by USF Office of Corporate Training and Professional Education">
            <a:extLst>
              <a:ext uri="{FF2B5EF4-FFF2-40B4-BE49-F238E27FC236}">
                <a16:creationId xmlns:a16="http://schemas.microsoft.com/office/drawing/2014/main" id="{75D2A41F-51EA-A68B-0A69-6156F7E9895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97326" y="3795551"/>
            <a:ext cx="606171" cy="606171"/>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Project Management Professional (PMP)® badge image. Issued by Project Management Institute">
            <a:extLst>
              <a:ext uri="{FF2B5EF4-FFF2-40B4-BE49-F238E27FC236}">
                <a16:creationId xmlns:a16="http://schemas.microsoft.com/office/drawing/2014/main" id="{79F1E623-E7FE-C1E3-833D-D6AA9DE9861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09548" y="3109981"/>
            <a:ext cx="599339" cy="599339"/>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PMI Agile Certified Practitioner (PMI-ACP)® badge image. Issued by Project Management Institute">
            <a:extLst>
              <a:ext uri="{FF2B5EF4-FFF2-40B4-BE49-F238E27FC236}">
                <a16:creationId xmlns:a16="http://schemas.microsoft.com/office/drawing/2014/main" id="{38D3FC98-A278-4CC8-F296-62711FB2793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60012" y="3128924"/>
            <a:ext cx="616142" cy="616142"/>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Microsoft Office Specialist: PowerPoint Associate (Office 2019) badge image. Issued by Microsoft">
            <a:extLst>
              <a:ext uri="{FF2B5EF4-FFF2-40B4-BE49-F238E27FC236}">
                <a16:creationId xmlns:a16="http://schemas.microsoft.com/office/drawing/2014/main" id="{8CAF170F-39F4-A40E-2078-F5ED4ACC0D2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23094" y="3796872"/>
            <a:ext cx="591837" cy="591837"/>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Certified SAFe® 5 Scrum Master badge image. Issued by Scaled Agile Inc">
            <a:extLst>
              <a:ext uri="{FF2B5EF4-FFF2-40B4-BE49-F238E27FC236}">
                <a16:creationId xmlns:a16="http://schemas.microsoft.com/office/drawing/2014/main" id="{95047310-43AE-B871-18DB-AC82277051BE}"/>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6602819" y="3104017"/>
            <a:ext cx="648082" cy="648082"/>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Splunk Core Certified Power User badge image. Issued by Splunk">
            <a:extLst>
              <a:ext uri="{FF2B5EF4-FFF2-40B4-BE49-F238E27FC236}">
                <a16:creationId xmlns:a16="http://schemas.microsoft.com/office/drawing/2014/main" id="{FC5D7517-5B52-FD2C-948A-D926E7DC990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40664" y="3747321"/>
            <a:ext cx="510206" cy="510206"/>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ServiceNow logo">
            <a:extLst>
              <a:ext uri="{FF2B5EF4-FFF2-40B4-BE49-F238E27FC236}">
                <a16:creationId xmlns:a16="http://schemas.microsoft.com/office/drawing/2014/main" id="{22D6804E-A5B9-5792-0080-910C35C58D7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00344" y="3758957"/>
            <a:ext cx="510206" cy="510662"/>
          </a:xfrm>
          <a:prstGeom prst="rect">
            <a:avLst/>
          </a:prstGeom>
          <a:noFill/>
          <a:extLst>
            <a:ext uri="{909E8E84-426E-40DD-AFC4-6F175D3DCCD1}">
              <a14:hiddenFill xmlns:a14="http://schemas.microsoft.com/office/drawing/2010/main">
                <a:solidFill>
                  <a:srgbClr val="FFFFFF"/>
                </a:solidFill>
              </a14:hiddenFill>
            </a:ext>
          </a:extLst>
        </p:spPr>
      </p:pic>
      <p:sp>
        <p:nvSpPr>
          <p:cNvPr id="175" name="text 1">
            <a:extLst>
              <a:ext uri="{FF2B5EF4-FFF2-40B4-BE49-F238E27FC236}">
                <a16:creationId xmlns:a16="http://schemas.microsoft.com/office/drawing/2014/main" id="{2085749C-3091-13EF-096A-D2076D21D54B}"/>
              </a:ext>
            </a:extLst>
          </p:cNvPr>
          <p:cNvSpPr txBox="1"/>
          <p:nvPr/>
        </p:nvSpPr>
        <p:spPr>
          <a:xfrm>
            <a:off x="3584004" y="7985660"/>
            <a:ext cx="583814" cy="139910"/>
          </a:xfrm>
          <a:prstGeom prst="rect">
            <a:avLst/>
          </a:prstGeom>
        </p:spPr>
        <p:txBody>
          <a:bodyPr vert="horz" wrap="none" lIns="0" tIns="0" rIns="0" bIns="0" rtlCol="0">
            <a:spAutoFit/>
          </a:bodyPr>
          <a:lstStyle/>
          <a:p>
            <a:pPr marL="0">
              <a:lnSpc>
                <a:spcPct val="100000"/>
              </a:lnSpc>
            </a:pPr>
            <a:r>
              <a:rPr lang="en-US" sz="909" spc="10" dirty="0">
                <a:latin typeface="Arial"/>
                <a:cs typeface="Arial"/>
              </a:rPr>
              <a:t>J.P. PMCS</a:t>
            </a:r>
            <a:endParaRPr sz="900" dirty="0">
              <a:latin typeface="Arial"/>
              <a:cs typeface="Arial"/>
            </a:endParaRPr>
          </a:p>
        </p:txBody>
      </p:sp>
      <p:sp>
        <p:nvSpPr>
          <p:cNvPr id="176" name="object 14">
            <a:extLst>
              <a:ext uri="{FF2B5EF4-FFF2-40B4-BE49-F238E27FC236}">
                <a16:creationId xmlns:a16="http://schemas.microsoft.com/office/drawing/2014/main" id="{65AFB273-BC45-8377-83D0-E601574BB848}"/>
              </a:ext>
            </a:extLst>
          </p:cNvPr>
          <p:cNvSpPr/>
          <p:nvPr/>
        </p:nvSpPr>
        <p:spPr>
          <a:xfrm>
            <a:off x="1701395" y="8682385"/>
            <a:ext cx="1771080" cy="545092"/>
          </a:xfrm>
          <a:custGeom>
            <a:avLst/>
            <a:gdLst/>
            <a:ahLst/>
            <a:cxnLst/>
            <a:rect l="l" t="t" r="r" b="b"/>
            <a:pathLst>
              <a:path w="1694943" h="146304">
                <a:moveTo>
                  <a:pt x="0" y="146304"/>
                </a:moveTo>
                <a:lnTo>
                  <a:pt x="1694942" y="146304"/>
                </a:lnTo>
                <a:lnTo>
                  <a:pt x="1694942" y="0"/>
                </a:lnTo>
                <a:lnTo>
                  <a:pt x="0" y="0"/>
                </a:lnTo>
                <a:close/>
              </a:path>
            </a:pathLst>
          </a:custGeom>
          <a:solidFill>
            <a:srgbClr val="E0E0E0"/>
          </a:solidFill>
        </p:spPr>
        <p:txBody>
          <a:bodyPr wrap="square" lIns="0" tIns="0" rIns="0" bIns="0" rtlCol="0">
            <a:noAutofit/>
          </a:bodyPr>
          <a:lstStyle/>
          <a:p>
            <a:r>
              <a:rPr lang="en-US" sz="800" spc="10" dirty="0">
                <a:latin typeface="Arial"/>
                <a:cs typeface="Arial"/>
              </a:rPr>
              <a:t>PMI-PMP, PMI-ACP, PMI-RMP, PMI-PBA, DAC, DAVSC, DASSM, DASM, MPM,CIPM, ITIL Foundation, LSSBB, CSM, CSPO</a:t>
            </a:r>
            <a:endParaRPr sz="800" spc="10" dirty="0">
              <a:latin typeface="Arial"/>
              <a:cs typeface="Arial"/>
            </a:endParaRPr>
          </a:p>
        </p:txBody>
      </p:sp>
      <p:sp>
        <p:nvSpPr>
          <p:cNvPr id="2" name="text 1">
            <a:extLst>
              <a:ext uri="{FF2B5EF4-FFF2-40B4-BE49-F238E27FC236}">
                <a16:creationId xmlns:a16="http://schemas.microsoft.com/office/drawing/2014/main" id="{2CC3B18F-3873-6E29-64FE-FA13835B4E26}"/>
              </a:ext>
            </a:extLst>
          </p:cNvPr>
          <p:cNvSpPr txBox="1"/>
          <p:nvPr/>
        </p:nvSpPr>
        <p:spPr>
          <a:xfrm>
            <a:off x="1740664" y="1969158"/>
            <a:ext cx="5613069" cy="472437"/>
          </a:xfrm>
          <a:prstGeom prst="rect">
            <a:avLst/>
          </a:prstGeom>
        </p:spPr>
        <p:txBody>
          <a:bodyPr vert="horz" wrap="square" lIns="0" tIns="0" rIns="0" bIns="0" rtlCol="0">
            <a:spAutoFit/>
          </a:bodyPr>
          <a:lstStyle/>
          <a:p>
            <a:pPr marL="0">
              <a:lnSpc>
                <a:spcPct val="100000"/>
              </a:lnSpc>
            </a:pPr>
            <a:r>
              <a:rPr lang="en-US" sz="1070" b="1" spc="10" dirty="0">
                <a:latin typeface="Arial"/>
                <a:cs typeface="Arial"/>
              </a:rPr>
              <a:t>Mission: </a:t>
            </a:r>
            <a:r>
              <a:rPr lang="en-US" sz="1000" spc="10" dirty="0">
                <a:latin typeface="Arial"/>
                <a:cs typeface="Arial"/>
              </a:rPr>
              <a:t>We apply disciplined agile and process improvement practices to enhance efficiency across diverse organizations. Our expertise ensures clients achieve operational excellence and credible readiness in an ever-changing business landscape..</a:t>
            </a:r>
            <a:endParaRPr lang="en-US" sz="1070" b="1" spc="10" dirty="0">
              <a:latin typeface="Arial"/>
              <a:cs typeface="Arial"/>
            </a:endParaRPr>
          </a:p>
        </p:txBody>
      </p:sp>
      <p:sp>
        <p:nvSpPr>
          <p:cNvPr id="3" name="text 1">
            <a:extLst>
              <a:ext uri="{FF2B5EF4-FFF2-40B4-BE49-F238E27FC236}">
                <a16:creationId xmlns:a16="http://schemas.microsoft.com/office/drawing/2014/main" id="{6266FF77-0EF0-D756-C06D-3A0C742192A9}"/>
              </a:ext>
            </a:extLst>
          </p:cNvPr>
          <p:cNvSpPr txBox="1"/>
          <p:nvPr/>
        </p:nvSpPr>
        <p:spPr>
          <a:xfrm>
            <a:off x="1740664" y="2529368"/>
            <a:ext cx="5613069" cy="472437"/>
          </a:xfrm>
          <a:prstGeom prst="rect">
            <a:avLst/>
          </a:prstGeom>
        </p:spPr>
        <p:txBody>
          <a:bodyPr vert="horz" wrap="square" lIns="0" tIns="0" rIns="0" bIns="0" rtlCol="0">
            <a:spAutoFit/>
          </a:bodyPr>
          <a:lstStyle/>
          <a:p>
            <a:pPr marL="0">
              <a:lnSpc>
                <a:spcPct val="100000"/>
              </a:lnSpc>
            </a:pPr>
            <a:r>
              <a:rPr lang="en-US" sz="1070" b="1" spc="10" dirty="0">
                <a:latin typeface="Arial"/>
                <a:cs typeface="Arial"/>
              </a:rPr>
              <a:t>Vision: </a:t>
            </a:r>
            <a:r>
              <a:rPr lang="en-US" sz="1000" spc="10" dirty="0">
                <a:latin typeface="Arial"/>
                <a:cs typeface="Arial"/>
              </a:rPr>
              <a:t>To be the benchmark for agile process improvement consultancy, driving innovation and transformative efficiency. We envision a future where our strategic guidance fosters resilience and adaptability in organizations around the globe.</a:t>
            </a:r>
          </a:p>
        </p:txBody>
      </p:sp>
      <p:pic>
        <p:nvPicPr>
          <p:cNvPr id="14" name="Picture 13" descr="A close-up of a sign&#10;&#10;Description automatically generated">
            <a:extLst>
              <a:ext uri="{FF2B5EF4-FFF2-40B4-BE49-F238E27FC236}">
                <a16:creationId xmlns:a16="http://schemas.microsoft.com/office/drawing/2014/main" id="{EADC70A8-B834-27E0-3033-31B4FA85DA98}"/>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72576" y="1275724"/>
            <a:ext cx="789298" cy="986134"/>
          </a:xfrm>
          <a:prstGeom prst="rect">
            <a:avLst/>
          </a:prstGeom>
        </p:spPr>
      </p:pic>
      <p:pic>
        <p:nvPicPr>
          <p:cNvPr id="18" name="Picture 17" descr="A blue and red sign with white text&#10;&#10;Description automatically generated">
            <a:extLst>
              <a:ext uri="{FF2B5EF4-FFF2-40B4-BE49-F238E27FC236}">
                <a16:creationId xmlns:a16="http://schemas.microsoft.com/office/drawing/2014/main" id="{E01AD5C2-CD18-442C-36A3-818923D22EB4}"/>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590454" y="2362200"/>
            <a:ext cx="778605" cy="973578"/>
          </a:xfrm>
          <a:prstGeom prst="rect">
            <a:avLst/>
          </a:prstGeom>
        </p:spPr>
      </p:pic>
      <p:graphicFrame>
        <p:nvGraphicFramePr>
          <p:cNvPr id="10" name="Object 9">
            <a:extLst>
              <a:ext uri="{FF2B5EF4-FFF2-40B4-BE49-F238E27FC236}">
                <a16:creationId xmlns:a16="http://schemas.microsoft.com/office/drawing/2014/main" id="{41A2AAA9-0BF1-003B-6C4B-9F8EB43416C1}"/>
              </a:ext>
            </a:extLst>
          </p:cNvPr>
          <p:cNvGraphicFramePr>
            <a:graphicFrameLocks noChangeAspect="1"/>
          </p:cNvGraphicFramePr>
          <p:nvPr>
            <p:extLst>
              <p:ext uri="{D42A27DB-BD31-4B8C-83A1-F6EECF244321}">
                <p14:modId xmlns:p14="http://schemas.microsoft.com/office/powerpoint/2010/main" val="2196444337"/>
              </p:ext>
            </p:extLst>
          </p:nvPr>
        </p:nvGraphicFramePr>
        <p:xfrm>
          <a:off x="63689" y="3479741"/>
          <a:ext cx="1461569" cy="1344188"/>
        </p:xfrm>
        <a:graphic>
          <a:graphicData uri="http://schemas.openxmlformats.org/presentationml/2006/ole">
            <mc:AlternateContent xmlns:mc="http://schemas.openxmlformats.org/markup-compatibility/2006">
              <mc:Choice xmlns:v="urn:schemas-microsoft-com:vml" Requires="v">
                <p:oleObj name="Acrobat Document" r:id="rId20" imgW="5333796" imgH="4991032" progId="Acrobat.Document.DC">
                  <p:embed/>
                </p:oleObj>
              </mc:Choice>
              <mc:Fallback>
                <p:oleObj name="Acrobat Document" r:id="rId20" imgW="5333796" imgH="4991032" progId="Acrobat.Document.DC">
                  <p:embed/>
                  <p:pic>
                    <p:nvPicPr>
                      <p:cNvPr id="10" name="Object 9">
                        <a:extLst>
                          <a:ext uri="{FF2B5EF4-FFF2-40B4-BE49-F238E27FC236}">
                            <a16:creationId xmlns:a16="http://schemas.microsoft.com/office/drawing/2014/main" id="{41A2AAA9-0BF1-003B-6C4B-9F8EB43416C1}"/>
                          </a:ext>
                        </a:extLst>
                      </p:cNvPr>
                      <p:cNvPicPr/>
                      <p:nvPr/>
                    </p:nvPicPr>
                    <p:blipFill>
                      <a:blip r:embed="rId21"/>
                      <a:stretch>
                        <a:fillRect/>
                      </a:stretch>
                    </p:blipFill>
                    <p:spPr>
                      <a:xfrm>
                        <a:off x="63689" y="3479741"/>
                        <a:ext cx="1461569" cy="1344188"/>
                      </a:xfrm>
                      <a:prstGeom prst="rect">
                        <a:avLst/>
                      </a:prstGeom>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descr="A logo with skulls and text">
            <a:extLst>
              <a:ext uri="{FF2B5EF4-FFF2-40B4-BE49-F238E27FC236}">
                <a16:creationId xmlns:a16="http://schemas.microsoft.com/office/drawing/2014/main" id="{E1578EFE-1861-D64C-A6D1-5C4E7493A818}"/>
              </a:ext>
            </a:extLst>
          </p:cNvPr>
          <p:cNvPicPr>
            <a:picLocks noChangeAspect="1"/>
          </p:cNvPicPr>
          <p:nvPr/>
        </p:nvPicPr>
        <p:blipFill rotWithShape="1">
          <a:blip r:embed="rId2" cstate="print">
            <a:alphaModFix amt="93000"/>
            <a:extLst>
              <a:ext uri="{28A0092B-C50C-407E-A947-70E740481C1C}">
                <a14:useLocalDpi xmlns:a14="http://schemas.microsoft.com/office/drawing/2010/main" val="0"/>
              </a:ext>
            </a:extLst>
          </a:blip>
          <a:srcRect l="10422" t="31431" r="9257" b="33613"/>
          <a:stretch/>
        </p:blipFill>
        <p:spPr>
          <a:xfrm>
            <a:off x="837698" y="287837"/>
            <a:ext cx="2477993" cy="690943"/>
          </a:xfrm>
          <a:prstGeom prst="rect">
            <a:avLst/>
          </a:prstGeom>
        </p:spPr>
      </p:pic>
      <p:pic>
        <p:nvPicPr>
          <p:cNvPr id="432" name="Picture 12" descr="Image result for 82nd Airborne Division Patch">
            <a:extLst>
              <a:ext uri="{FF2B5EF4-FFF2-40B4-BE49-F238E27FC236}">
                <a16:creationId xmlns:a16="http://schemas.microsoft.com/office/drawing/2014/main" id="{9D7BE99D-0F89-DC76-495D-8FBB4D3CB9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061" y="7925444"/>
            <a:ext cx="1143225" cy="1143225"/>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10" descr="Army Logistics University Logo PNG Vector (PDF) Free Download">
            <a:extLst>
              <a:ext uri="{FF2B5EF4-FFF2-40B4-BE49-F238E27FC236}">
                <a16:creationId xmlns:a16="http://schemas.microsoft.com/office/drawing/2014/main" id="{D7A452F6-2B4E-E47F-529D-150DB644CD1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3719" y="2980173"/>
            <a:ext cx="801292" cy="981174"/>
          </a:xfrm>
          <a:prstGeom prst="rect">
            <a:avLst/>
          </a:prstGeom>
          <a:noFill/>
          <a:extLst>
            <a:ext uri="{909E8E84-426E-40DD-AFC4-6F175D3DCCD1}">
              <a14:hiddenFill xmlns:a14="http://schemas.microsoft.com/office/drawing/2010/main">
                <a:solidFill>
                  <a:srgbClr val="FFFFFF"/>
                </a:solidFill>
              </a14:hiddenFill>
            </a:ext>
          </a:extLst>
        </p:spPr>
      </p:pic>
      <p:pic>
        <p:nvPicPr>
          <p:cNvPr id="1054" name="Picture 8" descr="See related image detail. 4th Battalion, 27th Field Artillery Regiment">
            <a:extLst>
              <a:ext uri="{FF2B5EF4-FFF2-40B4-BE49-F238E27FC236}">
                <a16:creationId xmlns:a16="http://schemas.microsoft.com/office/drawing/2014/main" id="{64820658-88AB-7D69-51FE-96C18190FC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4153" y="6507359"/>
            <a:ext cx="963036" cy="8140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rmy announces upcoming 2nd BCT, 1st Armored Division, unit rotation ...">
            <a:extLst>
              <a:ext uri="{FF2B5EF4-FFF2-40B4-BE49-F238E27FC236}">
                <a16:creationId xmlns:a16="http://schemas.microsoft.com/office/drawing/2014/main" id="{80493DD9-7081-0243-9B69-CD3DE680B10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38002" y="4770995"/>
            <a:ext cx="1613853" cy="1030005"/>
          </a:xfrm>
          <a:prstGeom prst="rect">
            <a:avLst/>
          </a:prstGeom>
          <a:noFill/>
          <a:extLst>
            <a:ext uri="{909E8E84-426E-40DD-AFC4-6F175D3DCCD1}">
              <a14:hiddenFill xmlns:a14="http://schemas.microsoft.com/office/drawing/2010/main">
                <a:solidFill>
                  <a:srgbClr val="FFFFFF"/>
                </a:solidFill>
              </a14:hiddenFill>
            </a:ext>
          </a:extLst>
        </p:spPr>
      </p:pic>
      <p:sp>
        <p:nvSpPr>
          <p:cNvPr id="2" name="text 1"/>
          <p:cNvSpPr txBox="1"/>
          <p:nvPr/>
        </p:nvSpPr>
        <p:spPr>
          <a:xfrm>
            <a:off x="4460113" y="468187"/>
            <a:ext cx="2468879" cy="250175"/>
          </a:xfrm>
          <a:prstGeom prst="rect">
            <a:avLst/>
          </a:prstGeom>
        </p:spPr>
        <p:txBody>
          <a:bodyPr vert="horz" wrap="none" lIns="0" tIns="0" rIns="0" bIns="0" rtlCol="0">
            <a:spAutoFit/>
          </a:bodyPr>
          <a:lstStyle/>
          <a:p>
            <a:pPr marL="0">
              <a:lnSpc>
                <a:spcPct val="100000"/>
              </a:lnSpc>
            </a:pPr>
            <a:r>
              <a:rPr sz="1960" b="1" i="1" spc="10" dirty="0">
                <a:solidFill>
                  <a:srgbClr val="C00000"/>
                </a:solidFill>
                <a:latin typeface="Arial"/>
                <a:cs typeface="Arial"/>
              </a:rPr>
              <a:t>Capability Statement</a:t>
            </a:r>
            <a:endParaRPr sz="1900">
              <a:latin typeface="Arial"/>
              <a:cs typeface="Arial"/>
            </a:endParaRPr>
          </a:p>
        </p:txBody>
      </p:sp>
      <p:sp>
        <p:nvSpPr>
          <p:cNvPr id="3" name="text 1"/>
          <p:cNvSpPr txBox="1"/>
          <p:nvPr/>
        </p:nvSpPr>
        <p:spPr>
          <a:xfrm>
            <a:off x="6789166" y="9483852"/>
            <a:ext cx="101791" cy="140208"/>
          </a:xfrm>
          <a:prstGeom prst="rect">
            <a:avLst/>
          </a:prstGeom>
        </p:spPr>
        <p:txBody>
          <a:bodyPr vert="horz" wrap="none" lIns="0" tIns="0" rIns="0" bIns="0" rtlCol="0">
            <a:spAutoFit/>
          </a:bodyPr>
          <a:lstStyle/>
          <a:p>
            <a:pPr marL="0">
              <a:lnSpc>
                <a:spcPct val="100000"/>
              </a:lnSpc>
            </a:pPr>
            <a:r>
              <a:rPr sz="1100" spc="10" dirty="0">
                <a:latin typeface="Calibri"/>
                <a:cs typeface="Calibri"/>
              </a:rPr>
              <a:t>2</a:t>
            </a:r>
            <a:endParaRPr sz="1100">
              <a:latin typeface="Calibri"/>
              <a:cs typeface="Calibri"/>
            </a:endParaRPr>
          </a:p>
        </p:txBody>
      </p:sp>
      <p:sp>
        <p:nvSpPr>
          <p:cNvPr id="5" name="text 1"/>
          <p:cNvSpPr txBox="1"/>
          <p:nvPr/>
        </p:nvSpPr>
        <p:spPr>
          <a:xfrm>
            <a:off x="819328" y="929392"/>
            <a:ext cx="1202385" cy="136707"/>
          </a:xfrm>
          <a:prstGeom prst="rect">
            <a:avLst/>
          </a:prstGeom>
        </p:spPr>
        <p:txBody>
          <a:bodyPr vert="horz" wrap="none" lIns="0" tIns="0" rIns="0" bIns="0" rtlCol="0">
            <a:spAutoFit/>
          </a:bodyPr>
          <a:lstStyle/>
          <a:p>
            <a:pPr marL="0">
              <a:lnSpc>
                <a:spcPct val="100000"/>
              </a:lnSpc>
            </a:pPr>
            <a:r>
              <a:rPr sz="1140" b="1" spc="10" dirty="0">
                <a:latin typeface="Arial"/>
                <a:cs typeface="Arial"/>
              </a:rPr>
              <a:t>Past Performance</a:t>
            </a:r>
            <a:endParaRPr sz="1100" dirty="0">
              <a:latin typeface="Arial"/>
              <a:cs typeface="Arial"/>
            </a:endParaRPr>
          </a:p>
        </p:txBody>
      </p:sp>
      <p:sp>
        <p:nvSpPr>
          <p:cNvPr id="36" name="object 36"/>
          <p:cNvSpPr/>
          <p:nvPr/>
        </p:nvSpPr>
        <p:spPr>
          <a:xfrm>
            <a:off x="2164333" y="1010203"/>
            <a:ext cx="5230118" cy="197226"/>
          </a:xfrm>
          <a:custGeom>
            <a:avLst/>
            <a:gdLst/>
            <a:ahLst/>
            <a:cxnLst/>
            <a:rect l="l" t="t" r="r" b="b"/>
            <a:pathLst>
              <a:path w="5060569" h="146305">
                <a:moveTo>
                  <a:pt x="0" y="146305"/>
                </a:moveTo>
                <a:lnTo>
                  <a:pt x="5060569" y="146305"/>
                </a:lnTo>
                <a:lnTo>
                  <a:pt x="5060569" y="0"/>
                </a:lnTo>
                <a:lnTo>
                  <a:pt x="0" y="0"/>
                </a:lnTo>
                <a:close/>
              </a:path>
            </a:pathLst>
          </a:custGeom>
          <a:solidFill>
            <a:srgbClr val="000000"/>
          </a:solidFill>
        </p:spPr>
        <p:txBody>
          <a:bodyPr wrap="square" lIns="0" tIns="0" rIns="0" bIns="0" rtlCol="0">
            <a:noAutofit/>
          </a:bodyPr>
          <a:lstStyle/>
          <a:p>
            <a:endParaRPr lang="en-US" sz="1050" b="1" dirty="0">
              <a:solidFill>
                <a:schemeClr val="bg1"/>
              </a:solidFill>
            </a:endParaRPr>
          </a:p>
        </p:txBody>
      </p:sp>
      <p:sp>
        <p:nvSpPr>
          <p:cNvPr id="7" name="text 1"/>
          <p:cNvSpPr txBox="1"/>
          <p:nvPr/>
        </p:nvSpPr>
        <p:spPr>
          <a:xfrm>
            <a:off x="3310364" y="1232431"/>
            <a:ext cx="408445" cy="155299"/>
          </a:xfrm>
          <a:prstGeom prst="rect">
            <a:avLst/>
          </a:prstGeom>
        </p:spPr>
        <p:txBody>
          <a:bodyPr vert="horz" wrap="none" lIns="0" tIns="0" rIns="0" bIns="0" rtlCol="0">
            <a:spAutoFit/>
          </a:bodyPr>
          <a:lstStyle/>
          <a:p>
            <a:pPr marL="0">
              <a:lnSpc>
                <a:spcPct val="100000"/>
              </a:lnSpc>
            </a:pPr>
            <a:r>
              <a:rPr lang="en-US" sz="1009" b="1" spc="10" dirty="0">
                <a:latin typeface="Arial"/>
                <a:cs typeface="Arial"/>
              </a:rPr>
              <a:t>Period</a:t>
            </a:r>
            <a:endParaRPr sz="1000" dirty="0">
              <a:latin typeface="Arial"/>
              <a:cs typeface="Arial"/>
            </a:endParaRPr>
          </a:p>
        </p:txBody>
      </p:sp>
      <p:sp>
        <p:nvSpPr>
          <p:cNvPr id="8" name="text 1"/>
          <p:cNvSpPr txBox="1"/>
          <p:nvPr/>
        </p:nvSpPr>
        <p:spPr>
          <a:xfrm>
            <a:off x="3803478" y="1225795"/>
            <a:ext cx="1307089" cy="139910"/>
          </a:xfrm>
          <a:prstGeom prst="rect">
            <a:avLst/>
          </a:prstGeom>
        </p:spPr>
        <p:txBody>
          <a:bodyPr vert="horz" wrap="none" lIns="0" tIns="0" rIns="0" bIns="0" rtlCol="0">
            <a:spAutoFit/>
          </a:bodyPr>
          <a:lstStyle/>
          <a:p>
            <a:pPr marL="0">
              <a:lnSpc>
                <a:spcPct val="100000"/>
              </a:lnSpc>
            </a:pPr>
            <a:r>
              <a:rPr lang="en-US" sz="909" spc="10" dirty="0">
                <a:latin typeface="Arial"/>
                <a:cs typeface="Arial"/>
              </a:rPr>
              <a:t>February 2022 – Present</a:t>
            </a:r>
            <a:endParaRPr sz="909" spc="10" dirty="0">
              <a:latin typeface="Arial"/>
              <a:cs typeface="Arial"/>
            </a:endParaRPr>
          </a:p>
        </p:txBody>
      </p:sp>
      <p:sp>
        <p:nvSpPr>
          <p:cNvPr id="44" name="object 44"/>
          <p:cNvSpPr/>
          <p:nvPr/>
        </p:nvSpPr>
        <p:spPr>
          <a:xfrm>
            <a:off x="2171954" y="1213358"/>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45" name="object 45"/>
          <p:cNvSpPr/>
          <p:nvPr/>
        </p:nvSpPr>
        <p:spPr>
          <a:xfrm>
            <a:off x="2178050" y="1213358"/>
            <a:ext cx="1591310" cy="6096"/>
          </a:xfrm>
          <a:custGeom>
            <a:avLst/>
            <a:gdLst/>
            <a:ahLst/>
            <a:cxnLst/>
            <a:rect l="l" t="t" r="r" b="b"/>
            <a:pathLst>
              <a:path w="1591310" h="6096">
                <a:moveTo>
                  <a:pt x="0" y="6096"/>
                </a:moveTo>
                <a:lnTo>
                  <a:pt x="1591310" y="6096"/>
                </a:lnTo>
                <a:lnTo>
                  <a:pt x="1591310" y="0"/>
                </a:lnTo>
                <a:lnTo>
                  <a:pt x="0" y="0"/>
                </a:lnTo>
                <a:close/>
              </a:path>
            </a:pathLst>
          </a:custGeom>
          <a:solidFill>
            <a:srgbClr val="000000"/>
          </a:solidFill>
        </p:spPr>
        <p:txBody>
          <a:bodyPr wrap="square" lIns="0" tIns="0" rIns="0" bIns="0" rtlCol="0">
            <a:noAutofit/>
          </a:bodyPr>
          <a:lstStyle/>
          <a:p>
            <a:endParaRPr/>
          </a:p>
        </p:txBody>
      </p:sp>
      <p:sp>
        <p:nvSpPr>
          <p:cNvPr id="46" name="object 46"/>
          <p:cNvSpPr/>
          <p:nvPr/>
        </p:nvSpPr>
        <p:spPr>
          <a:xfrm>
            <a:off x="3769487" y="1213358"/>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47" name="object 47"/>
          <p:cNvSpPr/>
          <p:nvPr/>
        </p:nvSpPr>
        <p:spPr>
          <a:xfrm>
            <a:off x="3775583" y="1213358"/>
            <a:ext cx="3594481" cy="6096"/>
          </a:xfrm>
          <a:custGeom>
            <a:avLst/>
            <a:gdLst/>
            <a:ahLst/>
            <a:cxnLst/>
            <a:rect l="l" t="t" r="r" b="b"/>
            <a:pathLst>
              <a:path w="3594481" h="6096">
                <a:moveTo>
                  <a:pt x="0" y="6096"/>
                </a:moveTo>
                <a:lnTo>
                  <a:pt x="3594481" y="6096"/>
                </a:lnTo>
                <a:lnTo>
                  <a:pt x="3594481" y="0"/>
                </a:lnTo>
                <a:lnTo>
                  <a:pt x="0" y="0"/>
                </a:lnTo>
                <a:close/>
              </a:path>
            </a:pathLst>
          </a:custGeom>
          <a:solidFill>
            <a:srgbClr val="000000"/>
          </a:solidFill>
        </p:spPr>
        <p:txBody>
          <a:bodyPr wrap="square" lIns="0" tIns="0" rIns="0" bIns="0" rtlCol="0">
            <a:noAutofit/>
          </a:bodyPr>
          <a:lstStyle/>
          <a:p>
            <a:endParaRPr/>
          </a:p>
        </p:txBody>
      </p:sp>
      <p:sp>
        <p:nvSpPr>
          <p:cNvPr id="48" name="object 48"/>
          <p:cNvSpPr/>
          <p:nvPr/>
        </p:nvSpPr>
        <p:spPr>
          <a:xfrm>
            <a:off x="7370064" y="1213358"/>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49" name="object 49"/>
          <p:cNvSpPr/>
          <p:nvPr/>
        </p:nvSpPr>
        <p:spPr>
          <a:xfrm>
            <a:off x="2171954" y="1219454"/>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50" name="object 50"/>
          <p:cNvSpPr/>
          <p:nvPr/>
        </p:nvSpPr>
        <p:spPr>
          <a:xfrm>
            <a:off x="3769487" y="1219454"/>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9" name="text 1"/>
          <p:cNvSpPr txBox="1"/>
          <p:nvPr/>
        </p:nvSpPr>
        <p:spPr>
          <a:xfrm>
            <a:off x="2442300" y="1400379"/>
            <a:ext cx="1330172" cy="155299"/>
          </a:xfrm>
          <a:prstGeom prst="rect">
            <a:avLst/>
          </a:prstGeom>
        </p:spPr>
        <p:txBody>
          <a:bodyPr vert="horz" wrap="none" lIns="0" tIns="0" rIns="0" bIns="0" rtlCol="0">
            <a:spAutoFit/>
          </a:bodyPr>
          <a:lstStyle/>
          <a:p>
            <a:pPr marL="0">
              <a:lnSpc>
                <a:spcPct val="100000"/>
              </a:lnSpc>
            </a:pPr>
            <a:r>
              <a:rPr lang="en-US" sz="1009" b="1" spc="10" dirty="0">
                <a:latin typeface="Arial"/>
                <a:cs typeface="Arial"/>
              </a:rPr>
              <a:t>Key Responsibilities</a:t>
            </a:r>
            <a:endParaRPr sz="1000" dirty="0">
              <a:latin typeface="Arial"/>
              <a:cs typeface="Arial"/>
            </a:endParaRPr>
          </a:p>
        </p:txBody>
      </p:sp>
      <p:sp>
        <p:nvSpPr>
          <p:cNvPr id="52" name="object 52"/>
          <p:cNvSpPr/>
          <p:nvPr/>
        </p:nvSpPr>
        <p:spPr>
          <a:xfrm>
            <a:off x="2171954" y="1379474"/>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53" name="object 53"/>
          <p:cNvSpPr/>
          <p:nvPr/>
        </p:nvSpPr>
        <p:spPr>
          <a:xfrm>
            <a:off x="2178050" y="1379474"/>
            <a:ext cx="1591310" cy="6096"/>
          </a:xfrm>
          <a:custGeom>
            <a:avLst/>
            <a:gdLst/>
            <a:ahLst/>
            <a:cxnLst/>
            <a:rect l="l" t="t" r="r" b="b"/>
            <a:pathLst>
              <a:path w="1591310" h="6096">
                <a:moveTo>
                  <a:pt x="0" y="6096"/>
                </a:moveTo>
                <a:lnTo>
                  <a:pt x="1591310" y="6096"/>
                </a:lnTo>
                <a:lnTo>
                  <a:pt x="1591310" y="0"/>
                </a:lnTo>
                <a:lnTo>
                  <a:pt x="0" y="0"/>
                </a:lnTo>
                <a:close/>
              </a:path>
            </a:pathLst>
          </a:custGeom>
          <a:solidFill>
            <a:srgbClr val="000000"/>
          </a:solidFill>
        </p:spPr>
        <p:txBody>
          <a:bodyPr wrap="square" lIns="0" tIns="0" rIns="0" bIns="0" rtlCol="0">
            <a:noAutofit/>
          </a:bodyPr>
          <a:lstStyle/>
          <a:p>
            <a:endParaRPr/>
          </a:p>
        </p:txBody>
      </p:sp>
      <p:sp>
        <p:nvSpPr>
          <p:cNvPr id="54" name="object 54"/>
          <p:cNvSpPr/>
          <p:nvPr/>
        </p:nvSpPr>
        <p:spPr>
          <a:xfrm>
            <a:off x="3769487" y="1379474"/>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55" name="object 55"/>
          <p:cNvSpPr/>
          <p:nvPr/>
        </p:nvSpPr>
        <p:spPr>
          <a:xfrm>
            <a:off x="3775583" y="1379474"/>
            <a:ext cx="3594481" cy="6096"/>
          </a:xfrm>
          <a:custGeom>
            <a:avLst/>
            <a:gdLst/>
            <a:ahLst/>
            <a:cxnLst/>
            <a:rect l="l" t="t" r="r" b="b"/>
            <a:pathLst>
              <a:path w="3594481" h="6096">
                <a:moveTo>
                  <a:pt x="0" y="6096"/>
                </a:moveTo>
                <a:lnTo>
                  <a:pt x="3594481" y="6096"/>
                </a:lnTo>
                <a:lnTo>
                  <a:pt x="3594481" y="0"/>
                </a:lnTo>
                <a:lnTo>
                  <a:pt x="0" y="0"/>
                </a:lnTo>
                <a:close/>
              </a:path>
            </a:pathLst>
          </a:custGeom>
          <a:solidFill>
            <a:srgbClr val="000000"/>
          </a:solidFill>
        </p:spPr>
        <p:txBody>
          <a:bodyPr wrap="square" lIns="0" tIns="0" rIns="0" bIns="0" rtlCol="0">
            <a:noAutofit/>
          </a:bodyPr>
          <a:lstStyle/>
          <a:p>
            <a:endParaRPr/>
          </a:p>
        </p:txBody>
      </p:sp>
      <p:sp>
        <p:nvSpPr>
          <p:cNvPr id="56" name="object 56"/>
          <p:cNvSpPr/>
          <p:nvPr/>
        </p:nvSpPr>
        <p:spPr>
          <a:xfrm>
            <a:off x="7370064" y="1379474"/>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7370064" y="1385570"/>
            <a:ext cx="6096" cy="161544"/>
          </a:xfrm>
          <a:custGeom>
            <a:avLst/>
            <a:gdLst/>
            <a:ahLst/>
            <a:cxnLst/>
            <a:rect l="l" t="t" r="r" b="b"/>
            <a:pathLst>
              <a:path w="6096" h="161544">
                <a:moveTo>
                  <a:pt x="0" y="161544"/>
                </a:moveTo>
                <a:lnTo>
                  <a:pt x="6096" y="161544"/>
                </a:lnTo>
                <a:lnTo>
                  <a:pt x="6096" y="0"/>
                </a:lnTo>
                <a:lnTo>
                  <a:pt x="0" y="0"/>
                </a:lnTo>
                <a:close/>
              </a:path>
            </a:pathLst>
          </a:custGeom>
          <a:solidFill>
            <a:srgbClr val="000000"/>
          </a:solidFill>
        </p:spPr>
        <p:txBody>
          <a:bodyPr wrap="square" lIns="0" tIns="0" rIns="0" bIns="0" rtlCol="0">
            <a:noAutofit/>
          </a:bodyPr>
          <a:lstStyle/>
          <a:p>
            <a:endParaRPr/>
          </a:p>
        </p:txBody>
      </p:sp>
      <p:sp>
        <p:nvSpPr>
          <p:cNvPr id="64" name="object 64"/>
          <p:cNvSpPr/>
          <p:nvPr/>
        </p:nvSpPr>
        <p:spPr>
          <a:xfrm>
            <a:off x="7370064" y="1547114"/>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67" name="object 67"/>
          <p:cNvSpPr/>
          <p:nvPr/>
        </p:nvSpPr>
        <p:spPr>
          <a:xfrm>
            <a:off x="7370064" y="1553211"/>
            <a:ext cx="6096" cy="161543"/>
          </a:xfrm>
          <a:custGeom>
            <a:avLst/>
            <a:gdLst/>
            <a:ahLst/>
            <a:cxnLst/>
            <a:rect l="l" t="t" r="r" b="b"/>
            <a:pathLst>
              <a:path w="6096" h="161543">
                <a:moveTo>
                  <a:pt x="0" y="161543"/>
                </a:moveTo>
                <a:lnTo>
                  <a:pt x="6096" y="161543"/>
                </a:lnTo>
                <a:lnTo>
                  <a:pt x="6096" y="0"/>
                </a:lnTo>
                <a:lnTo>
                  <a:pt x="0" y="0"/>
                </a:lnTo>
                <a:close/>
              </a:path>
            </a:pathLst>
          </a:custGeom>
          <a:solidFill>
            <a:srgbClr val="000000"/>
          </a:solidFill>
        </p:spPr>
        <p:txBody>
          <a:bodyPr wrap="square" lIns="0" tIns="0" rIns="0" bIns="0" rtlCol="0">
            <a:noAutofit/>
          </a:bodyPr>
          <a:lstStyle/>
          <a:p>
            <a:endParaRPr/>
          </a:p>
        </p:txBody>
      </p:sp>
      <p:sp>
        <p:nvSpPr>
          <p:cNvPr id="72" name="object 72"/>
          <p:cNvSpPr/>
          <p:nvPr/>
        </p:nvSpPr>
        <p:spPr>
          <a:xfrm>
            <a:off x="7370064" y="1714754"/>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7370064" y="1720850"/>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21" name="text 1"/>
          <p:cNvSpPr txBox="1"/>
          <p:nvPr/>
        </p:nvSpPr>
        <p:spPr>
          <a:xfrm>
            <a:off x="3811653" y="1383292"/>
            <a:ext cx="3033020" cy="279820"/>
          </a:xfrm>
          <a:prstGeom prst="rect">
            <a:avLst/>
          </a:prstGeom>
        </p:spPr>
        <p:txBody>
          <a:bodyPr vert="horz" wrap="square" lIns="0" tIns="0" rIns="0" bIns="0" rtlCol="0">
            <a:spAutoFit/>
          </a:bodyPr>
          <a:lstStyle/>
          <a:p>
            <a:pPr marL="0">
              <a:lnSpc>
                <a:spcPct val="100000"/>
              </a:lnSpc>
            </a:pPr>
            <a:r>
              <a:rPr lang="en-US" sz="909" spc="10" dirty="0">
                <a:latin typeface="Arial"/>
                <a:cs typeface="Arial"/>
              </a:rPr>
              <a:t>Spearheaded cybersecurity and process improvement initiatives; managed IT teams.</a:t>
            </a:r>
            <a:endParaRPr sz="909" spc="10" dirty="0">
              <a:latin typeface="Arial"/>
              <a:cs typeface="Arial"/>
            </a:endParaRPr>
          </a:p>
        </p:txBody>
      </p:sp>
      <p:sp>
        <p:nvSpPr>
          <p:cNvPr id="77" name="object 77"/>
          <p:cNvSpPr/>
          <p:nvPr/>
        </p:nvSpPr>
        <p:spPr>
          <a:xfrm>
            <a:off x="2189227" y="1709346"/>
            <a:ext cx="1591310" cy="6096"/>
          </a:xfrm>
          <a:custGeom>
            <a:avLst/>
            <a:gdLst/>
            <a:ahLst/>
            <a:cxnLst/>
            <a:rect l="l" t="t" r="r" b="b"/>
            <a:pathLst>
              <a:path w="1591310" h="6096">
                <a:moveTo>
                  <a:pt x="0" y="6096"/>
                </a:moveTo>
                <a:lnTo>
                  <a:pt x="1591310" y="6096"/>
                </a:lnTo>
                <a:lnTo>
                  <a:pt x="1591310" y="1"/>
                </a:lnTo>
                <a:lnTo>
                  <a:pt x="0" y="1"/>
                </a:lnTo>
                <a:close/>
              </a:path>
            </a:pathLst>
          </a:custGeom>
          <a:solidFill>
            <a:srgbClr val="000000"/>
          </a:solidFill>
        </p:spPr>
        <p:txBody>
          <a:bodyPr wrap="square" lIns="0" tIns="0" rIns="0" bIns="0" rtlCol="0">
            <a:noAutofit/>
          </a:bodyPr>
          <a:lstStyle/>
          <a:p>
            <a:endParaRPr/>
          </a:p>
        </p:txBody>
      </p:sp>
      <p:sp>
        <p:nvSpPr>
          <p:cNvPr id="79" name="object 79"/>
          <p:cNvSpPr/>
          <p:nvPr/>
        </p:nvSpPr>
        <p:spPr>
          <a:xfrm>
            <a:off x="3770629" y="1709308"/>
            <a:ext cx="3594481" cy="6096"/>
          </a:xfrm>
          <a:custGeom>
            <a:avLst/>
            <a:gdLst/>
            <a:ahLst/>
            <a:cxnLst/>
            <a:rect l="l" t="t" r="r" b="b"/>
            <a:pathLst>
              <a:path w="3594481" h="6096">
                <a:moveTo>
                  <a:pt x="0" y="6096"/>
                </a:moveTo>
                <a:lnTo>
                  <a:pt x="3594481" y="6096"/>
                </a:lnTo>
                <a:lnTo>
                  <a:pt x="3594481" y="1"/>
                </a:lnTo>
                <a:lnTo>
                  <a:pt x="0" y="1"/>
                </a:lnTo>
                <a:close/>
              </a:path>
            </a:pathLst>
          </a:custGeom>
          <a:solidFill>
            <a:srgbClr val="000000"/>
          </a:solidFill>
        </p:spPr>
        <p:txBody>
          <a:bodyPr wrap="square" lIns="0" tIns="0" rIns="0" bIns="0" rtlCol="0">
            <a:noAutofit/>
          </a:bodyPr>
          <a:lstStyle/>
          <a:p>
            <a:endParaRPr/>
          </a:p>
        </p:txBody>
      </p:sp>
      <p:sp>
        <p:nvSpPr>
          <p:cNvPr id="80" name="object 80"/>
          <p:cNvSpPr/>
          <p:nvPr/>
        </p:nvSpPr>
        <p:spPr>
          <a:xfrm>
            <a:off x="7370064" y="1880870"/>
            <a:ext cx="6096" cy="6096"/>
          </a:xfrm>
          <a:custGeom>
            <a:avLst/>
            <a:gdLst/>
            <a:ahLst/>
            <a:cxnLst/>
            <a:rect l="l" t="t" r="r" b="b"/>
            <a:pathLst>
              <a:path w="6096" h="6096">
                <a:moveTo>
                  <a:pt x="0" y="6096"/>
                </a:moveTo>
                <a:lnTo>
                  <a:pt x="6096" y="6096"/>
                </a:lnTo>
                <a:lnTo>
                  <a:pt x="6096" y="1"/>
                </a:lnTo>
                <a:lnTo>
                  <a:pt x="0" y="1"/>
                </a:lnTo>
                <a:close/>
              </a:path>
            </a:pathLst>
          </a:custGeom>
          <a:solidFill>
            <a:srgbClr val="000000"/>
          </a:solidFill>
        </p:spPr>
        <p:txBody>
          <a:bodyPr wrap="square" lIns="0" tIns="0" rIns="0" bIns="0" rtlCol="0">
            <a:noAutofit/>
          </a:bodyPr>
          <a:lstStyle/>
          <a:p>
            <a:endParaRPr/>
          </a:p>
        </p:txBody>
      </p:sp>
      <p:sp>
        <p:nvSpPr>
          <p:cNvPr id="83" name="object 83"/>
          <p:cNvSpPr/>
          <p:nvPr/>
        </p:nvSpPr>
        <p:spPr>
          <a:xfrm>
            <a:off x="7370064" y="1886966"/>
            <a:ext cx="6096" cy="161544"/>
          </a:xfrm>
          <a:custGeom>
            <a:avLst/>
            <a:gdLst/>
            <a:ahLst/>
            <a:cxnLst/>
            <a:rect l="l" t="t" r="r" b="b"/>
            <a:pathLst>
              <a:path w="6096" h="161544">
                <a:moveTo>
                  <a:pt x="0" y="161544"/>
                </a:moveTo>
                <a:lnTo>
                  <a:pt x="6096" y="161544"/>
                </a:lnTo>
                <a:lnTo>
                  <a:pt x="6096" y="0"/>
                </a:lnTo>
                <a:lnTo>
                  <a:pt x="0" y="0"/>
                </a:lnTo>
                <a:close/>
              </a:path>
            </a:pathLst>
          </a:custGeom>
          <a:solidFill>
            <a:srgbClr val="000000"/>
          </a:solidFill>
        </p:spPr>
        <p:txBody>
          <a:bodyPr wrap="square" lIns="0" tIns="0" rIns="0" bIns="0" rtlCol="0">
            <a:noAutofit/>
          </a:bodyPr>
          <a:lstStyle/>
          <a:p>
            <a:endParaRPr/>
          </a:p>
        </p:txBody>
      </p:sp>
      <p:sp>
        <p:nvSpPr>
          <p:cNvPr id="23" name="text 1"/>
          <p:cNvSpPr txBox="1"/>
          <p:nvPr/>
        </p:nvSpPr>
        <p:spPr>
          <a:xfrm>
            <a:off x="2827783" y="1730766"/>
            <a:ext cx="892232" cy="155299"/>
          </a:xfrm>
          <a:prstGeom prst="rect">
            <a:avLst/>
          </a:prstGeom>
        </p:spPr>
        <p:txBody>
          <a:bodyPr vert="horz" wrap="none" lIns="0" tIns="0" rIns="0" bIns="0" rtlCol="0">
            <a:spAutoFit/>
          </a:bodyPr>
          <a:lstStyle/>
          <a:p>
            <a:pPr marL="0">
              <a:lnSpc>
                <a:spcPct val="100000"/>
              </a:lnSpc>
            </a:pPr>
            <a:r>
              <a:rPr lang="en-US" sz="1009" b="1" spc="10" dirty="0">
                <a:latin typeface="Arial"/>
                <a:cs typeface="Arial"/>
              </a:rPr>
              <a:t>Achievements</a:t>
            </a:r>
            <a:endParaRPr sz="1000" dirty="0">
              <a:latin typeface="Arial"/>
              <a:cs typeface="Arial"/>
            </a:endParaRPr>
          </a:p>
        </p:txBody>
      </p:sp>
      <p:sp>
        <p:nvSpPr>
          <p:cNvPr id="85" name="object 85"/>
          <p:cNvSpPr/>
          <p:nvPr/>
        </p:nvSpPr>
        <p:spPr>
          <a:xfrm>
            <a:off x="2189227" y="2278222"/>
            <a:ext cx="1591310" cy="6097"/>
          </a:xfrm>
          <a:custGeom>
            <a:avLst/>
            <a:gdLst/>
            <a:ahLst/>
            <a:cxnLst/>
            <a:rect l="l" t="t" r="r" b="b"/>
            <a:pathLst>
              <a:path w="1591310" h="6097">
                <a:moveTo>
                  <a:pt x="0" y="6097"/>
                </a:moveTo>
                <a:lnTo>
                  <a:pt x="1591310" y="6097"/>
                </a:lnTo>
                <a:lnTo>
                  <a:pt x="1591310" y="1"/>
                </a:lnTo>
                <a:lnTo>
                  <a:pt x="0" y="1"/>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3786760" y="2278222"/>
            <a:ext cx="3594481" cy="6097"/>
          </a:xfrm>
          <a:custGeom>
            <a:avLst/>
            <a:gdLst/>
            <a:ahLst/>
            <a:cxnLst/>
            <a:rect l="l" t="t" r="r" b="b"/>
            <a:pathLst>
              <a:path w="3594481" h="6097">
                <a:moveTo>
                  <a:pt x="0" y="6097"/>
                </a:moveTo>
                <a:lnTo>
                  <a:pt x="3594481" y="6097"/>
                </a:lnTo>
                <a:lnTo>
                  <a:pt x="3594481" y="1"/>
                </a:lnTo>
                <a:lnTo>
                  <a:pt x="0" y="1"/>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7370064" y="2048510"/>
            <a:ext cx="6096" cy="6097"/>
          </a:xfrm>
          <a:custGeom>
            <a:avLst/>
            <a:gdLst/>
            <a:ahLst/>
            <a:cxnLst/>
            <a:rect l="l" t="t" r="r" b="b"/>
            <a:pathLst>
              <a:path w="6096" h="6097">
                <a:moveTo>
                  <a:pt x="0" y="6097"/>
                </a:moveTo>
                <a:lnTo>
                  <a:pt x="6096" y="6097"/>
                </a:lnTo>
                <a:lnTo>
                  <a:pt x="6096" y="1"/>
                </a:lnTo>
                <a:lnTo>
                  <a:pt x="0" y="1"/>
                </a:lnTo>
                <a:close/>
              </a:path>
            </a:pathLst>
          </a:custGeom>
          <a:solidFill>
            <a:srgbClr val="000000"/>
          </a:solidFill>
        </p:spPr>
        <p:txBody>
          <a:bodyPr wrap="square" lIns="0" tIns="0" rIns="0" bIns="0" rtlCol="0">
            <a:noAutofit/>
          </a:bodyPr>
          <a:lstStyle/>
          <a:p>
            <a:endParaRPr/>
          </a:p>
        </p:txBody>
      </p:sp>
      <p:sp>
        <p:nvSpPr>
          <p:cNvPr id="92" name="object 92"/>
          <p:cNvSpPr/>
          <p:nvPr/>
        </p:nvSpPr>
        <p:spPr>
          <a:xfrm>
            <a:off x="2177923" y="2557620"/>
            <a:ext cx="1591310" cy="6096"/>
          </a:xfrm>
          <a:custGeom>
            <a:avLst/>
            <a:gdLst/>
            <a:ahLst/>
            <a:cxnLst/>
            <a:rect l="l" t="t" r="r" b="b"/>
            <a:pathLst>
              <a:path w="1591310" h="6096">
                <a:moveTo>
                  <a:pt x="0" y="6096"/>
                </a:moveTo>
                <a:lnTo>
                  <a:pt x="1591310" y="6096"/>
                </a:lnTo>
                <a:lnTo>
                  <a:pt x="1591310" y="1"/>
                </a:lnTo>
                <a:lnTo>
                  <a:pt x="0" y="1"/>
                </a:lnTo>
                <a:close/>
              </a:path>
            </a:pathLst>
          </a:custGeom>
          <a:solidFill>
            <a:srgbClr val="000000"/>
          </a:solidFill>
        </p:spPr>
        <p:txBody>
          <a:bodyPr wrap="square" lIns="0" tIns="0" rIns="0" bIns="0" rtlCol="0">
            <a:noAutofit/>
          </a:bodyPr>
          <a:lstStyle/>
          <a:p>
            <a:endParaRPr/>
          </a:p>
        </p:txBody>
      </p:sp>
      <p:sp>
        <p:nvSpPr>
          <p:cNvPr id="95" name="object 95"/>
          <p:cNvSpPr/>
          <p:nvPr/>
        </p:nvSpPr>
        <p:spPr>
          <a:xfrm>
            <a:off x="3775456" y="2557620"/>
            <a:ext cx="3594481" cy="6096"/>
          </a:xfrm>
          <a:custGeom>
            <a:avLst/>
            <a:gdLst/>
            <a:ahLst/>
            <a:cxnLst/>
            <a:rect l="l" t="t" r="r" b="b"/>
            <a:pathLst>
              <a:path w="3594481" h="6096">
                <a:moveTo>
                  <a:pt x="0" y="6096"/>
                </a:moveTo>
                <a:lnTo>
                  <a:pt x="3594481" y="6096"/>
                </a:lnTo>
                <a:lnTo>
                  <a:pt x="3594481" y="1"/>
                </a:lnTo>
                <a:lnTo>
                  <a:pt x="0" y="1"/>
                </a:lnTo>
                <a:close/>
              </a:path>
            </a:pathLst>
          </a:custGeom>
          <a:solidFill>
            <a:srgbClr val="000000"/>
          </a:solidFill>
        </p:spPr>
        <p:txBody>
          <a:bodyPr wrap="square" lIns="0" tIns="0" rIns="0" bIns="0" rtlCol="0">
            <a:noAutofit/>
          </a:bodyPr>
          <a:lstStyle/>
          <a:p>
            <a:endParaRPr/>
          </a:p>
        </p:txBody>
      </p:sp>
      <p:sp>
        <p:nvSpPr>
          <p:cNvPr id="96" name="object 96"/>
          <p:cNvSpPr/>
          <p:nvPr/>
        </p:nvSpPr>
        <p:spPr>
          <a:xfrm>
            <a:off x="7370064" y="2054605"/>
            <a:ext cx="6096" cy="437389"/>
          </a:xfrm>
          <a:custGeom>
            <a:avLst/>
            <a:gdLst/>
            <a:ahLst/>
            <a:cxnLst/>
            <a:rect l="l" t="t" r="r" b="b"/>
            <a:pathLst>
              <a:path w="6096" h="437389">
                <a:moveTo>
                  <a:pt x="0" y="437389"/>
                </a:moveTo>
                <a:lnTo>
                  <a:pt x="6096" y="437389"/>
                </a:lnTo>
                <a:lnTo>
                  <a:pt x="6096" y="1"/>
                </a:lnTo>
                <a:lnTo>
                  <a:pt x="0" y="1"/>
                </a:lnTo>
                <a:close/>
              </a:path>
            </a:pathLst>
          </a:custGeom>
          <a:solidFill>
            <a:srgbClr val="000000"/>
          </a:solidFill>
        </p:spPr>
        <p:txBody>
          <a:bodyPr wrap="square" lIns="0" tIns="0" rIns="0" bIns="0" rtlCol="0">
            <a:noAutofit/>
          </a:bodyPr>
          <a:lstStyle/>
          <a:p>
            <a:endParaRPr/>
          </a:p>
        </p:txBody>
      </p:sp>
      <p:sp>
        <p:nvSpPr>
          <p:cNvPr id="97" name="object 97"/>
          <p:cNvSpPr/>
          <p:nvPr/>
        </p:nvSpPr>
        <p:spPr>
          <a:xfrm>
            <a:off x="7370064" y="2491994"/>
            <a:ext cx="6096" cy="6096"/>
          </a:xfrm>
          <a:custGeom>
            <a:avLst/>
            <a:gdLst/>
            <a:ahLst/>
            <a:cxnLst/>
            <a:rect l="l" t="t" r="r" b="b"/>
            <a:pathLst>
              <a:path w="6096" h="6096">
                <a:moveTo>
                  <a:pt x="0" y="6096"/>
                </a:moveTo>
                <a:lnTo>
                  <a:pt x="6096" y="6096"/>
                </a:lnTo>
                <a:lnTo>
                  <a:pt x="6096" y="1"/>
                </a:lnTo>
                <a:lnTo>
                  <a:pt x="0" y="1"/>
                </a:lnTo>
                <a:close/>
              </a:path>
            </a:pathLst>
          </a:custGeom>
          <a:solidFill>
            <a:srgbClr val="000000"/>
          </a:solidFill>
        </p:spPr>
        <p:txBody>
          <a:bodyPr wrap="square" lIns="0" tIns="0" rIns="0" bIns="0" rtlCol="0">
            <a:noAutofit/>
          </a:bodyPr>
          <a:lstStyle/>
          <a:p>
            <a:endParaRPr/>
          </a:p>
        </p:txBody>
      </p:sp>
      <p:sp>
        <p:nvSpPr>
          <p:cNvPr id="98" name="object 98"/>
          <p:cNvSpPr/>
          <p:nvPr/>
        </p:nvSpPr>
        <p:spPr>
          <a:xfrm>
            <a:off x="7370064" y="2491994"/>
            <a:ext cx="6096" cy="6096"/>
          </a:xfrm>
          <a:custGeom>
            <a:avLst/>
            <a:gdLst/>
            <a:ahLst/>
            <a:cxnLst/>
            <a:rect l="l" t="t" r="r" b="b"/>
            <a:pathLst>
              <a:path w="6096" h="6096">
                <a:moveTo>
                  <a:pt x="0" y="6096"/>
                </a:moveTo>
                <a:lnTo>
                  <a:pt x="6096" y="6096"/>
                </a:lnTo>
                <a:lnTo>
                  <a:pt x="6096" y="1"/>
                </a:lnTo>
                <a:lnTo>
                  <a:pt x="0" y="1"/>
                </a:lnTo>
                <a:close/>
              </a:path>
            </a:pathLst>
          </a:custGeom>
          <a:solidFill>
            <a:srgbClr val="000000"/>
          </a:solidFill>
        </p:spPr>
        <p:txBody>
          <a:bodyPr wrap="square" lIns="0" tIns="0" rIns="0" bIns="0" rtlCol="0">
            <a:noAutofit/>
          </a:bodyPr>
          <a:lstStyle/>
          <a:p>
            <a:endParaRPr/>
          </a:p>
        </p:txBody>
      </p:sp>
      <p:sp>
        <p:nvSpPr>
          <p:cNvPr id="27" name="text 1"/>
          <p:cNvSpPr txBox="1"/>
          <p:nvPr/>
        </p:nvSpPr>
        <p:spPr>
          <a:xfrm>
            <a:off x="3819718" y="1721507"/>
            <a:ext cx="3574733" cy="559640"/>
          </a:xfrm>
          <a:prstGeom prst="rect">
            <a:avLst/>
          </a:prstGeom>
        </p:spPr>
        <p:txBody>
          <a:bodyPr vert="horz" wrap="square" lIns="0" tIns="0" rIns="0" bIns="0" rtlCol="0">
            <a:spAutoFit/>
          </a:bodyPr>
          <a:lstStyle/>
          <a:p>
            <a:pPr marL="0">
              <a:lnSpc>
                <a:spcPct val="100000"/>
              </a:lnSpc>
            </a:pPr>
            <a:r>
              <a:rPr lang="en-US" sz="909" spc="10" dirty="0">
                <a:latin typeface="Arial"/>
                <a:cs typeface="Arial"/>
              </a:rPr>
              <a:t>Achieved a 40% reduction in security incidents, enhancing monitoring protocols and response strategies, and led to a 30% increase in operational efficiency through cross-functional collaboration and effective stakeholder management.</a:t>
            </a:r>
            <a:endParaRPr sz="909" spc="10" dirty="0">
              <a:latin typeface="Arial"/>
              <a:cs typeface="Arial"/>
            </a:endParaRPr>
          </a:p>
        </p:txBody>
      </p:sp>
      <p:sp>
        <p:nvSpPr>
          <p:cNvPr id="29" name="text 1"/>
          <p:cNvSpPr txBox="1"/>
          <p:nvPr/>
        </p:nvSpPr>
        <p:spPr>
          <a:xfrm>
            <a:off x="2215241" y="2291873"/>
            <a:ext cx="1544975" cy="139910"/>
          </a:xfrm>
          <a:prstGeom prst="rect">
            <a:avLst/>
          </a:prstGeom>
        </p:spPr>
        <p:txBody>
          <a:bodyPr vert="horz" wrap="none" lIns="0" tIns="0" rIns="0" bIns="0" rtlCol="0">
            <a:spAutoFit/>
          </a:bodyPr>
          <a:lstStyle/>
          <a:p>
            <a:pPr marL="0">
              <a:lnSpc>
                <a:spcPct val="100000"/>
              </a:lnSpc>
            </a:pPr>
            <a:r>
              <a:rPr lang="en-US" sz="909" b="1" spc="10" dirty="0">
                <a:latin typeface="Arial"/>
                <a:cs typeface="Arial"/>
              </a:rPr>
              <a:t>Skills &amp; Technologies Used</a:t>
            </a:r>
            <a:endParaRPr sz="900" dirty="0">
              <a:latin typeface="Arial"/>
              <a:cs typeface="Arial"/>
            </a:endParaRPr>
          </a:p>
        </p:txBody>
      </p:sp>
      <p:sp>
        <p:nvSpPr>
          <p:cNvPr id="31" name="text 1"/>
          <p:cNvSpPr txBox="1"/>
          <p:nvPr/>
        </p:nvSpPr>
        <p:spPr>
          <a:xfrm>
            <a:off x="3811109" y="2303689"/>
            <a:ext cx="3601536" cy="139910"/>
          </a:xfrm>
          <a:prstGeom prst="rect">
            <a:avLst/>
          </a:prstGeom>
        </p:spPr>
        <p:txBody>
          <a:bodyPr vert="horz" wrap="square" lIns="0" tIns="0" rIns="0" bIns="0" rtlCol="0">
            <a:spAutoFit/>
          </a:bodyPr>
          <a:lstStyle/>
          <a:p>
            <a:pPr marL="0">
              <a:lnSpc>
                <a:spcPct val="100000"/>
              </a:lnSpc>
            </a:pPr>
            <a:r>
              <a:rPr lang="en-US" sz="909" spc="10" dirty="0">
                <a:latin typeface="Arial"/>
                <a:cs typeface="Arial"/>
              </a:rPr>
              <a:t>Cybersecurity, risk management, and project management software.</a:t>
            </a:r>
            <a:endParaRPr sz="900" dirty="0">
              <a:latin typeface="Arial"/>
              <a:cs typeface="Arial"/>
            </a:endParaRPr>
          </a:p>
        </p:txBody>
      </p:sp>
      <p:sp>
        <p:nvSpPr>
          <p:cNvPr id="407" name="text 1">
            <a:extLst>
              <a:ext uri="{FF2B5EF4-FFF2-40B4-BE49-F238E27FC236}">
                <a16:creationId xmlns:a16="http://schemas.microsoft.com/office/drawing/2014/main" id="{4C7D0E6F-C622-18F2-F8B5-F345C6B00328}"/>
              </a:ext>
            </a:extLst>
          </p:cNvPr>
          <p:cNvSpPr txBox="1"/>
          <p:nvPr/>
        </p:nvSpPr>
        <p:spPr>
          <a:xfrm>
            <a:off x="2994981" y="9422466"/>
            <a:ext cx="1590372" cy="201594"/>
          </a:xfrm>
          <a:prstGeom prst="rect">
            <a:avLst/>
          </a:prstGeom>
        </p:spPr>
        <p:txBody>
          <a:bodyPr vert="horz" wrap="none" lIns="0" tIns="0" rIns="0" bIns="0" rtlCol="0">
            <a:spAutoFit/>
          </a:bodyPr>
          <a:lstStyle/>
          <a:p>
            <a:pPr marL="0">
              <a:lnSpc>
                <a:spcPct val="100000"/>
              </a:lnSpc>
            </a:pPr>
            <a:r>
              <a:rPr lang="en-US" sz="1310" b="1" spc="10" dirty="0">
                <a:latin typeface="Arial"/>
                <a:cs typeface="Arial"/>
              </a:rPr>
              <a:t>www.armyspm.com</a:t>
            </a:r>
            <a:endParaRPr sz="1300" dirty="0">
              <a:latin typeface="Arial"/>
              <a:cs typeface="Arial"/>
            </a:endParaRPr>
          </a:p>
        </p:txBody>
      </p:sp>
      <p:pic>
        <p:nvPicPr>
          <p:cNvPr id="1026" name="Picture 2" descr="Image result for bae systems logo">
            <a:extLst>
              <a:ext uri="{FF2B5EF4-FFF2-40B4-BE49-F238E27FC236}">
                <a16:creationId xmlns:a16="http://schemas.microsoft.com/office/drawing/2014/main" id="{B0003B34-44D2-EDEB-1BFD-0D526D9FC13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3791" y="1522197"/>
            <a:ext cx="1359848" cy="809434"/>
          </a:xfrm>
          <a:prstGeom prst="rect">
            <a:avLst/>
          </a:prstGeom>
          <a:noFill/>
          <a:extLst>
            <a:ext uri="{909E8E84-426E-40DD-AFC4-6F175D3DCCD1}">
              <a14:hiddenFill xmlns:a14="http://schemas.microsoft.com/office/drawing/2010/main">
                <a:solidFill>
                  <a:srgbClr val="FFFFFF"/>
                </a:solidFill>
              </a14:hiddenFill>
            </a:ext>
          </a:extLst>
        </p:spPr>
      </p:pic>
      <p:sp>
        <p:nvSpPr>
          <p:cNvPr id="11" name="text 1">
            <a:extLst>
              <a:ext uri="{FF2B5EF4-FFF2-40B4-BE49-F238E27FC236}">
                <a16:creationId xmlns:a16="http://schemas.microsoft.com/office/drawing/2014/main" id="{2E323ACD-FB91-729B-EC86-C32B8142D778}"/>
              </a:ext>
            </a:extLst>
          </p:cNvPr>
          <p:cNvSpPr txBox="1"/>
          <p:nvPr/>
        </p:nvSpPr>
        <p:spPr>
          <a:xfrm>
            <a:off x="1094936" y="5821133"/>
            <a:ext cx="906402" cy="139910"/>
          </a:xfrm>
          <a:prstGeom prst="rect">
            <a:avLst/>
          </a:prstGeom>
        </p:spPr>
        <p:txBody>
          <a:bodyPr vert="horz" wrap="none" lIns="0" tIns="0" rIns="0" bIns="0" rtlCol="0">
            <a:spAutoFit/>
          </a:bodyPr>
          <a:lstStyle/>
          <a:p>
            <a:pPr marL="0">
              <a:lnSpc>
                <a:spcPct val="100000"/>
              </a:lnSpc>
            </a:pPr>
            <a:r>
              <a:rPr lang="en-US" sz="909" spc="10" dirty="0">
                <a:latin typeface="Arial"/>
                <a:cs typeface="Arial"/>
              </a:rPr>
              <a:t>2nd ABCT 1</a:t>
            </a:r>
            <a:r>
              <a:rPr lang="en-US" sz="909" spc="10" baseline="30000" dirty="0">
                <a:latin typeface="Arial"/>
                <a:cs typeface="Arial"/>
              </a:rPr>
              <a:t>st</a:t>
            </a:r>
            <a:r>
              <a:rPr lang="en-US" sz="909" spc="10" dirty="0">
                <a:latin typeface="Arial"/>
                <a:cs typeface="Arial"/>
              </a:rPr>
              <a:t> AD</a:t>
            </a:r>
            <a:endParaRPr sz="900" dirty="0">
              <a:latin typeface="Arial"/>
              <a:cs typeface="Arial"/>
            </a:endParaRPr>
          </a:p>
        </p:txBody>
      </p:sp>
      <p:sp>
        <p:nvSpPr>
          <p:cNvPr id="359" name="text 1">
            <a:extLst>
              <a:ext uri="{FF2B5EF4-FFF2-40B4-BE49-F238E27FC236}">
                <a16:creationId xmlns:a16="http://schemas.microsoft.com/office/drawing/2014/main" id="{470B6995-F3C7-2605-3F8A-4771BCB0EA66}"/>
              </a:ext>
            </a:extLst>
          </p:cNvPr>
          <p:cNvSpPr txBox="1"/>
          <p:nvPr/>
        </p:nvSpPr>
        <p:spPr>
          <a:xfrm>
            <a:off x="1143743" y="7349541"/>
            <a:ext cx="906402" cy="279820"/>
          </a:xfrm>
          <a:prstGeom prst="rect">
            <a:avLst/>
          </a:prstGeom>
        </p:spPr>
        <p:txBody>
          <a:bodyPr vert="horz" wrap="none" lIns="0" tIns="0" rIns="0" bIns="0" rtlCol="0">
            <a:spAutoFit/>
          </a:bodyPr>
          <a:lstStyle/>
          <a:p>
            <a:pPr marL="0" algn="ctr">
              <a:lnSpc>
                <a:spcPct val="100000"/>
              </a:lnSpc>
            </a:pPr>
            <a:r>
              <a:rPr lang="en-US" sz="909" spc="10" dirty="0">
                <a:latin typeface="Arial"/>
                <a:cs typeface="Arial"/>
              </a:rPr>
              <a:t>4-27 FA BN</a:t>
            </a:r>
          </a:p>
          <a:p>
            <a:pPr marL="0">
              <a:lnSpc>
                <a:spcPct val="100000"/>
              </a:lnSpc>
            </a:pPr>
            <a:r>
              <a:rPr lang="en-US" sz="909" spc="10" dirty="0">
                <a:latin typeface="Arial"/>
                <a:cs typeface="Arial"/>
              </a:rPr>
              <a:t>2nd ABCT 1</a:t>
            </a:r>
            <a:r>
              <a:rPr lang="en-US" sz="909" spc="10" baseline="30000" dirty="0">
                <a:latin typeface="Arial"/>
                <a:cs typeface="Arial"/>
              </a:rPr>
              <a:t>st</a:t>
            </a:r>
            <a:r>
              <a:rPr lang="en-US" sz="909" spc="10" dirty="0">
                <a:latin typeface="Arial"/>
                <a:cs typeface="Arial"/>
              </a:rPr>
              <a:t> AD</a:t>
            </a:r>
            <a:endParaRPr sz="900" dirty="0">
              <a:latin typeface="Arial"/>
              <a:cs typeface="Arial"/>
            </a:endParaRPr>
          </a:p>
        </p:txBody>
      </p:sp>
      <p:sp>
        <p:nvSpPr>
          <p:cNvPr id="430" name="text 1">
            <a:extLst>
              <a:ext uri="{FF2B5EF4-FFF2-40B4-BE49-F238E27FC236}">
                <a16:creationId xmlns:a16="http://schemas.microsoft.com/office/drawing/2014/main" id="{A6364D10-C8B8-4013-390F-7B31CCCD590D}"/>
              </a:ext>
            </a:extLst>
          </p:cNvPr>
          <p:cNvSpPr txBox="1"/>
          <p:nvPr/>
        </p:nvSpPr>
        <p:spPr>
          <a:xfrm>
            <a:off x="897338" y="9038667"/>
            <a:ext cx="1191993" cy="279820"/>
          </a:xfrm>
          <a:prstGeom prst="rect">
            <a:avLst/>
          </a:prstGeom>
        </p:spPr>
        <p:txBody>
          <a:bodyPr vert="horz" wrap="none" lIns="0" tIns="0" rIns="0" bIns="0" rtlCol="0">
            <a:spAutoFit/>
          </a:bodyPr>
          <a:lstStyle/>
          <a:p>
            <a:pPr marL="0" algn="ctr">
              <a:lnSpc>
                <a:spcPct val="100000"/>
              </a:lnSpc>
            </a:pPr>
            <a:r>
              <a:rPr lang="en-US" sz="909" spc="10" dirty="0">
                <a:latin typeface="Arial"/>
                <a:cs typeface="Arial"/>
              </a:rPr>
              <a:t>1</a:t>
            </a:r>
            <a:r>
              <a:rPr lang="en-US" sz="909" spc="10" baseline="30000" dirty="0">
                <a:latin typeface="Arial"/>
                <a:cs typeface="Arial"/>
              </a:rPr>
              <a:t>st</a:t>
            </a:r>
            <a:r>
              <a:rPr lang="en-US" sz="909" spc="10" dirty="0">
                <a:latin typeface="Arial"/>
                <a:cs typeface="Arial"/>
              </a:rPr>
              <a:t> Brigade</a:t>
            </a:r>
          </a:p>
          <a:p>
            <a:pPr marL="0">
              <a:lnSpc>
                <a:spcPct val="100000"/>
              </a:lnSpc>
            </a:pPr>
            <a:r>
              <a:rPr lang="en-US" sz="909" spc="10" dirty="0">
                <a:latin typeface="Arial"/>
                <a:cs typeface="Arial"/>
              </a:rPr>
              <a:t>82nd Airborne Division</a:t>
            </a:r>
            <a:endParaRPr sz="900" dirty="0">
              <a:latin typeface="Arial"/>
              <a:cs typeface="Arial"/>
            </a:endParaRPr>
          </a:p>
        </p:txBody>
      </p:sp>
      <p:sp>
        <p:nvSpPr>
          <p:cNvPr id="431" name="text 1">
            <a:extLst>
              <a:ext uri="{FF2B5EF4-FFF2-40B4-BE49-F238E27FC236}">
                <a16:creationId xmlns:a16="http://schemas.microsoft.com/office/drawing/2014/main" id="{BBCFD9E5-E64C-D493-1BB7-FBEF737A592D}"/>
              </a:ext>
            </a:extLst>
          </p:cNvPr>
          <p:cNvSpPr txBox="1"/>
          <p:nvPr/>
        </p:nvSpPr>
        <p:spPr>
          <a:xfrm>
            <a:off x="1011394" y="4003163"/>
            <a:ext cx="1002839" cy="279820"/>
          </a:xfrm>
          <a:prstGeom prst="rect">
            <a:avLst/>
          </a:prstGeom>
        </p:spPr>
        <p:txBody>
          <a:bodyPr vert="horz" wrap="none" lIns="0" tIns="0" rIns="0" bIns="0" rtlCol="0">
            <a:spAutoFit/>
          </a:bodyPr>
          <a:lstStyle/>
          <a:p>
            <a:pPr marL="0">
              <a:lnSpc>
                <a:spcPct val="100000"/>
              </a:lnSpc>
            </a:pPr>
            <a:r>
              <a:rPr lang="en-US" sz="909" spc="10" dirty="0">
                <a:latin typeface="Arial"/>
                <a:cs typeface="Arial"/>
              </a:rPr>
              <a:t>Army Sustainment </a:t>
            </a:r>
          </a:p>
          <a:p>
            <a:pPr marL="0" algn="ctr">
              <a:lnSpc>
                <a:spcPct val="100000"/>
              </a:lnSpc>
            </a:pPr>
            <a:r>
              <a:rPr lang="en-US" sz="909" spc="10" dirty="0">
                <a:latin typeface="Arial"/>
                <a:cs typeface="Arial"/>
              </a:rPr>
              <a:t>University</a:t>
            </a:r>
            <a:endParaRPr sz="900" dirty="0">
              <a:latin typeface="Arial"/>
              <a:cs typeface="Arial"/>
            </a:endParaRPr>
          </a:p>
        </p:txBody>
      </p:sp>
      <p:sp>
        <p:nvSpPr>
          <p:cNvPr id="434" name="TextBox 433">
            <a:extLst>
              <a:ext uri="{FF2B5EF4-FFF2-40B4-BE49-F238E27FC236}">
                <a16:creationId xmlns:a16="http://schemas.microsoft.com/office/drawing/2014/main" id="{EFD615CE-0916-5352-8880-D90987678E99}"/>
              </a:ext>
            </a:extLst>
          </p:cNvPr>
          <p:cNvSpPr txBox="1"/>
          <p:nvPr/>
        </p:nvSpPr>
        <p:spPr>
          <a:xfrm>
            <a:off x="2112517" y="997745"/>
            <a:ext cx="2347595" cy="247760"/>
          </a:xfrm>
          <a:prstGeom prst="rect">
            <a:avLst/>
          </a:prstGeom>
          <a:noFill/>
        </p:spPr>
        <p:txBody>
          <a:bodyPr wrap="square">
            <a:spAutoFit/>
          </a:bodyPr>
          <a:lstStyle/>
          <a:p>
            <a:r>
              <a:rPr lang="en-US" sz="1010" b="1" dirty="0">
                <a:solidFill>
                  <a:schemeClr val="bg1"/>
                </a:solidFill>
              </a:rPr>
              <a:t>BAE Systems | IT Project Manager II</a:t>
            </a:r>
          </a:p>
        </p:txBody>
      </p:sp>
      <p:cxnSp>
        <p:nvCxnSpPr>
          <p:cNvPr id="437" name="Straight Connector 436">
            <a:extLst>
              <a:ext uri="{FF2B5EF4-FFF2-40B4-BE49-F238E27FC236}">
                <a16:creationId xmlns:a16="http://schemas.microsoft.com/office/drawing/2014/main" id="{21794BC2-FFC4-BA31-F91E-B0ED55007EE4}"/>
              </a:ext>
            </a:extLst>
          </p:cNvPr>
          <p:cNvCxnSpPr/>
          <p:nvPr/>
        </p:nvCxnSpPr>
        <p:spPr>
          <a:xfrm>
            <a:off x="2168906" y="1378990"/>
            <a:ext cx="0" cy="11847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9" name="Straight Connector 438">
            <a:extLst>
              <a:ext uri="{FF2B5EF4-FFF2-40B4-BE49-F238E27FC236}">
                <a16:creationId xmlns:a16="http://schemas.microsoft.com/office/drawing/2014/main" id="{42714383-7560-40AF-E508-D4D30EF1410D}"/>
              </a:ext>
            </a:extLst>
          </p:cNvPr>
          <p:cNvCxnSpPr/>
          <p:nvPr/>
        </p:nvCxnSpPr>
        <p:spPr>
          <a:xfrm>
            <a:off x="3775456" y="1369197"/>
            <a:ext cx="11304" cy="1194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0" name="object 36">
            <a:extLst>
              <a:ext uri="{FF2B5EF4-FFF2-40B4-BE49-F238E27FC236}">
                <a16:creationId xmlns:a16="http://schemas.microsoft.com/office/drawing/2014/main" id="{96F3B120-9159-100D-F829-3117879AEDBF}"/>
              </a:ext>
            </a:extLst>
          </p:cNvPr>
          <p:cNvSpPr/>
          <p:nvPr/>
        </p:nvSpPr>
        <p:spPr>
          <a:xfrm>
            <a:off x="2185609" y="2696056"/>
            <a:ext cx="5218682" cy="219500"/>
          </a:xfrm>
          <a:custGeom>
            <a:avLst/>
            <a:gdLst/>
            <a:ahLst/>
            <a:cxnLst/>
            <a:rect l="l" t="t" r="r" b="b"/>
            <a:pathLst>
              <a:path w="5060569" h="146305">
                <a:moveTo>
                  <a:pt x="0" y="146305"/>
                </a:moveTo>
                <a:lnTo>
                  <a:pt x="5060569" y="146305"/>
                </a:lnTo>
                <a:lnTo>
                  <a:pt x="5060569" y="0"/>
                </a:lnTo>
                <a:lnTo>
                  <a:pt x="0" y="0"/>
                </a:lnTo>
                <a:close/>
              </a:path>
            </a:pathLst>
          </a:custGeom>
          <a:solidFill>
            <a:srgbClr val="000000"/>
          </a:solidFill>
        </p:spPr>
        <p:txBody>
          <a:bodyPr wrap="square" lIns="0" tIns="0" rIns="0" bIns="0" rtlCol="0">
            <a:noAutofit/>
          </a:bodyPr>
          <a:lstStyle/>
          <a:p>
            <a:endParaRPr lang="en-US" sz="1050" b="1" dirty="0">
              <a:solidFill>
                <a:schemeClr val="bg1"/>
              </a:solidFill>
            </a:endParaRPr>
          </a:p>
        </p:txBody>
      </p:sp>
      <p:sp>
        <p:nvSpPr>
          <p:cNvPr id="444" name="text 1">
            <a:extLst>
              <a:ext uri="{FF2B5EF4-FFF2-40B4-BE49-F238E27FC236}">
                <a16:creationId xmlns:a16="http://schemas.microsoft.com/office/drawing/2014/main" id="{85323ABD-2736-1B88-1DF7-0D22AE3E9136}"/>
              </a:ext>
            </a:extLst>
          </p:cNvPr>
          <p:cNvSpPr txBox="1"/>
          <p:nvPr/>
        </p:nvSpPr>
        <p:spPr>
          <a:xfrm>
            <a:off x="3331640" y="2918284"/>
            <a:ext cx="408445" cy="155299"/>
          </a:xfrm>
          <a:prstGeom prst="rect">
            <a:avLst/>
          </a:prstGeom>
        </p:spPr>
        <p:txBody>
          <a:bodyPr vert="horz" wrap="none" lIns="0" tIns="0" rIns="0" bIns="0" rtlCol="0">
            <a:spAutoFit/>
          </a:bodyPr>
          <a:lstStyle/>
          <a:p>
            <a:pPr marL="0">
              <a:lnSpc>
                <a:spcPct val="100000"/>
              </a:lnSpc>
            </a:pPr>
            <a:r>
              <a:rPr lang="en-US" sz="1009" b="1" spc="10" dirty="0">
                <a:latin typeface="Arial"/>
                <a:cs typeface="Arial"/>
              </a:rPr>
              <a:t>Period</a:t>
            </a:r>
            <a:endParaRPr sz="1000" dirty="0">
              <a:latin typeface="Arial"/>
              <a:cs typeface="Arial"/>
            </a:endParaRPr>
          </a:p>
        </p:txBody>
      </p:sp>
      <p:sp>
        <p:nvSpPr>
          <p:cNvPr id="445" name="text 1">
            <a:extLst>
              <a:ext uri="{FF2B5EF4-FFF2-40B4-BE49-F238E27FC236}">
                <a16:creationId xmlns:a16="http://schemas.microsoft.com/office/drawing/2014/main" id="{29C85B42-4BE4-D2F8-1A4A-BF68115CD6A7}"/>
              </a:ext>
            </a:extLst>
          </p:cNvPr>
          <p:cNvSpPr txBox="1"/>
          <p:nvPr/>
        </p:nvSpPr>
        <p:spPr>
          <a:xfrm>
            <a:off x="3848227" y="2901528"/>
            <a:ext cx="1187505" cy="139910"/>
          </a:xfrm>
          <a:prstGeom prst="rect">
            <a:avLst/>
          </a:prstGeom>
        </p:spPr>
        <p:txBody>
          <a:bodyPr vert="horz" wrap="none" lIns="0" tIns="0" rIns="0" bIns="0" rtlCol="0">
            <a:spAutoFit/>
          </a:bodyPr>
          <a:lstStyle/>
          <a:p>
            <a:pPr marL="0">
              <a:lnSpc>
                <a:spcPct val="100000"/>
              </a:lnSpc>
            </a:pPr>
            <a:r>
              <a:rPr lang="en-US" sz="909" spc="10" dirty="0">
                <a:latin typeface="Arial"/>
                <a:cs typeface="Arial"/>
              </a:rPr>
              <a:t>July 2019 – June 2021</a:t>
            </a:r>
            <a:endParaRPr sz="909" spc="10" dirty="0">
              <a:latin typeface="Arial"/>
              <a:cs typeface="Arial"/>
            </a:endParaRPr>
          </a:p>
        </p:txBody>
      </p:sp>
      <p:sp>
        <p:nvSpPr>
          <p:cNvPr id="446" name="object 44">
            <a:extLst>
              <a:ext uri="{FF2B5EF4-FFF2-40B4-BE49-F238E27FC236}">
                <a16:creationId xmlns:a16="http://schemas.microsoft.com/office/drawing/2014/main" id="{CB9BEBA2-AAE3-5892-FDD9-078D1F145D3B}"/>
              </a:ext>
            </a:extLst>
          </p:cNvPr>
          <p:cNvSpPr/>
          <p:nvPr/>
        </p:nvSpPr>
        <p:spPr>
          <a:xfrm>
            <a:off x="2193230" y="2899211"/>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447" name="object 45">
            <a:extLst>
              <a:ext uri="{FF2B5EF4-FFF2-40B4-BE49-F238E27FC236}">
                <a16:creationId xmlns:a16="http://schemas.microsoft.com/office/drawing/2014/main" id="{591BD16F-6BD3-D9CF-3366-A26CC9CCD882}"/>
              </a:ext>
            </a:extLst>
          </p:cNvPr>
          <p:cNvSpPr/>
          <p:nvPr/>
        </p:nvSpPr>
        <p:spPr>
          <a:xfrm>
            <a:off x="2199326" y="2899211"/>
            <a:ext cx="1591310" cy="6096"/>
          </a:xfrm>
          <a:custGeom>
            <a:avLst/>
            <a:gdLst/>
            <a:ahLst/>
            <a:cxnLst/>
            <a:rect l="l" t="t" r="r" b="b"/>
            <a:pathLst>
              <a:path w="1591310" h="6096">
                <a:moveTo>
                  <a:pt x="0" y="6096"/>
                </a:moveTo>
                <a:lnTo>
                  <a:pt x="1591310" y="6096"/>
                </a:lnTo>
                <a:lnTo>
                  <a:pt x="1591310" y="0"/>
                </a:lnTo>
                <a:lnTo>
                  <a:pt x="0" y="0"/>
                </a:lnTo>
                <a:close/>
              </a:path>
            </a:pathLst>
          </a:custGeom>
          <a:solidFill>
            <a:srgbClr val="000000"/>
          </a:solidFill>
        </p:spPr>
        <p:txBody>
          <a:bodyPr wrap="square" lIns="0" tIns="0" rIns="0" bIns="0" rtlCol="0">
            <a:noAutofit/>
          </a:bodyPr>
          <a:lstStyle/>
          <a:p>
            <a:endParaRPr/>
          </a:p>
        </p:txBody>
      </p:sp>
      <p:sp>
        <p:nvSpPr>
          <p:cNvPr id="1088" name="object 46">
            <a:extLst>
              <a:ext uri="{FF2B5EF4-FFF2-40B4-BE49-F238E27FC236}">
                <a16:creationId xmlns:a16="http://schemas.microsoft.com/office/drawing/2014/main" id="{16A497B9-9527-51D2-BFA0-F9ECB50E0017}"/>
              </a:ext>
            </a:extLst>
          </p:cNvPr>
          <p:cNvSpPr/>
          <p:nvPr/>
        </p:nvSpPr>
        <p:spPr>
          <a:xfrm>
            <a:off x="3790763" y="2899211"/>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089" name="object 47">
            <a:extLst>
              <a:ext uri="{FF2B5EF4-FFF2-40B4-BE49-F238E27FC236}">
                <a16:creationId xmlns:a16="http://schemas.microsoft.com/office/drawing/2014/main" id="{1DC98169-E2FE-DD80-6A80-6C5D94F5B52C}"/>
              </a:ext>
            </a:extLst>
          </p:cNvPr>
          <p:cNvSpPr/>
          <p:nvPr/>
        </p:nvSpPr>
        <p:spPr>
          <a:xfrm>
            <a:off x="3796859" y="2899211"/>
            <a:ext cx="3594481" cy="6096"/>
          </a:xfrm>
          <a:custGeom>
            <a:avLst/>
            <a:gdLst/>
            <a:ahLst/>
            <a:cxnLst/>
            <a:rect l="l" t="t" r="r" b="b"/>
            <a:pathLst>
              <a:path w="3594481" h="6096">
                <a:moveTo>
                  <a:pt x="0" y="6096"/>
                </a:moveTo>
                <a:lnTo>
                  <a:pt x="3594481" y="6096"/>
                </a:lnTo>
                <a:lnTo>
                  <a:pt x="3594481" y="0"/>
                </a:lnTo>
                <a:lnTo>
                  <a:pt x="0" y="0"/>
                </a:lnTo>
                <a:close/>
              </a:path>
            </a:pathLst>
          </a:custGeom>
          <a:solidFill>
            <a:srgbClr val="000000"/>
          </a:solidFill>
        </p:spPr>
        <p:txBody>
          <a:bodyPr wrap="square" lIns="0" tIns="0" rIns="0" bIns="0" rtlCol="0">
            <a:noAutofit/>
          </a:bodyPr>
          <a:lstStyle/>
          <a:p>
            <a:endParaRPr/>
          </a:p>
        </p:txBody>
      </p:sp>
      <p:sp>
        <p:nvSpPr>
          <p:cNvPr id="1090" name="object 48">
            <a:extLst>
              <a:ext uri="{FF2B5EF4-FFF2-40B4-BE49-F238E27FC236}">
                <a16:creationId xmlns:a16="http://schemas.microsoft.com/office/drawing/2014/main" id="{0922BD53-C9B0-3318-AE4D-7B5D0B980D20}"/>
              </a:ext>
            </a:extLst>
          </p:cNvPr>
          <p:cNvSpPr/>
          <p:nvPr/>
        </p:nvSpPr>
        <p:spPr>
          <a:xfrm>
            <a:off x="7391340" y="2899211"/>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091" name="object 49">
            <a:extLst>
              <a:ext uri="{FF2B5EF4-FFF2-40B4-BE49-F238E27FC236}">
                <a16:creationId xmlns:a16="http://schemas.microsoft.com/office/drawing/2014/main" id="{C0CF5C3A-B509-2A23-47B1-7FF81C052329}"/>
              </a:ext>
            </a:extLst>
          </p:cNvPr>
          <p:cNvSpPr/>
          <p:nvPr/>
        </p:nvSpPr>
        <p:spPr>
          <a:xfrm>
            <a:off x="2193230" y="2905307"/>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1092" name="object 50">
            <a:extLst>
              <a:ext uri="{FF2B5EF4-FFF2-40B4-BE49-F238E27FC236}">
                <a16:creationId xmlns:a16="http://schemas.microsoft.com/office/drawing/2014/main" id="{FED486D5-2894-84B2-C3AA-4ADE50D26474}"/>
              </a:ext>
            </a:extLst>
          </p:cNvPr>
          <p:cNvSpPr/>
          <p:nvPr/>
        </p:nvSpPr>
        <p:spPr>
          <a:xfrm>
            <a:off x="3790763" y="2905307"/>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1093" name="object 51">
            <a:extLst>
              <a:ext uri="{FF2B5EF4-FFF2-40B4-BE49-F238E27FC236}">
                <a16:creationId xmlns:a16="http://schemas.microsoft.com/office/drawing/2014/main" id="{663ED1C0-C0A3-9A81-E939-90E41B078772}"/>
              </a:ext>
            </a:extLst>
          </p:cNvPr>
          <p:cNvSpPr/>
          <p:nvPr/>
        </p:nvSpPr>
        <p:spPr>
          <a:xfrm>
            <a:off x="7391340" y="2905307"/>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1094" name="text 1">
            <a:extLst>
              <a:ext uri="{FF2B5EF4-FFF2-40B4-BE49-F238E27FC236}">
                <a16:creationId xmlns:a16="http://schemas.microsoft.com/office/drawing/2014/main" id="{DE3B1658-5CAD-C152-1A1D-CE5879FD8579}"/>
              </a:ext>
            </a:extLst>
          </p:cNvPr>
          <p:cNvSpPr txBox="1"/>
          <p:nvPr/>
        </p:nvSpPr>
        <p:spPr>
          <a:xfrm>
            <a:off x="2463576" y="3086232"/>
            <a:ext cx="1330172" cy="155299"/>
          </a:xfrm>
          <a:prstGeom prst="rect">
            <a:avLst/>
          </a:prstGeom>
        </p:spPr>
        <p:txBody>
          <a:bodyPr vert="horz" wrap="none" lIns="0" tIns="0" rIns="0" bIns="0" rtlCol="0">
            <a:spAutoFit/>
          </a:bodyPr>
          <a:lstStyle/>
          <a:p>
            <a:pPr marL="0">
              <a:lnSpc>
                <a:spcPct val="100000"/>
              </a:lnSpc>
            </a:pPr>
            <a:r>
              <a:rPr lang="en-US" sz="1009" b="1" spc="10" dirty="0">
                <a:latin typeface="Arial"/>
                <a:cs typeface="Arial"/>
              </a:rPr>
              <a:t>Key Responsibilities</a:t>
            </a:r>
            <a:endParaRPr sz="1000" dirty="0">
              <a:latin typeface="Arial"/>
              <a:cs typeface="Arial"/>
            </a:endParaRPr>
          </a:p>
        </p:txBody>
      </p:sp>
      <p:sp>
        <p:nvSpPr>
          <p:cNvPr id="1095" name="object 52">
            <a:extLst>
              <a:ext uri="{FF2B5EF4-FFF2-40B4-BE49-F238E27FC236}">
                <a16:creationId xmlns:a16="http://schemas.microsoft.com/office/drawing/2014/main" id="{9DCAD7B5-968A-2CEE-17B3-AEE8379B1266}"/>
              </a:ext>
            </a:extLst>
          </p:cNvPr>
          <p:cNvSpPr/>
          <p:nvPr/>
        </p:nvSpPr>
        <p:spPr>
          <a:xfrm>
            <a:off x="2193230" y="3065327"/>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096" name="object 53">
            <a:extLst>
              <a:ext uri="{FF2B5EF4-FFF2-40B4-BE49-F238E27FC236}">
                <a16:creationId xmlns:a16="http://schemas.microsoft.com/office/drawing/2014/main" id="{9E490177-CF0A-3AB0-A357-75E55B43ADFF}"/>
              </a:ext>
            </a:extLst>
          </p:cNvPr>
          <p:cNvSpPr/>
          <p:nvPr/>
        </p:nvSpPr>
        <p:spPr>
          <a:xfrm>
            <a:off x="2199326" y="3065327"/>
            <a:ext cx="1591310" cy="6096"/>
          </a:xfrm>
          <a:custGeom>
            <a:avLst/>
            <a:gdLst/>
            <a:ahLst/>
            <a:cxnLst/>
            <a:rect l="l" t="t" r="r" b="b"/>
            <a:pathLst>
              <a:path w="1591310" h="6096">
                <a:moveTo>
                  <a:pt x="0" y="6096"/>
                </a:moveTo>
                <a:lnTo>
                  <a:pt x="1591310" y="6096"/>
                </a:lnTo>
                <a:lnTo>
                  <a:pt x="1591310" y="0"/>
                </a:lnTo>
                <a:lnTo>
                  <a:pt x="0" y="0"/>
                </a:lnTo>
                <a:close/>
              </a:path>
            </a:pathLst>
          </a:custGeom>
          <a:solidFill>
            <a:srgbClr val="000000"/>
          </a:solidFill>
        </p:spPr>
        <p:txBody>
          <a:bodyPr wrap="square" lIns="0" tIns="0" rIns="0" bIns="0" rtlCol="0">
            <a:noAutofit/>
          </a:bodyPr>
          <a:lstStyle/>
          <a:p>
            <a:endParaRPr/>
          </a:p>
        </p:txBody>
      </p:sp>
      <p:sp>
        <p:nvSpPr>
          <p:cNvPr id="1097" name="object 54">
            <a:extLst>
              <a:ext uri="{FF2B5EF4-FFF2-40B4-BE49-F238E27FC236}">
                <a16:creationId xmlns:a16="http://schemas.microsoft.com/office/drawing/2014/main" id="{EB652B64-85CD-A174-0DC6-424119B46C28}"/>
              </a:ext>
            </a:extLst>
          </p:cNvPr>
          <p:cNvSpPr/>
          <p:nvPr/>
        </p:nvSpPr>
        <p:spPr>
          <a:xfrm>
            <a:off x="3790763" y="3065327"/>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098" name="object 55">
            <a:extLst>
              <a:ext uri="{FF2B5EF4-FFF2-40B4-BE49-F238E27FC236}">
                <a16:creationId xmlns:a16="http://schemas.microsoft.com/office/drawing/2014/main" id="{4C989FFE-95B9-9F06-88D6-1D8B9AA4BF81}"/>
              </a:ext>
            </a:extLst>
          </p:cNvPr>
          <p:cNvSpPr/>
          <p:nvPr/>
        </p:nvSpPr>
        <p:spPr>
          <a:xfrm>
            <a:off x="3796859" y="3065327"/>
            <a:ext cx="3594481" cy="6096"/>
          </a:xfrm>
          <a:custGeom>
            <a:avLst/>
            <a:gdLst/>
            <a:ahLst/>
            <a:cxnLst/>
            <a:rect l="l" t="t" r="r" b="b"/>
            <a:pathLst>
              <a:path w="3594481" h="6096">
                <a:moveTo>
                  <a:pt x="0" y="6096"/>
                </a:moveTo>
                <a:lnTo>
                  <a:pt x="3594481" y="6096"/>
                </a:lnTo>
                <a:lnTo>
                  <a:pt x="3594481" y="0"/>
                </a:lnTo>
                <a:lnTo>
                  <a:pt x="0" y="0"/>
                </a:lnTo>
                <a:close/>
              </a:path>
            </a:pathLst>
          </a:custGeom>
          <a:solidFill>
            <a:srgbClr val="000000"/>
          </a:solidFill>
        </p:spPr>
        <p:txBody>
          <a:bodyPr wrap="square" lIns="0" tIns="0" rIns="0" bIns="0" rtlCol="0">
            <a:noAutofit/>
          </a:bodyPr>
          <a:lstStyle/>
          <a:p>
            <a:endParaRPr/>
          </a:p>
        </p:txBody>
      </p:sp>
      <p:sp>
        <p:nvSpPr>
          <p:cNvPr id="1099" name="object 56">
            <a:extLst>
              <a:ext uri="{FF2B5EF4-FFF2-40B4-BE49-F238E27FC236}">
                <a16:creationId xmlns:a16="http://schemas.microsoft.com/office/drawing/2014/main" id="{2CFB9ABD-6EA5-0DC1-80EA-11FAB3DCA319}"/>
              </a:ext>
            </a:extLst>
          </p:cNvPr>
          <p:cNvSpPr/>
          <p:nvPr/>
        </p:nvSpPr>
        <p:spPr>
          <a:xfrm>
            <a:off x="7391340" y="3065327"/>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00" name="object 59">
            <a:extLst>
              <a:ext uri="{FF2B5EF4-FFF2-40B4-BE49-F238E27FC236}">
                <a16:creationId xmlns:a16="http://schemas.microsoft.com/office/drawing/2014/main" id="{07AA3EC8-828C-279B-F05E-F41202AA3E2D}"/>
              </a:ext>
            </a:extLst>
          </p:cNvPr>
          <p:cNvSpPr/>
          <p:nvPr/>
        </p:nvSpPr>
        <p:spPr>
          <a:xfrm>
            <a:off x="7391340" y="3071423"/>
            <a:ext cx="6096" cy="161544"/>
          </a:xfrm>
          <a:custGeom>
            <a:avLst/>
            <a:gdLst/>
            <a:ahLst/>
            <a:cxnLst/>
            <a:rect l="l" t="t" r="r" b="b"/>
            <a:pathLst>
              <a:path w="6096" h="161544">
                <a:moveTo>
                  <a:pt x="0" y="161544"/>
                </a:moveTo>
                <a:lnTo>
                  <a:pt x="6096" y="161544"/>
                </a:lnTo>
                <a:lnTo>
                  <a:pt x="6096" y="0"/>
                </a:lnTo>
                <a:lnTo>
                  <a:pt x="0" y="0"/>
                </a:lnTo>
                <a:close/>
              </a:path>
            </a:pathLst>
          </a:custGeom>
          <a:solidFill>
            <a:srgbClr val="000000"/>
          </a:solidFill>
        </p:spPr>
        <p:txBody>
          <a:bodyPr wrap="square" lIns="0" tIns="0" rIns="0" bIns="0" rtlCol="0">
            <a:noAutofit/>
          </a:bodyPr>
          <a:lstStyle/>
          <a:p>
            <a:endParaRPr/>
          </a:p>
        </p:txBody>
      </p:sp>
      <p:sp>
        <p:nvSpPr>
          <p:cNvPr id="1101" name="object 64">
            <a:extLst>
              <a:ext uri="{FF2B5EF4-FFF2-40B4-BE49-F238E27FC236}">
                <a16:creationId xmlns:a16="http://schemas.microsoft.com/office/drawing/2014/main" id="{95EA4243-8F7B-8C3A-CD8E-B69735906D3E}"/>
              </a:ext>
            </a:extLst>
          </p:cNvPr>
          <p:cNvSpPr/>
          <p:nvPr/>
        </p:nvSpPr>
        <p:spPr>
          <a:xfrm>
            <a:off x="7391340" y="3232967"/>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02" name="object 67">
            <a:extLst>
              <a:ext uri="{FF2B5EF4-FFF2-40B4-BE49-F238E27FC236}">
                <a16:creationId xmlns:a16="http://schemas.microsoft.com/office/drawing/2014/main" id="{C6C77675-5A6C-AB47-98DA-C32095B56AAB}"/>
              </a:ext>
            </a:extLst>
          </p:cNvPr>
          <p:cNvSpPr/>
          <p:nvPr/>
        </p:nvSpPr>
        <p:spPr>
          <a:xfrm>
            <a:off x="7391340" y="3239064"/>
            <a:ext cx="6096" cy="161543"/>
          </a:xfrm>
          <a:custGeom>
            <a:avLst/>
            <a:gdLst/>
            <a:ahLst/>
            <a:cxnLst/>
            <a:rect l="l" t="t" r="r" b="b"/>
            <a:pathLst>
              <a:path w="6096" h="161543">
                <a:moveTo>
                  <a:pt x="0" y="161543"/>
                </a:moveTo>
                <a:lnTo>
                  <a:pt x="6096" y="161543"/>
                </a:lnTo>
                <a:lnTo>
                  <a:pt x="6096" y="0"/>
                </a:lnTo>
                <a:lnTo>
                  <a:pt x="0" y="0"/>
                </a:lnTo>
                <a:close/>
              </a:path>
            </a:pathLst>
          </a:custGeom>
          <a:solidFill>
            <a:srgbClr val="000000"/>
          </a:solidFill>
        </p:spPr>
        <p:txBody>
          <a:bodyPr wrap="square" lIns="0" tIns="0" rIns="0" bIns="0" rtlCol="0">
            <a:noAutofit/>
          </a:bodyPr>
          <a:lstStyle/>
          <a:p>
            <a:endParaRPr/>
          </a:p>
        </p:txBody>
      </p:sp>
      <p:sp>
        <p:nvSpPr>
          <p:cNvPr id="1103" name="object 72">
            <a:extLst>
              <a:ext uri="{FF2B5EF4-FFF2-40B4-BE49-F238E27FC236}">
                <a16:creationId xmlns:a16="http://schemas.microsoft.com/office/drawing/2014/main" id="{E9187768-2A45-7D39-4C71-C938A6651A79}"/>
              </a:ext>
            </a:extLst>
          </p:cNvPr>
          <p:cNvSpPr/>
          <p:nvPr/>
        </p:nvSpPr>
        <p:spPr>
          <a:xfrm>
            <a:off x="7391340" y="3400607"/>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04" name="object 75">
            <a:extLst>
              <a:ext uri="{FF2B5EF4-FFF2-40B4-BE49-F238E27FC236}">
                <a16:creationId xmlns:a16="http://schemas.microsoft.com/office/drawing/2014/main" id="{0F2C03FF-51BF-C461-4E40-69754E10A269}"/>
              </a:ext>
            </a:extLst>
          </p:cNvPr>
          <p:cNvSpPr/>
          <p:nvPr/>
        </p:nvSpPr>
        <p:spPr>
          <a:xfrm>
            <a:off x="7391340" y="3406703"/>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1105" name="text 1">
            <a:extLst>
              <a:ext uri="{FF2B5EF4-FFF2-40B4-BE49-F238E27FC236}">
                <a16:creationId xmlns:a16="http://schemas.microsoft.com/office/drawing/2014/main" id="{2E378B2D-986D-4D2A-A151-CDEEE25EC95D}"/>
              </a:ext>
            </a:extLst>
          </p:cNvPr>
          <p:cNvSpPr txBox="1"/>
          <p:nvPr/>
        </p:nvSpPr>
        <p:spPr>
          <a:xfrm>
            <a:off x="3861115" y="3078069"/>
            <a:ext cx="3601535" cy="279820"/>
          </a:xfrm>
          <a:prstGeom prst="rect">
            <a:avLst/>
          </a:prstGeom>
        </p:spPr>
        <p:txBody>
          <a:bodyPr vert="horz" wrap="square" lIns="0" tIns="0" rIns="0" bIns="0" rtlCol="0">
            <a:spAutoFit/>
          </a:bodyPr>
          <a:lstStyle/>
          <a:p>
            <a:pPr marL="0">
              <a:lnSpc>
                <a:spcPct val="100000"/>
              </a:lnSpc>
            </a:pPr>
            <a:r>
              <a:rPr lang="en-US" sz="909" spc="10" dirty="0">
                <a:latin typeface="Arial"/>
                <a:cs typeface="Arial"/>
              </a:rPr>
              <a:t>Program Portfolio Manager, leading training and digital transformation initiatives.</a:t>
            </a:r>
            <a:endParaRPr sz="909" spc="10" dirty="0">
              <a:latin typeface="Arial"/>
              <a:cs typeface="Arial"/>
            </a:endParaRPr>
          </a:p>
        </p:txBody>
      </p:sp>
      <p:sp>
        <p:nvSpPr>
          <p:cNvPr id="1106" name="object 77">
            <a:extLst>
              <a:ext uri="{FF2B5EF4-FFF2-40B4-BE49-F238E27FC236}">
                <a16:creationId xmlns:a16="http://schemas.microsoft.com/office/drawing/2014/main" id="{E77C3BD7-11A3-A293-C794-49DD72C2C47C}"/>
              </a:ext>
            </a:extLst>
          </p:cNvPr>
          <p:cNvSpPr/>
          <p:nvPr/>
        </p:nvSpPr>
        <p:spPr>
          <a:xfrm>
            <a:off x="2210503" y="3395199"/>
            <a:ext cx="1591310" cy="6096"/>
          </a:xfrm>
          <a:custGeom>
            <a:avLst/>
            <a:gdLst/>
            <a:ahLst/>
            <a:cxnLst/>
            <a:rect l="l" t="t" r="r" b="b"/>
            <a:pathLst>
              <a:path w="1591310" h="6096">
                <a:moveTo>
                  <a:pt x="0" y="6096"/>
                </a:moveTo>
                <a:lnTo>
                  <a:pt x="1591310" y="6096"/>
                </a:lnTo>
                <a:lnTo>
                  <a:pt x="1591310" y="1"/>
                </a:lnTo>
                <a:lnTo>
                  <a:pt x="0" y="1"/>
                </a:lnTo>
                <a:close/>
              </a:path>
            </a:pathLst>
          </a:custGeom>
          <a:solidFill>
            <a:srgbClr val="000000"/>
          </a:solidFill>
        </p:spPr>
        <p:txBody>
          <a:bodyPr wrap="square" lIns="0" tIns="0" rIns="0" bIns="0" rtlCol="0">
            <a:noAutofit/>
          </a:bodyPr>
          <a:lstStyle/>
          <a:p>
            <a:endParaRPr/>
          </a:p>
        </p:txBody>
      </p:sp>
      <p:sp>
        <p:nvSpPr>
          <p:cNvPr id="1107" name="object 79">
            <a:extLst>
              <a:ext uri="{FF2B5EF4-FFF2-40B4-BE49-F238E27FC236}">
                <a16:creationId xmlns:a16="http://schemas.microsoft.com/office/drawing/2014/main" id="{4385DFC8-62C1-BB4F-5DEA-2A6862EB5F0F}"/>
              </a:ext>
            </a:extLst>
          </p:cNvPr>
          <p:cNvSpPr/>
          <p:nvPr/>
        </p:nvSpPr>
        <p:spPr>
          <a:xfrm>
            <a:off x="3791905" y="3395161"/>
            <a:ext cx="3594481" cy="6096"/>
          </a:xfrm>
          <a:custGeom>
            <a:avLst/>
            <a:gdLst/>
            <a:ahLst/>
            <a:cxnLst/>
            <a:rect l="l" t="t" r="r" b="b"/>
            <a:pathLst>
              <a:path w="3594481" h="6096">
                <a:moveTo>
                  <a:pt x="0" y="6096"/>
                </a:moveTo>
                <a:lnTo>
                  <a:pt x="3594481" y="6096"/>
                </a:lnTo>
                <a:lnTo>
                  <a:pt x="3594481" y="1"/>
                </a:lnTo>
                <a:lnTo>
                  <a:pt x="0" y="1"/>
                </a:lnTo>
                <a:close/>
              </a:path>
            </a:pathLst>
          </a:custGeom>
          <a:solidFill>
            <a:srgbClr val="000000"/>
          </a:solidFill>
        </p:spPr>
        <p:txBody>
          <a:bodyPr wrap="square" lIns="0" tIns="0" rIns="0" bIns="0" rtlCol="0">
            <a:noAutofit/>
          </a:bodyPr>
          <a:lstStyle/>
          <a:p>
            <a:endParaRPr/>
          </a:p>
        </p:txBody>
      </p:sp>
      <p:sp>
        <p:nvSpPr>
          <p:cNvPr id="1108" name="object 80">
            <a:extLst>
              <a:ext uri="{FF2B5EF4-FFF2-40B4-BE49-F238E27FC236}">
                <a16:creationId xmlns:a16="http://schemas.microsoft.com/office/drawing/2014/main" id="{7CA66623-D83D-FFD9-64B4-FCFAA858CD41}"/>
              </a:ext>
            </a:extLst>
          </p:cNvPr>
          <p:cNvSpPr/>
          <p:nvPr/>
        </p:nvSpPr>
        <p:spPr>
          <a:xfrm>
            <a:off x="7391340" y="3566723"/>
            <a:ext cx="6096" cy="6096"/>
          </a:xfrm>
          <a:custGeom>
            <a:avLst/>
            <a:gdLst/>
            <a:ahLst/>
            <a:cxnLst/>
            <a:rect l="l" t="t" r="r" b="b"/>
            <a:pathLst>
              <a:path w="6096" h="6096">
                <a:moveTo>
                  <a:pt x="0" y="6096"/>
                </a:moveTo>
                <a:lnTo>
                  <a:pt x="6096" y="6096"/>
                </a:lnTo>
                <a:lnTo>
                  <a:pt x="6096" y="1"/>
                </a:lnTo>
                <a:lnTo>
                  <a:pt x="0" y="1"/>
                </a:lnTo>
                <a:close/>
              </a:path>
            </a:pathLst>
          </a:custGeom>
          <a:solidFill>
            <a:srgbClr val="000000"/>
          </a:solidFill>
        </p:spPr>
        <p:txBody>
          <a:bodyPr wrap="square" lIns="0" tIns="0" rIns="0" bIns="0" rtlCol="0">
            <a:noAutofit/>
          </a:bodyPr>
          <a:lstStyle/>
          <a:p>
            <a:endParaRPr/>
          </a:p>
        </p:txBody>
      </p:sp>
      <p:sp>
        <p:nvSpPr>
          <p:cNvPr id="1109" name="object 83">
            <a:extLst>
              <a:ext uri="{FF2B5EF4-FFF2-40B4-BE49-F238E27FC236}">
                <a16:creationId xmlns:a16="http://schemas.microsoft.com/office/drawing/2014/main" id="{9942E6FC-91EE-8B9D-9848-02FC2D96ECC8}"/>
              </a:ext>
            </a:extLst>
          </p:cNvPr>
          <p:cNvSpPr/>
          <p:nvPr/>
        </p:nvSpPr>
        <p:spPr>
          <a:xfrm>
            <a:off x="7391340" y="3572819"/>
            <a:ext cx="6096" cy="161544"/>
          </a:xfrm>
          <a:custGeom>
            <a:avLst/>
            <a:gdLst/>
            <a:ahLst/>
            <a:cxnLst/>
            <a:rect l="l" t="t" r="r" b="b"/>
            <a:pathLst>
              <a:path w="6096" h="161544">
                <a:moveTo>
                  <a:pt x="0" y="161544"/>
                </a:moveTo>
                <a:lnTo>
                  <a:pt x="6096" y="161544"/>
                </a:lnTo>
                <a:lnTo>
                  <a:pt x="6096" y="0"/>
                </a:lnTo>
                <a:lnTo>
                  <a:pt x="0" y="0"/>
                </a:lnTo>
                <a:close/>
              </a:path>
            </a:pathLst>
          </a:custGeom>
          <a:solidFill>
            <a:srgbClr val="000000"/>
          </a:solidFill>
        </p:spPr>
        <p:txBody>
          <a:bodyPr wrap="square" lIns="0" tIns="0" rIns="0" bIns="0" rtlCol="0">
            <a:noAutofit/>
          </a:bodyPr>
          <a:lstStyle/>
          <a:p>
            <a:endParaRPr/>
          </a:p>
        </p:txBody>
      </p:sp>
      <p:sp>
        <p:nvSpPr>
          <p:cNvPr id="1110" name="text 1">
            <a:extLst>
              <a:ext uri="{FF2B5EF4-FFF2-40B4-BE49-F238E27FC236}">
                <a16:creationId xmlns:a16="http://schemas.microsoft.com/office/drawing/2014/main" id="{5686F4C3-CF53-6073-1621-003632CC3F48}"/>
              </a:ext>
            </a:extLst>
          </p:cNvPr>
          <p:cNvSpPr txBox="1"/>
          <p:nvPr/>
        </p:nvSpPr>
        <p:spPr>
          <a:xfrm>
            <a:off x="2849059" y="3416619"/>
            <a:ext cx="892232" cy="155299"/>
          </a:xfrm>
          <a:prstGeom prst="rect">
            <a:avLst/>
          </a:prstGeom>
        </p:spPr>
        <p:txBody>
          <a:bodyPr vert="horz" wrap="none" lIns="0" tIns="0" rIns="0" bIns="0" rtlCol="0">
            <a:spAutoFit/>
          </a:bodyPr>
          <a:lstStyle/>
          <a:p>
            <a:pPr marL="0">
              <a:lnSpc>
                <a:spcPct val="100000"/>
              </a:lnSpc>
            </a:pPr>
            <a:r>
              <a:rPr lang="en-US" sz="1009" b="1" spc="10" dirty="0">
                <a:latin typeface="Arial"/>
                <a:cs typeface="Arial"/>
              </a:rPr>
              <a:t>Achievements</a:t>
            </a:r>
            <a:endParaRPr sz="1000" dirty="0">
              <a:latin typeface="Arial"/>
              <a:cs typeface="Arial"/>
            </a:endParaRPr>
          </a:p>
        </p:txBody>
      </p:sp>
      <p:sp>
        <p:nvSpPr>
          <p:cNvPr id="1111" name="object 85">
            <a:extLst>
              <a:ext uri="{FF2B5EF4-FFF2-40B4-BE49-F238E27FC236}">
                <a16:creationId xmlns:a16="http://schemas.microsoft.com/office/drawing/2014/main" id="{C8CFB4FD-5CF4-5B26-8961-1AAC927FE552}"/>
              </a:ext>
            </a:extLst>
          </p:cNvPr>
          <p:cNvSpPr/>
          <p:nvPr/>
        </p:nvSpPr>
        <p:spPr>
          <a:xfrm>
            <a:off x="2210503" y="3964075"/>
            <a:ext cx="1591310" cy="6097"/>
          </a:xfrm>
          <a:custGeom>
            <a:avLst/>
            <a:gdLst/>
            <a:ahLst/>
            <a:cxnLst/>
            <a:rect l="l" t="t" r="r" b="b"/>
            <a:pathLst>
              <a:path w="1591310" h="6097">
                <a:moveTo>
                  <a:pt x="0" y="6097"/>
                </a:moveTo>
                <a:lnTo>
                  <a:pt x="1591310" y="6097"/>
                </a:lnTo>
                <a:lnTo>
                  <a:pt x="1591310" y="1"/>
                </a:lnTo>
                <a:lnTo>
                  <a:pt x="0" y="1"/>
                </a:lnTo>
                <a:close/>
              </a:path>
            </a:pathLst>
          </a:custGeom>
          <a:solidFill>
            <a:srgbClr val="000000"/>
          </a:solidFill>
        </p:spPr>
        <p:txBody>
          <a:bodyPr wrap="square" lIns="0" tIns="0" rIns="0" bIns="0" rtlCol="0">
            <a:noAutofit/>
          </a:bodyPr>
          <a:lstStyle/>
          <a:p>
            <a:endParaRPr/>
          </a:p>
        </p:txBody>
      </p:sp>
      <p:sp>
        <p:nvSpPr>
          <p:cNvPr id="1112" name="object 87">
            <a:extLst>
              <a:ext uri="{FF2B5EF4-FFF2-40B4-BE49-F238E27FC236}">
                <a16:creationId xmlns:a16="http://schemas.microsoft.com/office/drawing/2014/main" id="{2CCAA49C-5F31-3DBA-DE02-700FF6FF3FE6}"/>
              </a:ext>
            </a:extLst>
          </p:cNvPr>
          <p:cNvSpPr/>
          <p:nvPr/>
        </p:nvSpPr>
        <p:spPr>
          <a:xfrm>
            <a:off x="3808036" y="3964075"/>
            <a:ext cx="3594481" cy="6097"/>
          </a:xfrm>
          <a:custGeom>
            <a:avLst/>
            <a:gdLst/>
            <a:ahLst/>
            <a:cxnLst/>
            <a:rect l="l" t="t" r="r" b="b"/>
            <a:pathLst>
              <a:path w="3594481" h="6097">
                <a:moveTo>
                  <a:pt x="0" y="6097"/>
                </a:moveTo>
                <a:lnTo>
                  <a:pt x="3594481" y="6097"/>
                </a:lnTo>
                <a:lnTo>
                  <a:pt x="3594481" y="1"/>
                </a:lnTo>
                <a:lnTo>
                  <a:pt x="0" y="1"/>
                </a:lnTo>
                <a:close/>
              </a:path>
            </a:pathLst>
          </a:custGeom>
          <a:solidFill>
            <a:srgbClr val="000000"/>
          </a:solidFill>
        </p:spPr>
        <p:txBody>
          <a:bodyPr wrap="square" lIns="0" tIns="0" rIns="0" bIns="0" rtlCol="0">
            <a:noAutofit/>
          </a:bodyPr>
          <a:lstStyle/>
          <a:p>
            <a:endParaRPr/>
          </a:p>
        </p:txBody>
      </p:sp>
      <p:sp>
        <p:nvSpPr>
          <p:cNvPr id="1113" name="object 88">
            <a:extLst>
              <a:ext uri="{FF2B5EF4-FFF2-40B4-BE49-F238E27FC236}">
                <a16:creationId xmlns:a16="http://schemas.microsoft.com/office/drawing/2014/main" id="{10EF44DB-52F6-11D3-B60D-B5120221CFF3}"/>
              </a:ext>
            </a:extLst>
          </p:cNvPr>
          <p:cNvSpPr/>
          <p:nvPr/>
        </p:nvSpPr>
        <p:spPr>
          <a:xfrm>
            <a:off x="7391340" y="3734363"/>
            <a:ext cx="6096" cy="6097"/>
          </a:xfrm>
          <a:custGeom>
            <a:avLst/>
            <a:gdLst/>
            <a:ahLst/>
            <a:cxnLst/>
            <a:rect l="l" t="t" r="r" b="b"/>
            <a:pathLst>
              <a:path w="6096" h="6097">
                <a:moveTo>
                  <a:pt x="0" y="6097"/>
                </a:moveTo>
                <a:lnTo>
                  <a:pt x="6096" y="6097"/>
                </a:lnTo>
                <a:lnTo>
                  <a:pt x="6096" y="1"/>
                </a:lnTo>
                <a:lnTo>
                  <a:pt x="0" y="1"/>
                </a:lnTo>
                <a:close/>
              </a:path>
            </a:pathLst>
          </a:custGeom>
          <a:solidFill>
            <a:srgbClr val="000000"/>
          </a:solidFill>
        </p:spPr>
        <p:txBody>
          <a:bodyPr wrap="square" lIns="0" tIns="0" rIns="0" bIns="0" rtlCol="0">
            <a:noAutofit/>
          </a:bodyPr>
          <a:lstStyle/>
          <a:p>
            <a:endParaRPr/>
          </a:p>
        </p:txBody>
      </p:sp>
      <p:sp>
        <p:nvSpPr>
          <p:cNvPr id="1114" name="object 92">
            <a:extLst>
              <a:ext uri="{FF2B5EF4-FFF2-40B4-BE49-F238E27FC236}">
                <a16:creationId xmlns:a16="http://schemas.microsoft.com/office/drawing/2014/main" id="{0928A009-43AC-9C68-E283-11F85A0F2D92}"/>
              </a:ext>
            </a:extLst>
          </p:cNvPr>
          <p:cNvSpPr/>
          <p:nvPr/>
        </p:nvSpPr>
        <p:spPr>
          <a:xfrm>
            <a:off x="2199199" y="4243473"/>
            <a:ext cx="1591310" cy="6096"/>
          </a:xfrm>
          <a:custGeom>
            <a:avLst/>
            <a:gdLst/>
            <a:ahLst/>
            <a:cxnLst/>
            <a:rect l="l" t="t" r="r" b="b"/>
            <a:pathLst>
              <a:path w="1591310" h="6096">
                <a:moveTo>
                  <a:pt x="0" y="6096"/>
                </a:moveTo>
                <a:lnTo>
                  <a:pt x="1591310" y="6096"/>
                </a:lnTo>
                <a:lnTo>
                  <a:pt x="1591310" y="1"/>
                </a:lnTo>
                <a:lnTo>
                  <a:pt x="0" y="1"/>
                </a:lnTo>
                <a:close/>
              </a:path>
            </a:pathLst>
          </a:custGeom>
          <a:solidFill>
            <a:srgbClr val="000000"/>
          </a:solidFill>
        </p:spPr>
        <p:txBody>
          <a:bodyPr wrap="square" lIns="0" tIns="0" rIns="0" bIns="0" rtlCol="0">
            <a:noAutofit/>
          </a:bodyPr>
          <a:lstStyle/>
          <a:p>
            <a:endParaRPr/>
          </a:p>
        </p:txBody>
      </p:sp>
      <p:sp>
        <p:nvSpPr>
          <p:cNvPr id="1115" name="object 95">
            <a:extLst>
              <a:ext uri="{FF2B5EF4-FFF2-40B4-BE49-F238E27FC236}">
                <a16:creationId xmlns:a16="http://schemas.microsoft.com/office/drawing/2014/main" id="{A27BB6AD-750D-A624-2023-A1D71D06075F}"/>
              </a:ext>
            </a:extLst>
          </p:cNvPr>
          <p:cNvSpPr/>
          <p:nvPr/>
        </p:nvSpPr>
        <p:spPr>
          <a:xfrm>
            <a:off x="3796732" y="4243473"/>
            <a:ext cx="3594481" cy="6096"/>
          </a:xfrm>
          <a:custGeom>
            <a:avLst/>
            <a:gdLst/>
            <a:ahLst/>
            <a:cxnLst/>
            <a:rect l="l" t="t" r="r" b="b"/>
            <a:pathLst>
              <a:path w="3594481" h="6096">
                <a:moveTo>
                  <a:pt x="0" y="6096"/>
                </a:moveTo>
                <a:lnTo>
                  <a:pt x="3594481" y="6096"/>
                </a:lnTo>
                <a:lnTo>
                  <a:pt x="3594481" y="1"/>
                </a:lnTo>
                <a:lnTo>
                  <a:pt x="0" y="1"/>
                </a:lnTo>
                <a:close/>
              </a:path>
            </a:pathLst>
          </a:custGeom>
          <a:solidFill>
            <a:srgbClr val="000000"/>
          </a:solidFill>
        </p:spPr>
        <p:txBody>
          <a:bodyPr wrap="square" lIns="0" tIns="0" rIns="0" bIns="0" rtlCol="0">
            <a:noAutofit/>
          </a:bodyPr>
          <a:lstStyle/>
          <a:p>
            <a:endParaRPr/>
          </a:p>
        </p:txBody>
      </p:sp>
      <p:sp>
        <p:nvSpPr>
          <p:cNvPr id="1116" name="object 96">
            <a:extLst>
              <a:ext uri="{FF2B5EF4-FFF2-40B4-BE49-F238E27FC236}">
                <a16:creationId xmlns:a16="http://schemas.microsoft.com/office/drawing/2014/main" id="{ECEC99F8-A79D-9FDF-A223-23A80F47B8D2}"/>
              </a:ext>
            </a:extLst>
          </p:cNvPr>
          <p:cNvSpPr/>
          <p:nvPr/>
        </p:nvSpPr>
        <p:spPr>
          <a:xfrm>
            <a:off x="7391340" y="3740458"/>
            <a:ext cx="6096" cy="437389"/>
          </a:xfrm>
          <a:custGeom>
            <a:avLst/>
            <a:gdLst/>
            <a:ahLst/>
            <a:cxnLst/>
            <a:rect l="l" t="t" r="r" b="b"/>
            <a:pathLst>
              <a:path w="6096" h="437389">
                <a:moveTo>
                  <a:pt x="0" y="437389"/>
                </a:moveTo>
                <a:lnTo>
                  <a:pt x="6096" y="437389"/>
                </a:lnTo>
                <a:lnTo>
                  <a:pt x="6096" y="1"/>
                </a:lnTo>
                <a:lnTo>
                  <a:pt x="0" y="1"/>
                </a:lnTo>
                <a:close/>
              </a:path>
            </a:pathLst>
          </a:custGeom>
          <a:solidFill>
            <a:srgbClr val="000000"/>
          </a:solidFill>
        </p:spPr>
        <p:txBody>
          <a:bodyPr wrap="square" lIns="0" tIns="0" rIns="0" bIns="0" rtlCol="0">
            <a:noAutofit/>
          </a:bodyPr>
          <a:lstStyle/>
          <a:p>
            <a:endParaRPr/>
          </a:p>
        </p:txBody>
      </p:sp>
      <p:sp>
        <p:nvSpPr>
          <p:cNvPr id="1117" name="object 97">
            <a:extLst>
              <a:ext uri="{FF2B5EF4-FFF2-40B4-BE49-F238E27FC236}">
                <a16:creationId xmlns:a16="http://schemas.microsoft.com/office/drawing/2014/main" id="{77A6C2EF-262B-E273-5715-793D7F51CCC8}"/>
              </a:ext>
            </a:extLst>
          </p:cNvPr>
          <p:cNvSpPr/>
          <p:nvPr/>
        </p:nvSpPr>
        <p:spPr>
          <a:xfrm>
            <a:off x="7391340" y="4177847"/>
            <a:ext cx="6096" cy="6096"/>
          </a:xfrm>
          <a:custGeom>
            <a:avLst/>
            <a:gdLst/>
            <a:ahLst/>
            <a:cxnLst/>
            <a:rect l="l" t="t" r="r" b="b"/>
            <a:pathLst>
              <a:path w="6096" h="6096">
                <a:moveTo>
                  <a:pt x="0" y="6096"/>
                </a:moveTo>
                <a:lnTo>
                  <a:pt x="6096" y="6096"/>
                </a:lnTo>
                <a:lnTo>
                  <a:pt x="6096" y="1"/>
                </a:lnTo>
                <a:lnTo>
                  <a:pt x="0" y="1"/>
                </a:lnTo>
                <a:close/>
              </a:path>
            </a:pathLst>
          </a:custGeom>
          <a:solidFill>
            <a:srgbClr val="000000"/>
          </a:solidFill>
        </p:spPr>
        <p:txBody>
          <a:bodyPr wrap="square" lIns="0" tIns="0" rIns="0" bIns="0" rtlCol="0">
            <a:noAutofit/>
          </a:bodyPr>
          <a:lstStyle/>
          <a:p>
            <a:endParaRPr/>
          </a:p>
        </p:txBody>
      </p:sp>
      <p:sp>
        <p:nvSpPr>
          <p:cNvPr id="1118" name="object 98">
            <a:extLst>
              <a:ext uri="{FF2B5EF4-FFF2-40B4-BE49-F238E27FC236}">
                <a16:creationId xmlns:a16="http://schemas.microsoft.com/office/drawing/2014/main" id="{8FD6F4CD-68EF-2011-F1D5-A32DAA181F5E}"/>
              </a:ext>
            </a:extLst>
          </p:cNvPr>
          <p:cNvSpPr/>
          <p:nvPr/>
        </p:nvSpPr>
        <p:spPr>
          <a:xfrm>
            <a:off x="7391340" y="4177847"/>
            <a:ext cx="6096" cy="6096"/>
          </a:xfrm>
          <a:custGeom>
            <a:avLst/>
            <a:gdLst/>
            <a:ahLst/>
            <a:cxnLst/>
            <a:rect l="l" t="t" r="r" b="b"/>
            <a:pathLst>
              <a:path w="6096" h="6096">
                <a:moveTo>
                  <a:pt x="0" y="6096"/>
                </a:moveTo>
                <a:lnTo>
                  <a:pt x="6096" y="6096"/>
                </a:lnTo>
                <a:lnTo>
                  <a:pt x="6096" y="1"/>
                </a:lnTo>
                <a:lnTo>
                  <a:pt x="0" y="1"/>
                </a:lnTo>
                <a:close/>
              </a:path>
            </a:pathLst>
          </a:custGeom>
          <a:solidFill>
            <a:srgbClr val="000000"/>
          </a:solidFill>
        </p:spPr>
        <p:txBody>
          <a:bodyPr wrap="square" lIns="0" tIns="0" rIns="0" bIns="0" rtlCol="0">
            <a:noAutofit/>
          </a:bodyPr>
          <a:lstStyle/>
          <a:p>
            <a:endParaRPr/>
          </a:p>
        </p:txBody>
      </p:sp>
      <p:sp>
        <p:nvSpPr>
          <p:cNvPr id="1119" name="text 1">
            <a:extLst>
              <a:ext uri="{FF2B5EF4-FFF2-40B4-BE49-F238E27FC236}">
                <a16:creationId xmlns:a16="http://schemas.microsoft.com/office/drawing/2014/main" id="{382A8A1E-9316-C907-E930-1EBE3083325A}"/>
              </a:ext>
            </a:extLst>
          </p:cNvPr>
          <p:cNvSpPr txBox="1"/>
          <p:nvPr/>
        </p:nvSpPr>
        <p:spPr>
          <a:xfrm>
            <a:off x="3842198" y="3408201"/>
            <a:ext cx="3552253" cy="559640"/>
          </a:xfrm>
          <a:prstGeom prst="rect">
            <a:avLst/>
          </a:prstGeom>
        </p:spPr>
        <p:txBody>
          <a:bodyPr vert="horz" wrap="square" lIns="0" tIns="0" rIns="0" bIns="0" rtlCol="0">
            <a:spAutoFit/>
          </a:bodyPr>
          <a:lstStyle/>
          <a:p>
            <a:pPr marL="0">
              <a:lnSpc>
                <a:spcPct val="100000"/>
              </a:lnSpc>
            </a:pPr>
            <a:r>
              <a:rPr lang="en-US" sz="909" spc="10" dirty="0">
                <a:latin typeface="Arial"/>
                <a:cs typeface="Arial"/>
              </a:rPr>
              <a:t>Delivered comprehensive training to over 3000 students, improving course satisfaction by 25%. Spearheaded Agile adoption, enhancing project completion rates by 20%, and led successful cloud migration, reducing costs by 35%.</a:t>
            </a:r>
            <a:endParaRPr sz="909" spc="10" dirty="0">
              <a:latin typeface="Arial"/>
              <a:cs typeface="Arial"/>
            </a:endParaRPr>
          </a:p>
        </p:txBody>
      </p:sp>
      <p:sp>
        <p:nvSpPr>
          <p:cNvPr id="1120" name="text 1">
            <a:extLst>
              <a:ext uri="{FF2B5EF4-FFF2-40B4-BE49-F238E27FC236}">
                <a16:creationId xmlns:a16="http://schemas.microsoft.com/office/drawing/2014/main" id="{3CD73B43-04DF-AA16-519C-066E257DC148}"/>
              </a:ext>
            </a:extLst>
          </p:cNvPr>
          <p:cNvSpPr txBox="1"/>
          <p:nvPr/>
        </p:nvSpPr>
        <p:spPr>
          <a:xfrm>
            <a:off x="2236517" y="3977726"/>
            <a:ext cx="1544975" cy="139910"/>
          </a:xfrm>
          <a:prstGeom prst="rect">
            <a:avLst/>
          </a:prstGeom>
        </p:spPr>
        <p:txBody>
          <a:bodyPr vert="horz" wrap="none" lIns="0" tIns="0" rIns="0" bIns="0" rtlCol="0">
            <a:spAutoFit/>
          </a:bodyPr>
          <a:lstStyle/>
          <a:p>
            <a:pPr marL="0">
              <a:lnSpc>
                <a:spcPct val="100000"/>
              </a:lnSpc>
            </a:pPr>
            <a:r>
              <a:rPr lang="en-US" sz="909" b="1" spc="10" dirty="0">
                <a:latin typeface="Arial"/>
                <a:cs typeface="Arial"/>
              </a:rPr>
              <a:t>Skills &amp; Technologies Used</a:t>
            </a:r>
            <a:endParaRPr sz="900" dirty="0">
              <a:latin typeface="Arial"/>
              <a:cs typeface="Arial"/>
            </a:endParaRPr>
          </a:p>
        </p:txBody>
      </p:sp>
      <p:sp>
        <p:nvSpPr>
          <p:cNvPr id="1121" name="text 1">
            <a:extLst>
              <a:ext uri="{FF2B5EF4-FFF2-40B4-BE49-F238E27FC236}">
                <a16:creationId xmlns:a16="http://schemas.microsoft.com/office/drawing/2014/main" id="{C8873CC7-3E77-767C-908F-EF758114B3DD}"/>
              </a:ext>
            </a:extLst>
          </p:cNvPr>
          <p:cNvSpPr txBox="1"/>
          <p:nvPr/>
        </p:nvSpPr>
        <p:spPr>
          <a:xfrm>
            <a:off x="3853051" y="3961347"/>
            <a:ext cx="3601536" cy="279820"/>
          </a:xfrm>
          <a:prstGeom prst="rect">
            <a:avLst/>
          </a:prstGeom>
        </p:spPr>
        <p:txBody>
          <a:bodyPr vert="horz" wrap="square" lIns="0" tIns="0" rIns="0" bIns="0" rtlCol="0">
            <a:spAutoFit/>
          </a:bodyPr>
          <a:lstStyle/>
          <a:p>
            <a:pPr marL="0">
              <a:lnSpc>
                <a:spcPct val="100000"/>
              </a:lnSpc>
            </a:pPr>
            <a:r>
              <a:rPr lang="en-US" sz="909" spc="10" dirty="0">
                <a:latin typeface="Arial"/>
                <a:cs typeface="Arial"/>
              </a:rPr>
              <a:t>Agile practices, digital transformation strategies, feedback mechanisms, cloud computing, career transition management.</a:t>
            </a:r>
          </a:p>
        </p:txBody>
      </p:sp>
      <p:sp>
        <p:nvSpPr>
          <p:cNvPr id="1122" name="TextBox 1121">
            <a:extLst>
              <a:ext uri="{FF2B5EF4-FFF2-40B4-BE49-F238E27FC236}">
                <a16:creationId xmlns:a16="http://schemas.microsoft.com/office/drawing/2014/main" id="{4959B201-315A-F577-3BDD-AFB74B4FA19B}"/>
              </a:ext>
            </a:extLst>
          </p:cNvPr>
          <p:cNvSpPr txBox="1"/>
          <p:nvPr/>
        </p:nvSpPr>
        <p:spPr>
          <a:xfrm>
            <a:off x="2133793" y="2683598"/>
            <a:ext cx="1597725" cy="247760"/>
          </a:xfrm>
          <a:prstGeom prst="rect">
            <a:avLst/>
          </a:prstGeom>
          <a:noFill/>
        </p:spPr>
        <p:txBody>
          <a:bodyPr wrap="square">
            <a:spAutoFit/>
          </a:bodyPr>
          <a:lstStyle/>
          <a:p>
            <a:r>
              <a:rPr lang="en-US" sz="1010" b="1" dirty="0">
                <a:solidFill>
                  <a:schemeClr val="bg1"/>
                </a:solidFill>
              </a:rPr>
              <a:t>U.S. Army | CW4 | 915E</a:t>
            </a:r>
          </a:p>
        </p:txBody>
      </p:sp>
      <p:cxnSp>
        <p:nvCxnSpPr>
          <p:cNvPr id="1123" name="Straight Connector 1122">
            <a:extLst>
              <a:ext uri="{FF2B5EF4-FFF2-40B4-BE49-F238E27FC236}">
                <a16:creationId xmlns:a16="http://schemas.microsoft.com/office/drawing/2014/main" id="{9569979E-641E-7CCA-786E-48C34AB020B1}"/>
              </a:ext>
            </a:extLst>
          </p:cNvPr>
          <p:cNvCxnSpPr/>
          <p:nvPr/>
        </p:nvCxnSpPr>
        <p:spPr>
          <a:xfrm>
            <a:off x="2190182" y="3064843"/>
            <a:ext cx="0" cy="11847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4" name="Straight Connector 1123">
            <a:extLst>
              <a:ext uri="{FF2B5EF4-FFF2-40B4-BE49-F238E27FC236}">
                <a16:creationId xmlns:a16="http://schemas.microsoft.com/office/drawing/2014/main" id="{78C30246-5015-6190-E161-3ABD808C2C7E}"/>
              </a:ext>
            </a:extLst>
          </p:cNvPr>
          <p:cNvCxnSpPr/>
          <p:nvPr/>
        </p:nvCxnSpPr>
        <p:spPr>
          <a:xfrm>
            <a:off x="3796732" y="3055050"/>
            <a:ext cx="11304" cy="1194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25" name="object 36">
            <a:extLst>
              <a:ext uri="{FF2B5EF4-FFF2-40B4-BE49-F238E27FC236}">
                <a16:creationId xmlns:a16="http://schemas.microsoft.com/office/drawing/2014/main" id="{6D10EBB6-95E0-C865-69F7-64EE0AD887DB}"/>
              </a:ext>
            </a:extLst>
          </p:cNvPr>
          <p:cNvSpPr/>
          <p:nvPr/>
        </p:nvSpPr>
        <p:spPr>
          <a:xfrm>
            <a:off x="2193674" y="4394750"/>
            <a:ext cx="5215444" cy="213800"/>
          </a:xfrm>
          <a:custGeom>
            <a:avLst/>
            <a:gdLst/>
            <a:ahLst/>
            <a:cxnLst/>
            <a:rect l="l" t="t" r="r" b="b"/>
            <a:pathLst>
              <a:path w="5060569" h="146305">
                <a:moveTo>
                  <a:pt x="0" y="146305"/>
                </a:moveTo>
                <a:lnTo>
                  <a:pt x="5060569" y="146305"/>
                </a:lnTo>
                <a:lnTo>
                  <a:pt x="5060569" y="0"/>
                </a:lnTo>
                <a:lnTo>
                  <a:pt x="0" y="0"/>
                </a:lnTo>
                <a:close/>
              </a:path>
            </a:pathLst>
          </a:custGeom>
          <a:solidFill>
            <a:srgbClr val="000000"/>
          </a:solidFill>
        </p:spPr>
        <p:txBody>
          <a:bodyPr wrap="square" lIns="0" tIns="0" rIns="0" bIns="0" rtlCol="0">
            <a:noAutofit/>
          </a:bodyPr>
          <a:lstStyle/>
          <a:p>
            <a:endParaRPr lang="en-US" sz="1050" b="1" dirty="0">
              <a:solidFill>
                <a:schemeClr val="bg1"/>
              </a:solidFill>
            </a:endParaRPr>
          </a:p>
        </p:txBody>
      </p:sp>
      <p:sp>
        <p:nvSpPr>
          <p:cNvPr id="1129" name="text 1">
            <a:extLst>
              <a:ext uri="{FF2B5EF4-FFF2-40B4-BE49-F238E27FC236}">
                <a16:creationId xmlns:a16="http://schemas.microsoft.com/office/drawing/2014/main" id="{F1B7EAA0-0B33-F88E-33AE-FA4C6ACE582E}"/>
              </a:ext>
            </a:extLst>
          </p:cNvPr>
          <p:cNvSpPr txBox="1"/>
          <p:nvPr/>
        </p:nvSpPr>
        <p:spPr>
          <a:xfrm>
            <a:off x="3339705" y="4616978"/>
            <a:ext cx="408445" cy="155299"/>
          </a:xfrm>
          <a:prstGeom prst="rect">
            <a:avLst/>
          </a:prstGeom>
        </p:spPr>
        <p:txBody>
          <a:bodyPr vert="horz" wrap="none" lIns="0" tIns="0" rIns="0" bIns="0" rtlCol="0">
            <a:spAutoFit/>
          </a:bodyPr>
          <a:lstStyle/>
          <a:p>
            <a:pPr marL="0">
              <a:lnSpc>
                <a:spcPct val="100000"/>
              </a:lnSpc>
            </a:pPr>
            <a:r>
              <a:rPr lang="en-US" sz="1009" b="1" spc="10" dirty="0">
                <a:latin typeface="Arial"/>
                <a:cs typeface="Arial"/>
              </a:rPr>
              <a:t>Period</a:t>
            </a:r>
            <a:endParaRPr sz="1000" dirty="0">
              <a:latin typeface="Arial"/>
              <a:cs typeface="Arial"/>
            </a:endParaRPr>
          </a:p>
        </p:txBody>
      </p:sp>
      <p:sp>
        <p:nvSpPr>
          <p:cNvPr id="1130" name="text 1">
            <a:extLst>
              <a:ext uri="{FF2B5EF4-FFF2-40B4-BE49-F238E27FC236}">
                <a16:creationId xmlns:a16="http://schemas.microsoft.com/office/drawing/2014/main" id="{2B0B1E0D-C458-AEFA-EE51-7BC1C85352CD}"/>
              </a:ext>
            </a:extLst>
          </p:cNvPr>
          <p:cNvSpPr txBox="1"/>
          <p:nvPr/>
        </p:nvSpPr>
        <p:spPr>
          <a:xfrm>
            <a:off x="3870456" y="4609649"/>
            <a:ext cx="1187505" cy="139910"/>
          </a:xfrm>
          <a:prstGeom prst="rect">
            <a:avLst/>
          </a:prstGeom>
        </p:spPr>
        <p:txBody>
          <a:bodyPr vert="horz" wrap="none" lIns="0" tIns="0" rIns="0" bIns="0" rtlCol="0">
            <a:spAutoFit/>
          </a:bodyPr>
          <a:lstStyle/>
          <a:p>
            <a:pPr marL="0">
              <a:lnSpc>
                <a:spcPct val="100000"/>
              </a:lnSpc>
            </a:pPr>
            <a:r>
              <a:rPr lang="en-US" sz="909" spc="10" dirty="0">
                <a:latin typeface="Arial"/>
                <a:cs typeface="Arial"/>
              </a:rPr>
              <a:t>July 2017 – June 2019</a:t>
            </a:r>
            <a:endParaRPr sz="909" spc="10" dirty="0">
              <a:latin typeface="Arial"/>
              <a:cs typeface="Arial"/>
            </a:endParaRPr>
          </a:p>
        </p:txBody>
      </p:sp>
      <p:sp>
        <p:nvSpPr>
          <p:cNvPr id="1131" name="object 44">
            <a:extLst>
              <a:ext uri="{FF2B5EF4-FFF2-40B4-BE49-F238E27FC236}">
                <a16:creationId xmlns:a16="http://schemas.microsoft.com/office/drawing/2014/main" id="{18280423-A22F-F6AE-74BD-F3FC33864BE7}"/>
              </a:ext>
            </a:extLst>
          </p:cNvPr>
          <p:cNvSpPr/>
          <p:nvPr/>
        </p:nvSpPr>
        <p:spPr>
          <a:xfrm>
            <a:off x="2201295" y="4597905"/>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32" name="object 45">
            <a:extLst>
              <a:ext uri="{FF2B5EF4-FFF2-40B4-BE49-F238E27FC236}">
                <a16:creationId xmlns:a16="http://schemas.microsoft.com/office/drawing/2014/main" id="{1428238A-F482-92DC-0FDF-A25E867F5121}"/>
              </a:ext>
            </a:extLst>
          </p:cNvPr>
          <p:cNvSpPr/>
          <p:nvPr/>
        </p:nvSpPr>
        <p:spPr>
          <a:xfrm>
            <a:off x="2207391" y="4597905"/>
            <a:ext cx="1591310" cy="6096"/>
          </a:xfrm>
          <a:custGeom>
            <a:avLst/>
            <a:gdLst/>
            <a:ahLst/>
            <a:cxnLst/>
            <a:rect l="l" t="t" r="r" b="b"/>
            <a:pathLst>
              <a:path w="1591310" h="6096">
                <a:moveTo>
                  <a:pt x="0" y="6096"/>
                </a:moveTo>
                <a:lnTo>
                  <a:pt x="1591310" y="6096"/>
                </a:lnTo>
                <a:lnTo>
                  <a:pt x="1591310" y="0"/>
                </a:lnTo>
                <a:lnTo>
                  <a:pt x="0" y="0"/>
                </a:lnTo>
                <a:close/>
              </a:path>
            </a:pathLst>
          </a:custGeom>
          <a:solidFill>
            <a:srgbClr val="000000"/>
          </a:solidFill>
        </p:spPr>
        <p:txBody>
          <a:bodyPr wrap="square" lIns="0" tIns="0" rIns="0" bIns="0" rtlCol="0">
            <a:noAutofit/>
          </a:bodyPr>
          <a:lstStyle/>
          <a:p>
            <a:endParaRPr/>
          </a:p>
        </p:txBody>
      </p:sp>
      <p:sp>
        <p:nvSpPr>
          <p:cNvPr id="1133" name="object 46">
            <a:extLst>
              <a:ext uri="{FF2B5EF4-FFF2-40B4-BE49-F238E27FC236}">
                <a16:creationId xmlns:a16="http://schemas.microsoft.com/office/drawing/2014/main" id="{398944ED-5668-E666-DCC2-4AFF5B82F8F9}"/>
              </a:ext>
            </a:extLst>
          </p:cNvPr>
          <p:cNvSpPr/>
          <p:nvPr/>
        </p:nvSpPr>
        <p:spPr>
          <a:xfrm>
            <a:off x="3798828" y="4597905"/>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34" name="object 47">
            <a:extLst>
              <a:ext uri="{FF2B5EF4-FFF2-40B4-BE49-F238E27FC236}">
                <a16:creationId xmlns:a16="http://schemas.microsoft.com/office/drawing/2014/main" id="{AC662812-D6C9-59FA-4C65-9DDC31D93C28}"/>
              </a:ext>
            </a:extLst>
          </p:cNvPr>
          <p:cNvSpPr/>
          <p:nvPr/>
        </p:nvSpPr>
        <p:spPr>
          <a:xfrm>
            <a:off x="3804924" y="4597905"/>
            <a:ext cx="3594481" cy="6096"/>
          </a:xfrm>
          <a:custGeom>
            <a:avLst/>
            <a:gdLst/>
            <a:ahLst/>
            <a:cxnLst/>
            <a:rect l="l" t="t" r="r" b="b"/>
            <a:pathLst>
              <a:path w="3594481" h="6096">
                <a:moveTo>
                  <a:pt x="0" y="6096"/>
                </a:moveTo>
                <a:lnTo>
                  <a:pt x="3594481" y="6096"/>
                </a:lnTo>
                <a:lnTo>
                  <a:pt x="3594481" y="0"/>
                </a:lnTo>
                <a:lnTo>
                  <a:pt x="0" y="0"/>
                </a:lnTo>
                <a:close/>
              </a:path>
            </a:pathLst>
          </a:custGeom>
          <a:solidFill>
            <a:srgbClr val="000000"/>
          </a:solidFill>
        </p:spPr>
        <p:txBody>
          <a:bodyPr wrap="square" lIns="0" tIns="0" rIns="0" bIns="0" rtlCol="0">
            <a:noAutofit/>
          </a:bodyPr>
          <a:lstStyle/>
          <a:p>
            <a:endParaRPr/>
          </a:p>
        </p:txBody>
      </p:sp>
      <p:sp>
        <p:nvSpPr>
          <p:cNvPr id="1135" name="object 48">
            <a:extLst>
              <a:ext uri="{FF2B5EF4-FFF2-40B4-BE49-F238E27FC236}">
                <a16:creationId xmlns:a16="http://schemas.microsoft.com/office/drawing/2014/main" id="{CCB95A3A-7D9A-4215-B295-E18B7C370E2A}"/>
              </a:ext>
            </a:extLst>
          </p:cNvPr>
          <p:cNvSpPr/>
          <p:nvPr/>
        </p:nvSpPr>
        <p:spPr>
          <a:xfrm>
            <a:off x="7399405" y="4597905"/>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36" name="object 49">
            <a:extLst>
              <a:ext uri="{FF2B5EF4-FFF2-40B4-BE49-F238E27FC236}">
                <a16:creationId xmlns:a16="http://schemas.microsoft.com/office/drawing/2014/main" id="{EF0E27F5-F7D1-9E5F-8CD8-ECCC597CF6AC}"/>
              </a:ext>
            </a:extLst>
          </p:cNvPr>
          <p:cNvSpPr/>
          <p:nvPr/>
        </p:nvSpPr>
        <p:spPr>
          <a:xfrm>
            <a:off x="2201295" y="4604001"/>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1137" name="object 50">
            <a:extLst>
              <a:ext uri="{FF2B5EF4-FFF2-40B4-BE49-F238E27FC236}">
                <a16:creationId xmlns:a16="http://schemas.microsoft.com/office/drawing/2014/main" id="{A84E3A67-93D1-0D2F-24F6-501142CFD5EA}"/>
              </a:ext>
            </a:extLst>
          </p:cNvPr>
          <p:cNvSpPr/>
          <p:nvPr/>
        </p:nvSpPr>
        <p:spPr>
          <a:xfrm>
            <a:off x="3798828" y="4604001"/>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1138" name="object 51">
            <a:extLst>
              <a:ext uri="{FF2B5EF4-FFF2-40B4-BE49-F238E27FC236}">
                <a16:creationId xmlns:a16="http://schemas.microsoft.com/office/drawing/2014/main" id="{1B34BDF7-448C-10E9-B1E6-86A93A718637}"/>
              </a:ext>
            </a:extLst>
          </p:cNvPr>
          <p:cNvSpPr/>
          <p:nvPr/>
        </p:nvSpPr>
        <p:spPr>
          <a:xfrm>
            <a:off x="7399405" y="4604001"/>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1139" name="text 1">
            <a:extLst>
              <a:ext uri="{FF2B5EF4-FFF2-40B4-BE49-F238E27FC236}">
                <a16:creationId xmlns:a16="http://schemas.microsoft.com/office/drawing/2014/main" id="{3B338918-B978-707A-C9DD-A6C61C8D3652}"/>
              </a:ext>
            </a:extLst>
          </p:cNvPr>
          <p:cNvSpPr txBox="1"/>
          <p:nvPr/>
        </p:nvSpPr>
        <p:spPr>
          <a:xfrm>
            <a:off x="2471641" y="4784926"/>
            <a:ext cx="1330172" cy="155299"/>
          </a:xfrm>
          <a:prstGeom prst="rect">
            <a:avLst/>
          </a:prstGeom>
        </p:spPr>
        <p:txBody>
          <a:bodyPr vert="horz" wrap="none" lIns="0" tIns="0" rIns="0" bIns="0" rtlCol="0">
            <a:spAutoFit/>
          </a:bodyPr>
          <a:lstStyle/>
          <a:p>
            <a:pPr marL="0">
              <a:lnSpc>
                <a:spcPct val="100000"/>
              </a:lnSpc>
            </a:pPr>
            <a:r>
              <a:rPr lang="en-US" sz="1009" b="1" spc="10" dirty="0">
                <a:latin typeface="Arial"/>
                <a:cs typeface="Arial"/>
              </a:rPr>
              <a:t>Key Responsibilities</a:t>
            </a:r>
            <a:endParaRPr sz="1000" dirty="0">
              <a:latin typeface="Arial"/>
              <a:cs typeface="Arial"/>
            </a:endParaRPr>
          </a:p>
        </p:txBody>
      </p:sp>
      <p:sp>
        <p:nvSpPr>
          <p:cNvPr id="1140" name="object 52">
            <a:extLst>
              <a:ext uri="{FF2B5EF4-FFF2-40B4-BE49-F238E27FC236}">
                <a16:creationId xmlns:a16="http://schemas.microsoft.com/office/drawing/2014/main" id="{597D8D39-B7C4-7A56-C9E2-1E8BD3DDE63E}"/>
              </a:ext>
            </a:extLst>
          </p:cNvPr>
          <p:cNvSpPr/>
          <p:nvPr/>
        </p:nvSpPr>
        <p:spPr>
          <a:xfrm>
            <a:off x="2201295" y="4764021"/>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41" name="object 53">
            <a:extLst>
              <a:ext uri="{FF2B5EF4-FFF2-40B4-BE49-F238E27FC236}">
                <a16:creationId xmlns:a16="http://schemas.microsoft.com/office/drawing/2014/main" id="{553C1621-6027-0D2F-072E-86AA90022E56}"/>
              </a:ext>
            </a:extLst>
          </p:cNvPr>
          <p:cNvSpPr/>
          <p:nvPr/>
        </p:nvSpPr>
        <p:spPr>
          <a:xfrm>
            <a:off x="2207391" y="4764021"/>
            <a:ext cx="1591310" cy="6096"/>
          </a:xfrm>
          <a:custGeom>
            <a:avLst/>
            <a:gdLst/>
            <a:ahLst/>
            <a:cxnLst/>
            <a:rect l="l" t="t" r="r" b="b"/>
            <a:pathLst>
              <a:path w="1591310" h="6096">
                <a:moveTo>
                  <a:pt x="0" y="6096"/>
                </a:moveTo>
                <a:lnTo>
                  <a:pt x="1591310" y="6096"/>
                </a:lnTo>
                <a:lnTo>
                  <a:pt x="1591310" y="0"/>
                </a:lnTo>
                <a:lnTo>
                  <a:pt x="0" y="0"/>
                </a:lnTo>
                <a:close/>
              </a:path>
            </a:pathLst>
          </a:custGeom>
          <a:solidFill>
            <a:srgbClr val="000000"/>
          </a:solidFill>
        </p:spPr>
        <p:txBody>
          <a:bodyPr wrap="square" lIns="0" tIns="0" rIns="0" bIns="0" rtlCol="0">
            <a:noAutofit/>
          </a:bodyPr>
          <a:lstStyle/>
          <a:p>
            <a:endParaRPr/>
          </a:p>
        </p:txBody>
      </p:sp>
      <p:sp>
        <p:nvSpPr>
          <p:cNvPr id="1142" name="object 54">
            <a:extLst>
              <a:ext uri="{FF2B5EF4-FFF2-40B4-BE49-F238E27FC236}">
                <a16:creationId xmlns:a16="http://schemas.microsoft.com/office/drawing/2014/main" id="{DE74C6F2-F424-3F21-D116-1AD2D363F811}"/>
              </a:ext>
            </a:extLst>
          </p:cNvPr>
          <p:cNvSpPr/>
          <p:nvPr/>
        </p:nvSpPr>
        <p:spPr>
          <a:xfrm>
            <a:off x="3798828" y="4764021"/>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43" name="object 55">
            <a:extLst>
              <a:ext uri="{FF2B5EF4-FFF2-40B4-BE49-F238E27FC236}">
                <a16:creationId xmlns:a16="http://schemas.microsoft.com/office/drawing/2014/main" id="{DB642CD5-9E43-268A-F318-3B7E1F80875B}"/>
              </a:ext>
            </a:extLst>
          </p:cNvPr>
          <p:cNvSpPr/>
          <p:nvPr/>
        </p:nvSpPr>
        <p:spPr>
          <a:xfrm>
            <a:off x="3804924" y="4764021"/>
            <a:ext cx="3594481" cy="6096"/>
          </a:xfrm>
          <a:custGeom>
            <a:avLst/>
            <a:gdLst/>
            <a:ahLst/>
            <a:cxnLst/>
            <a:rect l="l" t="t" r="r" b="b"/>
            <a:pathLst>
              <a:path w="3594481" h="6096">
                <a:moveTo>
                  <a:pt x="0" y="6096"/>
                </a:moveTo>
                <a:lnTo>
                  <a:pt x="3594481" y="6096"/>
                </a:lnTo>
                <a:lnTo>
                  <a:pt x="3594481" y="0"/>
                </a:lnTo>
                <a:lnTo>
                  <a:pt x="0" y="0"/>
                </a:lnTo>
                <a:close/>
              </a:path>
            </a:pathLst>
          </a:custGeom>
          <a:solidFill>
            <a:srgbClr val="000000"/>
          </a:solidFill>
        </p:spPr>
        <p:txBody>
          <a:bodyPr wrap="square" lIns="0" tIns="0" rIns="0" bIns="0" rtlCol="0">
            <a:noAutofit/>
          </a:bodyPr>
          <a:lstStyle/>
          <a:p>
            <a:endParaRPr/>
          </a:p>
        </p:txBody>
      </p:sp>
      <p:sp>
        <p:nvSpPr>
          <p:cNvPr id="1144" name="object 56">
            <a:extLst>
              <a:ext uri="{FF2B5EF4-FFF2-40B4-BE49-F238E27FC236}">
                <a16:creationId xmlns:a16="http://schemas.microsoft.com/office/drawing/2014/main" id="{1234540F-B57C-F668-8A6B-212253F82A8C}"/>
              </a:ext>
            </a:extLst>
          </p:cNvPr>
          <p:cNvSpPr/>
          <p:nvPr/>
        </p:nvSpPr>
        <p:spPr>
          <a:xfrm>
            <a:off x="7399405" y="4764021"/>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45" name="object 59">
            <a:extLst>
              <a:ext uri="{FF2B5EF4-FFF2-40B4-BE49-F238E27FC236}">
                <a16:creationId xmlns:a16="http://schemas.microsoft.com/office/drawing/2014/main" id="{93EC15FA-0D13-705F-2F33-2852831C5454}"/>
              </a:ext>
            </a:extLst>
          </p:cNvPr>
          <p:cNvSpPr/>
          <p:nvPr/>
        </p:nvSpPr>
        <p:spPr>
          <a:xfrm>
            <a:off x="7399405" y="4770117"/>
            <a:ext cx="6096" cy="161544"/>
          </a:xfrm>
          <a:custGeom>
            <a:avLst/>
            <a:gdLst/>
            <a:ahLst/>
            <a:cxnLst/>
            <a:rect l="l" t="t" r="r" b="b"/>
            <a:pathLst>
              <a:path w="6096" h="161544">
                <a:moveTo>
                  <a:pt x="0" y="161544"/>
                </a:moveTo>
                <a:lnTo>
                  <a:pt x="6096" y="161544"/>
                </a:lnTo>
                <a:lnTo>
                  <a:pt x="6096" y="0"/>
                </a:lnTo>
                <a:lnTo>
                  <a:pt x="0" y="0"/>
                </a:lnTo>
                <a:close/>
              </a:path>
            </a:pathLst>
          </a:custGeom>
          <a:solidFill>
            <a:srgbClr val="000000"/>
          </a:solidFill>
        </p:spPr>
        <p:txBody>
          <a:bodyPr wrap="square" lIns="0" tIns="0" rIns="0" bIns="0" rtlCol="0">
            <a:noAutofit/>
          </a:bodyPr>
          <a:lstStyle/>
          <a:p>
            <a:endParaRPr/>
          </a:p>
        </p:txBody>
      </p:sp>
      <p:sp>
        <p:nvSpPr>
          <p:cNvPr id="1146" name="object 64">
            <a:extLst>
              <a:ext uri="{FF2B5EF4-FFF2-40B4-BE49-F238E27FC236}">
                <a16:creationId xmlns:a16="http://schemas.microsoft.com/office/drawing/2014/main" id="{D51D6949-77E6-962B-BE05-D1D1AC32D660}"/>
              </a:ext>
            </a:extLst>
          </p:cNvPr>
          <p:cNvSpPr/>
          <p:nvPr/>
        </p:nvSpPr>
        <p:spPr>
          <a:xfrm>
            <a:off x="7399405" y="4931661"/>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47" name="object 67">
            <a:extLst>
              <a:ext uri="{FF2B5EF4-FFF2-40B4-BE49-F238E27FC236}">
                <a16:creationId xmlns:a16="http://schemas.microsoft.com/office/drawing/2014/main" id="{569598EB-8BCD-2C6F-E363-E782362EADDF}"/>
              </a:ext>
            </a:extLst>
          </p:cNvPr>
          <p:cNvSpPr/>
          <p:nvPr/>
        </p:nvSpPr>
        <p:spPr>
          <a:xfrm>
            <a:off x="7399405" y="4937758"/>
            <a:ext cx="6096" cy="161543"/>
          </a:xfrm>
          <a:custGeom>
            <a:avLst/>
            <a:gdLst/>
            <a:ahLst/>
            <a:cxnLst/>
            <a:rect l="l" t="t" r="r" b="b"/>
            <a:pathLst>
              <a:path w="6096" h="161543">
                <a:moveTo>
                  <a:pt x="0" y="161543"/>
                </a:moveTo>
                <a:lnTo>
                  <a:pt x="6096" y="161543"/>
                </a:lnTo>
                <a:lnTo>
                  <a:pt x="6096" y="0"/>
                </a:lnTo>
                <a:lnTo>
                  <a:pt x="0" y="0"/>
                </a:lnTo>
                <a:close/>
              </a:path>
            </a:pathLst>
          </a:custGeom>
          <a:solidFill>
            <a:srgbClr val="000000"/>
          </a:solidFill>
        </p:spPr>
        <p:txBody>
          <a:bodyPr wrap="square" lIns="0" tIns="0" rIns="0" bIns="0" rtlCol="0">
            <a:noAutofit/>
          </a:bodyPr>
          <a:lstStyle/>
          <a:p>
            <a:endParaRPr/>
          </a:p>
        </p:txBody>
      </p:sp>
      <p:sp>
        <p:nvSpPr>
          <p:cNvPr id="1148" name="object 72">
            <a:extLst>
              <a:ext uri="{FF2B5EF4-FFF2-40B4-BE49-F238E27FC236}">
                <a16:creationId xmlns:a16="http://schemas.microsoft.com/office/drawing/2014/main" id="{E5FBBEEC-FC4C-B7C0-455B-032405D7322C}"/>
              </a:ext>
            </a:extLst>
          </p:cNvPr>
          <p:cNvSpPr/>
          <p:nvPr/>
        </p:nvSpPr>
        <p:spPr>
          <a:xfrm>
            <a:off x="7399405" y="5099301"/>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49" name="object 75">
            <a:extLst>
              <a:ext uri="{FF2B5EF4-FFF2-40B4-BE49-F238E27FC236}">
                <a16:creationId xmlns:a16="http://schemas.microsoft.com/office/drawing/2014/main" id="{66CD7B34-379C-7B02-8DAA-DA4F0B5BA8A7}"/>
              </a:ext>
            </a:extLst>
          </p:cNvPr>
          <p:cNvSpPr/>
          <p:nvPr/>
        </p:nvSpPr>
        <p:spPr>
          <a:xfrm>
            <a:off x="7399405" y="5105397"/>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1150" name="text 1">
            <a:extLst>
              <a:ext uri="{FF2B5EF4-FFF2-40B4-BE49-F238E27FC236}">
                <a16:creationId xmlns:a16="http://schemas.microsoft.com/office/drawing/2014/main" id="{205D367B-70E7-B2E9-F820-E1E4599B1F99}"/>
              </a:ext>
            </a:extLst>
          </p:cNvPr>
          <p:cNvSpPr txBox="1"/>
          <p:nvPr/>
        </p:nvSpPr>
        <p:spPr>
          <a:xfrm>
            <a:off x="3861115" y="4766109"/>
            <a:ext cx="3481385" cy="279820"/>
          </a:xfrm>
          <a:prstGeom prst="rect">
            <a:avLst/>
          </a:prstGeom>
        </p:spPr>
        <p:txBody>
          <a:bodyPr vert="horz" wrap="square" lIns="0" tIns="0" rIns="0" bIns="0" rtlCol="0">
            <a:spAutoFit/>
          </a:bodyPr>
          <a:lstStyle/>
          <a:p>
            <a:pPr marL="0">
              <a:lnSpc>
                <a:spcPct val="100000"/>
              </a:lnSpc>
            </a:pPr>
            <a:r>
              <a:rPr lang="en-US" sz="909" spc="10" dirty="0">
                <a:latin typeface="Arial"/>
                <a:cs typeface="Arial"/>
              </a:rPr>
              <a:t>Program Portfolio Manager, managing a $10M portfolio of ground maintenance programs.</a:t>
            </a:r>
            <a:endParaRPr sz="909" spc="10" dirty="0">
              <a:latin typeface="Arial"/>
              <a:cs typeface="Arial"/>
            </a:endParaRPr>
          </a:p>
        </p:txBody>
      </p:sp>
      <p:sp>
        <p:nvSpPr>
          <p:cNvPr id="1151" name="object 77">
            <a:extLst>
              <a:ext uri="{FF2B5EF4-FFF2-40B4-BE49-F238E27FC236}">
                <a16:creationId xmlns:a16="http://schemas.microsoft.com/office/drawing/2014/main" id="{0CCFA818-7A70-6427-6ED0-6A17AD41E74D}"/>
              </a:ext>
            </a:extLst>
          </p:cNvPr>
          <p:cNvSpPr/>
          <p:nvPr/>
        </p:nvSpPr>
        <p:spPr>
          <a:xfrm>
            <a:off x="2218568" y="5093893"/>
            <a:ext cx="1591310" cy="6096"/>
          </a:xfrm>
          <a:custGeom>
            <a:avLst/>
            <a:gdLst/>
            <a:ahLst/>
            <a:cxnLst/>
            <a:rect l="l" t="t" r="r" b="b"/>
            <a:pathLst>
              <a:path w="1591310" h="6096">
                <a:moveTo>
                  <a:pt x="0" y="6096"/>
                </a:moveTo>
                <a:lnTo>
                  <a:pt x="1591310" y="6096"/>
                </a:lnTo>
                <a:lnTo>
                  <a:pt x="1591310" y="1"/>
                </a:lnTo>
                <a:lnTo>
                  <a:pt x="0" y="1"/>
                </a:lnTo>
                <a:close/>
              </a:path>
            </a:pathLst>
          </a:custGeom>
          <a:solidFill>
            <a:srgbClr val="000000"/>
          </a:solidFill>
        </p:spPr>
        <p:txBody>
          <a:bodyPr wrap="square" lIns="0" tIns="0" rIns="0" bIns="0" rtlCol="0">
            <a:noAutofit/>
          </a:bodyPr>
          <a:lstStyle/>
          <a:p>
            <a:endParaRPr/>
          </a:p>
        </p:txBody>
      </p:sp>
      <p:sp>
        <p:nvSpPr>
          <p:cNvPr id="1152" name="object 79">
            <a:extLst>
              <a:ext uri="{FF2B5EF4-FFF2-40B4-BE49-F238E27FC236}">
                <a16:creationId xmlns:a16="http://schemas.microsoft.com/office/drawing/2014/main" id="{488CF35B-0401-1194-7E34-AB4C12801169}"/>
              </a:ext>
            </a:extLst>
          </p:cNvPr>
          <p:cNvSpPr/>
          <p:nvPr/>
        </p:nvSpPr>
        <p:spPr>
          <a:xfrm>
            <a:off x="3799970" y="5093855"/>
            <a:ext cx="3594481" cy="6096"/>
          </a:xfrm>
          <a:custGeom>
            <a:avLst/>
            <a:gdLst/>
            <a:ahLst/>
            <a:cxnLst/>
            <a:rect l="l" t="t" r="r" b="b"/>
            <a:pathLst>
              <a:path w="3594481" h="6096">
                <a:moveTo>
                  <a:pt x="0" y="6096"/>
                </a:moveTo>
                <a:lnTo>
                  <a:pt x="3594481" y="6096"/>
                </a:lnTo>
                <a:lnTo>
                  <a:pt x="3594481" y="1"/>
                </a:lnTo>
                <a:lnTo>
                  <a:pt x="0" y="1"/>
                </a:lnTo>
                <a:close/>
              </a:path>
            </a:pathLst>
          </a:custGeom>
          <a:solidFill>
            <a:srgbClr val="000000"/>
          </a:solidFill>
        </p:spPr>
        <p:txBody>
          <a:bodyPr wrap="square" lIns="0" tIns="0" rIns="0" bIns="0" rtlCol="0">
            <a:noAutofit/>
          </a:bodyPr>
          <a:lstStyle/>
          <a:p>
            <a:endParaRPr/>
          </a:p>
        </p:txBody>
      </p:sp>
      <p:sp>
        <p:nvSpPr>
          <p:cNvPr id="1153" name="object 80">
            <a:extLst>
              <a:ext uri="{FF2B5EF4-FFF2-40B4-BE49-F238E27FC236}">
                <a16:creationId xmlns:a16="http://schemas.microsoft.com/office/drawing/2014/main" id="{B3E4BCB7-08B2-AE35-7D7B-1BDA41D2248B}"/>
              </a:ext>
            </a:extLst>
          </p:cNvPr>
          <p:cNvSpPr/>
          <p:nvPr/>
        </p:nvSpPr>
        <p:spPr>
          <a:xfrm>
            <a:off x="7399405" y="5265417"/>
            <a:ext cx="6096" cy="6096"/>
          </a:xfrm>
          <a:custGeom>
            <a:avLst/>
            <a:gdLst/>
            <a:ahLst/>
            <a:cxnLst/>
            <a:rect l="l" t="t" r="r" b="b"/>
            <a:pathLst>
              <a:path w="6096" h="6096">
                <a:moveTo>
                  <a:pt x="0" y="6096"/>
                </a:moveTo>
                <a:lnTo>
                  <a:pt x="6096" y="6096"/>
                </a:lnTo>
                <a:lnTo>
                  <a:pt x="6096" y="1"/>
                </a:lnTo>
                <a:lnTo>
                  <a:pt x="0" y="1"/>
                </a:lnTo>
                <a:close/>
              </a:path>
            </a:pathLst>
          </a:custGeom>
          <a:solidFill>
            <a:srgbClr val="000000"/>
          </a:solidFill>
        </p:spPr>
        <p:txBody>
          <a:bodyPr wrap="square" lIns="0" tIns="0" rIns="0" bIns="0" rtlCol="0">
            <a:noAutofit/>
          </a:bodyPr>
          <a:lstStyle/>
          <a:p>
            <a:endParaRPr/>
          </a:p>
        </p:txBody>
      </p:sp>
      <p:sp>
        <p:nvSpPr>
          <p:cNvPr id="1154" name="object 83">
            <a:extLst>
              <a:ext uri="{FF2B5EF4-FFF2-40B4-BE49-F238E27FC236}">
                <a16:creationId xmlns:a16="http://schemas.microsoft.com/office/drawing/2014/main" id="{7C963887-1412-8871-97E1-F8815324D70F}"/>
              </a:ext>
            </a:extLst>
          </p:cNvPr>
          <p:cNvSpPr/>
          <p:nvPr/>
        </p:nvSpPr>
        <p:spPr>
          <a:xfrm>
            <a:off x="7399405" y="5271513"/>
            <a:ext cx="6096" cy="161544"/>
          </a:xfrm>
          <a:custGeom>
            <a:avLst/>
            <a:gdLst/>
            <a:ahLst/>
            <a:cxnLst/>
            <a:rect l="l" t="t" r="r" b="b"/>
            <a:pathLst>
              <a:path w="6096" h="161544">
                <a:moveTo>
                  <a:pt x="0" y="161544"/>
                </a:moveTo>
                <a:lnTo>
                  <a:pt x="6096" y="161544"/>
                </a:lnTo>
                <a:lnTo>
                  <a:pt x="6096" y="0"/>
                </a:lnTo>
                <a:lnTo>
                  <a:pt x="0" y="0"/>
                </a:lnTo>
                <a:close/>
              </a:path>
            </a:pathLst>
          </a:custGeom>
          <a:solidFill>
            <a:srgbClr val="000000"/>
          </a:solidFill>
        </p:spPr>
        <p:txBody>
          <a:bodyPr wrap="square" lIns="0" tIns="0" rIns="0" bIns="0" rtlCol="0">
            <a:noAutofit/>
          </a:bodyPr>
          <a:lstStyle/>
          <a:p>
            <a:endParaRPr/>
          </a:p>
        </p:txBody>
      </p:sp>
      <p:sp>
        <p:nvSpPr>
          <p:cNvPr id="1155" name="text 1">
            <a:extLst>
              <a:ext uri="{FF2B5EF4-FFF2-40B4-BE49-F238E27FC236}">
                <a16:creationId xmlns:a16="http://schemas.microsoft.com/office/drawing/2014/main" id="{0D850474-9462-BB8E-1E47-0EE4A1A65A97}"/>
              </a:ext>
            </a:extLst>
          </p:cNvPr>
          <p:cNvSpPr txBox="1"/>
          <p:nvPr/>
        </p:nvSpPr>
        <p:spPr>
          <a:xfrm>
            <a:off x="2857124" y="5115313"/>
            <a:ext cx="892232" cy="155299"/>
          </a:xfrm>
          <a:prstGeom prst="rect">
            <a:avLst/>
          </a:prstGeom>
        </p:spPr>
        <p:txBody>
          <a:bodyPr vert="horz" wrap="none" lIns="0" tIns="0" rIns="0" bIns="0" rtlCol="0">
            <a:spAutoFit/>
          </a:bodyPr>
          <a:lstStyle/>
          <a:p>
            <a:pPr marL="0">
              <a:lnSpc>
                <a:spcPct val="100000"/>
              </a:lnSpc>
            </a:pPr>
            <a:r>
              <a:rPr lang="en-US" sz="1009" b="1" spc="10" dirty="0">
                <a:latin typeface="Arial"/>
                <a:cs typeface="Arial"/>
              </a:rPr>
              <a:t>Achievements</a:t>
            </a:r>
            <a:endParaRPr sz="1000" dirty="0">
              <a:latin typeface="Arial"/>
              <a:cs typeface="Arial"/>
            </a:endParaRPr>
          </a:p>
        </p:txBody>
      </p:sp>
      <p:sp>
        <p:nvSpPr>
          <p:cNvPr id="1156" name="object 85">
            <a:extLst>
              <a:ext uri="{FF2B5EF4-FFF2-40B4-BE49-F238E27FC236}">
                <a16:creationId xmlns:a16="http://schemas.microsoft.com/office/drawing/2014/main" id="{F883D48E-CC3C-B6DC-E9D0-8C091D69749B}"/>
              </a:ext>
            </a:extLst>
          </p:cNvPr>
          <p:cNvSpPr/>
          <p:nvPr/>
        </p:nvSpPr>
        <p:spPr>
          <a:xfrm>
            <a:off x="2218568" y="5662769"/>
            <a:ext cx="1591310" cy="6097"/>
          </a:xfrm>
          <a:custGeom>
            <a:avLst/>
            <a:gdLst/>
            <a:ahLst/>
            <a:cxnLst/>
            <a:rect l="l" t="t" r="r" b="b"/>
            <a:pathLst>
              <a:path w="1591310" h="6097">
                <a:moveTo>
                  <a:pt x="0" y="6097"/>
                </a:moveTo>
                <a:lnTo>
                  <a:pt x="1591310" y="6097"/>
                </a:lnTo>
                <a:lnTo>
                  <a:pt x="1591310" y="1"/>
                </a:lnTo>
                <a:lnTo>
                  <a:pt x="0" y="1"/>
                </a:lnTo>
                <a:close/>
              </a:path>
            </a:pathLst>
          </a:custGeom>
          <a:solidFill>
            <a:srgbClr val="000000"/>
          </a:solidFill>
        </p:spPr>
        <p:txBody>
          <a:bodyPr wrap="square" lIns="0" tIns="0" rIns="0" bIns="0" rtlCol="0">
            <a:noAutofit/>
          </a:bodyPr>
          <a:lstStyle/>
          <a:p>
            <a:endParaRPr/>
          </a:p>
        </p:txBody>
      </p:sp>
      <p:sp>
        <p:nvSpPr>
          <p:cNvPr id="1157" name="object 87">
            <a:extLst>
              <a:ext uri="{FF2B5EF4-FFF2-40B4-BE49-F238E27FC236}">
                <a16:creationId xmlns:a16="http://schemas.microsoft.com/office/drawing/2014/main" id="{14742757-4D43-C9FA-22A8-1258EBCB2DB2}"/>
              </a:ext>
            </a:extLst>
          </p:cNvPr>
          <p:cNvSpPr/>
          <p:nvPr/>
        </p:nvSpPr>
        <p:spPr>
          <a:xfrm>
            <a:off x="3816101" y="5662769"/>
            <a:ext cx="3594481" cy="6097"/>
          </a:xfrm>
          <a:custGeom>
            <a:avLst/>
            <a:gdLst/>
            <a:ahLst/>
            <a:cxnLst/>
            <a:rect l="l" t="t" r="r" b="b"/>
            <a:pathLst>
              <a:path w="3594481" h="6097">
                <a:moveTo>
                  <a:pt x="0" y="6097"/>
                </a:moveTo>
                <a:lnTo>
                  <a:pt x="3594481" y="6097"/>
                </a:lnTo>
                <a:lnTo>
                  <a:pt x="3594481" y="1"/>
                </a:lnTo>
                <a:lnTo>
                  <a:pt x="0" y="1"/>
                </a:lnTo>
                <a:close/>
              </a:path>
            </a:pathLst>
          </a:custGeom>
          <a:solidFill>
            <a:srgbClr val="000000"/>
          </a:solidFill>
        </p:spPr>
        <p:txBody>
          <a:bodyPr wrap="square" lIns="0" tIns="0" rIns="0" bIns="0" rtlCol="0">
            <a:noAutofit/>
          </a:bodyPr>
          <a:lstStyle/>
          <a:p>
            <a:endParaRPr/>
          </a:p>
        </p:txBody>
      </p:sp>
      <p:sp>
        <p:nvSpPr>
          <p:cNvPr id="1158" name="object 88">
            <a:extLst>
              <a:ext uri="{FF2B5EF4-FFF2-40B4-BE49-F238E27FC236}">
                <a16:creationId xmlns:a16="http://schemas.microsoft.com/office/drawing/2014/main" id="{C91D297C-FBD6-80EB-FD51-94396AEE393F}"/>
              </a:ext>
            </a:extLst>
          </p:cNvPr>
          <p:cNvSpPr/>
          <p:nvPr/>
        </p:nvSpPr>
        <p:spPr>
          <a:xfrm>
            <a:off x="7399405" y="5433057"/>
            <a:ext cx="6096" cy="6097"/>
          </a:xfrm>
          <a:custGeom>
            <a:avLst/>
            <a:gdLst/>
            <a:ahLst/>
            <a:cxnLst/>
            <a:rect l="l" t="t" r="r" b="b"/>
            <a:pathLst>
              <a:path w="6096" h="6097">
                <a:moveTo>
                  <a:pt x="0" y="6097"/>
                </a:moveTo>
                <a:lnTo>
                  <a:pt x="6096" y="6097"/>
                </a:lnTo>
                <a:lnTo>
                  <a:pt x="6096" y="1"/>
                </a:lnTo>
                <a:lnTo>
                  <a:pt x="0" y="1"/>
                </a:lnTo>
                <a:close/>
              </a:path>
            </a:pathLst>
          </a:custGeom>
          <a:solidFill>
            <a:srgbClr val="000000"/>
          </a:solidFill>
        </p:spPr>
        <p:txBody>
          <a:bodyPr wrap="square" lIns="0" tIns="0" rIns="0" bIns="0" rtlCol="0">
            <a:noAutofit/>
          </a:bodyPr>
          <a:lstStyle/>
          <a:p>
            <a:endParaRPr/>
          </a:p>
        </p:txBody>
      </p:sp>
      <p:sp>
        <p:nvSpPr>
          <p:cNvPr id="1159" name="object 92">
            <a:extLst>
              <a:ext uri="{FF2B5EF4-FFF2-40B4-BE49-F238E27FC236}">
                <a16:creationId xmlns:a16="http://schemas.microsoft.com/office/drawing/2014/main" id="{9CB24618-F9E8-3F1E-0374-CB6F53EEB5BC}"/>
              </a:ext>
            </a:extLst>
          </p:cNvPr>
          <p:cNvSpPr/>
          <p:nvPr/>
        </p:nvSpPr>
        <p:spPr>
          <a:xfrm>
            <a:off x="2207264" y="5942167"/>
            <a:ext cx="1591310" cy="6096"/>
          </a:xfrm>
          <a:custGeom>
            <a:avLst/>
            <a:gdLst/>
            <a:ahLst/>
            <a:cxnLst/>
            <a:rect l="l" t="t" r="r" b="b"/>
            <a:pathLst>
              <a:path w="1591310" h="6096">
                <a:moveTo>
                  <a:pt x="0" y="6096"/>
                </a:moveTo>
                <a:lnTo>
                  <a:pt x="1591310" y="6096"/>
                </a:lnTo>
                <a:lnTo>
                  <a:pt x="1591310" y="1"/>
                </a:lnTo>
                <a:lnTo>
                  <a:pt x="0" y="1"/>
                </a:lnTo>
                <a:close/>
              </a:path>
            </a:pathLst>
          </a:custGeom>
          <a:solidFill>
            <a:srgbClr val="000000"/>
          </a:solidFill>
        </p:spPr>
        <p:txBody>
          <a:bodyPr wrap="square" lIns="0" tIns="0" rIns="0" bIns="0" rtlCol="0">
            <a:noAutofit/>
          </a:bodyPr>
          <a:lstStyle/>
          <a:p>
            <a:endParaRPr/>
          </a:p>
        </p:txBody>
      </p:sp>
      <p:sp>
        <p:nvSpPr>
          <p:cNvPr id="1160" name="object 95">
            <a:extLst>
              <a:ext uri="{FF2B5EF4-FFF2-40B4-BE49-F238E27FC236}">
                <a16:creationId xmlns:a16="http://schemas.microsoft.com/office/drawing/2014/main" id="{4DF76615-3934-EA7D-CC10-5AE1CD4747A2}"/>
              </a:ext>
            </a:extLst>
          </p:cNvPr>
          <p:cNvSpPr/>
          <p:nvPr/>
        </p:nvSpPr>
        <p:spPr>
          <a:xfrm>
            <a:off x="3804797" y="5942167"/>
            <a:ext cx="3594481" cy="6096"/>
          </a:xfrm>
          <a:custGeom>
            <a:avLst/>
            <a:gdLst/>
            <a:ahLst/>
            <a:cxnLst/>
            <a:rect l="l" t="t" r="r" b="b"/>
            <a:pathLst>
              <a:path w="3594481" h="6096">
                <a:moveTo>
                  <a:pt x="0" y="6096"/>
                </a:moveTo>
                <a:lnTo>
                  <a:pt x="3594481" y="6096"/>
                </a:lnTo>
                <a:lnTo>
                  <a:pt x="3594481" y="1"/>
                </a:lnTo>
                <a:lnTo>
                  <a:pt x="0" y="1"/>
                </a:lnTo>
                <a:close/>
              </a:path>
            </a:pathLst>
          </a:custGeom>
          <a:solidFill>
            <a:srgbClr val="000000"/>
          </a:solidFill>
        </p:spPr>
        <p:txBody>
          <a:bodyPr wrap="square" lIns="0" tIns="0" rIns="0" bIns="0" rtlCol="0">
            <a:noAutofit/>
          </a:bodyPr>
          <a:lstStyle/>
          <a:p>
            <a:endParaRPr/>
          </a:p>
        </p:txBody>
      </p:sp>
      <p:sp>
        <p:nvSpPr>
          <p:cNvPr id="1161" name="object 96">
            <a:extLst>
              <a:ext uri="{FF2B5EF4-FFF2-40B4-BE49-F238E27FC236}">
                <a16:creationId xmlns:a16="http://schemas.microsoft.com/office/drawing/2014/main" id="{B17B2AFC-74A8-A601-19F1-7E54197E2320}"/>
              </a:ext>
            </a:extLst>
          </p:cNvPr>
          <p:cNvSpPr/>
          <p:nvPr/>
        </p:nvSpPr>
        <p:spPr>
          <a:xfrm>
            <a:off x="7399405" y="5439152"/>
            <a:ext cx="6096" cy="437389"/>
          </a:xfrm>
          <a:custGeom>
            <a:avLst/>
            <a:gdLst/>
            <a:ahLst/>
            <a:cxnLst/>
            <a:rect l="l" t="t" r="r" b="b"/>
            <a:pathLst>
              <a:path w="6096" h="437389">
                <a:moveTo>
                  <a:pt x="0" y="437389"/>
                </a:moveTo>
                <a:lnTo>
                  <a:pt x="6096" y="437389"/>
                </a:lnTo>
                <a:lnTo>
                  <a:pt x="6096" y="1"/>
                </a:lnTo>
                <a:lnTo>
                  <a:pt x="0" y="1"/>
                </a:lnTo>
                <a:close/>
              </a:path>
            </a:pathLst>
          </a:custGeom>
          <a:solidFill>
            <a:srgbClr val="000000"/>
          </a:solidFill>
        </p:spPr>
        <p:txBody>
          <a:bodyPr wrap="square" lIns="0" tIns="0" rIns="0" bIns="0" rtlCol="0">
            <a:noAutofit/>
          </a:bodyPr>
          <a:lstStyle/>
          <a:p>
            <a:endParaRPr/>
          </a:p>
        </p:txBody>
      </p:sp>
      <p:sp>
        <p:nvSpPr>
          <p:cNvPr id="1162" name="object 97">
            <a:extLst>
              <a:ext uri="{FF2B5EF4-FFF2-40B4-BE49-F238E27FC236}">
                <a16:creationId xmlns:a16="http://schemas.microsoft.com/office/drawing/2014/main" id="{F8EDDE12-BF4F-AC22-6186-1E72FF3CBA69}"/>
              </a:ext>
            </a:extLst>
          </p:cNvPr>
          <p:cNvSpPr/>
          <p:nvPr/>
        </p:nvSpPr>
        <p:spPr>
          <a:xfrm>
            <a:off x="7399405" y="5876541"/>
            <a:ext cx="6096" cy="6096"/>
          </a:xfrm>
          <a:custGeom>
            <a:avLst/>
            <a:gdLst/>
            <a:ahLst/>
            <a:cxnLst/>
            <a:rect l="l" t="t" r="r" b="b"/>
            <a:pathLst>
              <a:path w="6096" h="6096">
                <a:moveTo>
                  <a:pt x="0" y="6096"/>
                </a:moveTo>
                <a:lnTo>
                  <a:pt x="6096" y="6096"/>
                </a:lnTo>
                <a:lnTo>
                  <a:pt x="6096" y="1"/>
                </a:lnTo>
                <a:lnTo>
                  <a:pt x="0" y="1"/>
                </a:lnTo>
                <a:close/>
              </a:path>
            </a:pathLst>
          </a:custGeom>
          <a:solidFill>
            <a:srgbClr val="000000"/>
          </a:solidFill>
        </p:spPr>
        <p:txBody>
          <a:bodyPr wrap="square" lIns="0" tIns="0" rIns="0" bIns="0" rtlCol="0">
            <a:noAutofit/>
          </a:bodyPr>
          <a:lstStyle/>
          <a:p>
            <a:endParaRPr/>
          </a:p>
        </p:txBody>
      </p:sp>
      <p:sp>
        <p:nvSpPr>
          <p:cNvPr id="1163" name="object 98">
            <a:extLst>
              <a:ext uri="{FF2B5EF4-FFF2-40B4-BE49-F238E27FC236}">
                <a16:creationId xmlns:a16="http://schemas.microsoft.com/office/drawing/2014/main" id="{EB998D9E-62BA-BF09-FF21-F49036664997}"/>
              </a:ext>
            </a:extLst>
          </p:cNvPr>
          <p:cNvSpPr/>
          <p:nvPr/>
        </p:nvSpPr>
        <p:spPr>
          <a:xfrm>
            <a:off x="7399405" y="5876541"/>
            <a:ext cx="6096" cy="6096"/>
          </a:xfrm>
          <a:custGeom>
            <a:avLst/>
            <a:gdLst/>
            <a:ahLst/>
            <a:cxnLst/>
            <a:rect l="l" t="t" r="r" b="b"/>
            <a:pathLst>
              <a:path w="6096" h="6096">
                <a:moveTo>
                  <a:pt x="0" y="6096"/>
                </a:moveTo>
                <a:lnTo>
                  <a:pt x="6096" y="6096"/>
                </a:lnTo>
                <a:lnTo>
                  <a:pt x="6096" y="1"/>
                </a:lnTo>
                <a:lnTo>
                  <a:pt x="0" y="1"/>
                </a:lnTo>
                <a:close/>
              </a:path>
            </a:pathLst>
          </a:custGeom>
          <a:solidFill>
            <a:srgbClr val="000000"/>
          </a:solidFill>
        </p:spPr>
        <p:txBody>
          <a:bodyPr wrap="square" lIns="0" tIns="0" rIns="0" bIns="0" rtlCol="0">
            <a:noAutofit/>
          </a:bodyPr>
          <a:lstStyle/>
          <a:p>
            <a:endParaRPr/>
          </a:p>
        </p:txBody>
      </p:sp>
      <p:sp>
        <p:nvSpPr>
          <p:cNvPr id="1164" name="text 1">
            <a:extLst>
              <a:ext uri="{FF2B5EF4-FFF2-40B4-BE49-F238E27FC236}">
                <a16:creationId xmlns:a16="http://schemas.microsoft.com/office/drawing/2014/main" id="{66B0E1F4-53C1-CFA4-4228-32D22F63C194}"/>
              </a:ext>
            </a:extLst>
          </p:cNvPr>
          <p:cNvSpPr txBox="1"/>
          <p:nvPr/>
        </p:nvSpPr>
        <p:spPr>
          <a:xfrm>
            <a:off x="3868932" y="5106497"/>
            <a:ext cx="3533586" cy="559640"/>
          </a:xfrm>
          <a:prstGeom prst="rect">
            <a:avLst/>
          </a:prstGeom>
        </p:spPr>
        <p:txBody>
          <a:bodyPr vert="horz" wrap="square" lIns="0" tIns="0" rIns="0" bIns="0" rtlCol="0">
            <a:spAutoFit/>
          </a:bodyPr>
          <a:lstStyle/>
          <a:p>
            <a:pPr marL="0">
              <a:lnSpc>
                <a:spcPct val="100000"/>
              </a:lnSpc>
            </a:pPr>
            <a:r>
              <a:rPr lang="en-US" sz="909" spc="10" dirty="0">
                <a:latin typeface="Arial"/>
                <a:cs typeface="Arial"/>
              </a:rPr>
              <a:t>Achieved on-time, within-budget delivery of projects, enhancing team productivity by 20%. Implemented cost optimization strategies, reducing maintenance operational costs by 20%, and increased diversity by 20%. And increasing</a:t>
            </a:r>
            <a:endParaRPr sz="909" spc="10" dirty="0">
              <a:latin typeface="Arial"/>
              <a:cs typeface="Arial"/>
            </a:endParaRPr>
          </a:p>
        </p:txBody>
      </p:sp>
      <p:sp>
        <p:nvSpPr>
          <p:cNvPr id="1165" name="text 1">
            <a:extLst>
              <a:ext uri="{FF2B5EF4-FFF2-40B4-BE49-F238E27FC236}">
                <a16:creationId xmlns:a16="http://schemas.microsoft.com/office/drawing/2014/main" id="{A34B1B91-C66A-B030-846C-7B3D1AD23BC6}"/>
              </a:ext>
            </a:extLst>
          </p:cNvPr>
          <p:cNvSpPr txBox="1"/>
          <p:nvPr/>
        </p:nvSpPr>
        <p:spPr>
          <a:xfrm>
            <a:off x="2244582" y="5676420"/>
            <a:ext cx="1544975" cy="139910"/>
          </a:xfrm>
          <a:prstGeom prst="rect">
            <a:avLst/>
          </a:prstGeom>
        </p:spPr>
        <p:txBody>
          <a:bodyPr vert="horz" wrap="none" lIns="0" tIns="0" rIns="0" bIns="0" rtlCol="0">
            <a:spAutoFit/>
          </a:bodyPr>
          <a:lstStyle/>
          <a:p>
            <a:pPr marL="0">
              <a:lnSpc>
                <a:spcPct val="100000"/>
              </a:lnSpc>
            </a:pPr>
            <a:r>
              <a:rPr lang="en-US" sz="909" b="1" spc="10" dirty="0">
                <a:latin typeface="Arial"/>
                <a:cs typeface="Arial"/>
              </a:rPr>
              <a:t>Skills &amp; Technologies Used</a:t>
            </a:r>
            <a:endParaRPr sz="900" dirty="0">
              <a:latin typeface="Arial"/>
              <a:cs typeface="Arial"/>
            </a:endParaRPr>
          </a:p>
        </p:txBody>
      </p:sp>
      <p:sp>
        <p:nvSpPr>
          <p:cNvPr id="1166" name="text 1">
            <a:extLst>
              <a:ext uri="{FF2B5EF4-FFF2-40B4-BE49-F238E27FC236}">
                <a16:creationId xmlns:a16="http://schemas.microsoft.com/office/drawing/2014/main" id="{05CF626D-29BC-530C-F2A6-E70E1CF28108}"/>
              </a:ext>
            </a:extLst>
          </p:cNvPr>
          <p:cNvSpPr txBox="1"/>
          <p:nvPr/>
        </p:nvSpPr>
        <p:spPr>
          <a:xfrm>
            <a:off x="3861115" y="5660041"/>
            <a:ext cx="3456629" cy="419730"/>
          </a:xfrm>
          <a:prstGeom prst="rect">
            <a:avLst/>
          </a:prstGeom>
        </p:spPr>
        <p:txBody>
          <a:bodyPr vert="horz" wrap="square" lIns="0" tIns="0" rIns="0" bIns="0" rtlCol="0">
            <a:spAutoFit/>
          </a:bodyPr>
          <a:lstStyle/>
          <a:p>
            <a:pPr marL="0">
              <a:lnSpc>
                <a:spcPct val="100000"/>
              </a:lnSpc>
            </a:pPr>
            <a:r>
              <a:rPr lang="en-US" sz="909" spc="10" dirty="0">
                <a:latin typeface="Arial"/>
                <a:cs typeface="Arial"/>
              </a:rPr>
              <a:t>Budget management, training development, logistics coordination, and asset management.</a:t>
            </a:r>
          </a:p>
          <a:p>
            <a:pPr marL="0">
              <a:lnSpc>
                <a:spcPct val="100000"/>
              </a:lnSpc>
            </a:pPr>
            <a:endParaRPr lang="en-US" sz="909" b="1" spc="10" dirty="0">
              <a:latin typeface="Arial"/>
              <a:cs typeface="Arial"/>
            </a:endParaRPr>
          </a:p>
        </p:txBody>
      </p:sp>
      <p:sp>
        <p:nvSpPr>
          <p:cNvPr id="1167" name="TextBox 1166">
            <a:extLst>
              <a:ext uri="{FF2B5EF4-FFF2-40B4-BE49-F238E27FC236}">
                <a16:creationId xmlns:a16="http://schemas.microsoft.com/office/drawing/2014/main" id="{2C027686-9839-4D66-ED53-D7C33BA618B0}"/>
              </a:ext>
            </a:extLst>
          </p:cNvPr>
          <p:cNvSpPr txBox="1"/>
          <p:nvPr/>
        </p:nvSpPr>
        <p:spPr>
          <a:xfrm>
            <a:off x="2141859" y="4382292"/>
            <a:ext cx="1711192" cy="247760"/>
          </a:xfrm>
          <a:prstGeom prst="rect">
            <a:avLst/>
          </a:prstGeom>
          <a:noFill/>
        </p:spPr>
        <p:txBody>
          <a:bodyPr wrap="square">
            <a:spAutoFit/>
          </a:bodyPr>
          <a:lstStyle/>
          <a:p>
            <a:r>
              <a:rPr lang="en-US" sz="1010" b="1" dirty="0">
                <a:solidFill>
                  <a:schemeClr val="bg1"/>
                </a:solidFill>
              </a:rPr>
              <a:t>U.S. Army | CW4 | 915E</a:t>
            </a:r>
          </a:p>
        </p:txBody>
      </p:sp>
      <p:cxnSp>
        <p:nvCxnSpPr>
          <p:cNvPr id="1168" name="Straight Connector 1167">
            <a:extLst>
              <a:ext uri="{FF2B5EF4-FFF2-40B4-BE49-F238E27FC236}">
                <a16:creationId xmlns:a16="http://schemas.microsoft.com/office/drawing/2014/main" id="{C7415DAC-E47D-AA6D-03CA-60C3FC06CB6F}"/>
              </a:ext>
            </a:extLst>
          </p:cNvPr>
          <p:cNvCxnSpPr/>
          <p:nvPr/>
        </p:nvCxnSpPr>
        <p:spPr>
          <a:xfrm>
            <a:off x="2198247" y="4763537"/>
            <a:ext cx="0" cy="11847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9" name="Straight Connector 1168">
            <a:extLst>
              <a:ext uri="{FF2B5EF4-FFF2-40B4-BE49-F238E27FC236}">
                <a16:creationId xmlns:a16="http://schemas.microsoft.com/office/drawing/2014/main" id="{ABFF128E-9B71-799A-CF7D-8C3093CE1D0D}"/>
              </a:ext>
            </a:extLst>
          </p:cNvPr>
          <p:cNvCxnSpPr/>
          <p:nvPr/>
        </p:nvCxnSpPr>
        <p:spPr>
          <a:xfrm>
            <a:off x="3804797" y="4753744"/>
            <a:ext cx="11304" cy="1194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70" name="object 36">
            <a:extLst>
              <a:ext uri="{FF2B5EF4-FFF2-40B4-BE49-F238E27FC236}">
                <a16:creationId xmlns:a16="http://schemas.microsoft.com/office/drawing/2014/main" id="{9F707BE6-93E9-4EA0-D42A-99BEC6027000}"/>
              </a:ext>
            </a:extLst>
          </p:cNvPr>
          <p:cNvSpPr/>
          <p:nvPr/>
        </p:nvSpPr>
        <p:spPr>
          <a:xfrm>
            <a:off x="2199387" y="6079848"/>
            <a:ext cx="5209731" cy="213824"/>
          </a:xfrm>
          <a:custGeom>
            <a:avLst/>
            <a:gdLst/>
            <a:ahLst/>
            <a:cxnLst/>
            <a:rect l="l" t="t" r="r" b="b"/>
            <a:pathLst>
              <a:path w="5060569" h="146305">
                <a:moveTo>
                  <a:pt x="0" y="146305"/>
                </a:moveTo>
                <a:lnTo>
                  <a:pt x="5060569" y="146305"/>
                </a:lnTo>
                <a:lnTo>
                  <a:pt x="5060569" y="0"/>
                </a:lnTo>
                <a:lnTo>
                  <a:pt x="0" y="0"/>
                </a:lnTo>
                <a:close/>
              </a:path>
            </a:pathLst>
          </a:custGeom>
          <a:solidFill>
            <a:srgbClr val="000000"/>
          </a:solidFill>
        </p:spPr>
        <p:txBody>
          <a:bodyPr wrap="square" lIns="0" tIns="0" rIns="0" bIns="0" rtlCol="0">
            <a:noAutofit/>
          </a:bodyPr>
          <a:lstStyle/>
          <a:p>
            <a:endParaRPr lang="en-US" sz="1050" b="1" dirty="0">
              <a:solidFill>
                <a:schemeClr val="bg1"/>
              </a:solidFill>
            </a:endParaRPr>
          </a:p>
        </p:txBody>
      </p:sp>
      <p:sp>
        <p:nvSpPr>
          <p:cNvPr id="1174" name="text 1">
            <a:extLst>
              <a:ext uri="{FF2B5EF4-FFF2-40B4-BE49-F238E27FC236}">
                <a16:creationId xmlns:a16="http://schemas.microsoft.com/office/drawing/2014/main" id="{D149E69C-6439-26D0-140D-28EC20EBEB3E}"/>
              </a:ext>
            </a:extLst>
          </p:cNvPr>
          <p:cNvSpPr txBox="1"/>
          <p:nvPr/>
        </p:nvSpPr>
        <p:spPr>
          <a:xfrm>
            <a:off x="3345418" y="6302076"/>
            <a:ext cx="408445" cy="155299"/>
          </a:xfrm>
          <a:prstGeom prst="rect">
            <a:avLst/>
          </a:prstGeom>
        </p:spPr>
        <p:txBody>
          <a:bodyPr vert="horz" wrap="none" lIns="0" tIns="0" rIns="0" bIns="0" rtlCol="0">
            <a:spAutoFit/>
          </a:bodyPr>
          <a:lstStyle/>
          <a:p>
            <a:pPr marL="0">
              <a:lnSpc>
                <a:spcPct val="100000"/>
              </a:lnSpc>
            </a:pPr>
            <a:r>
              <a:rPr lang="en-US" sz="1009" b="1" spc="10" dirty="0">
                <a:latin typeface="Arial"/>
                <a:cs typeface="Arial"/>
              </a:rPr>
              <a:t>Period</a:t>
            </a:r>
            <a:endParaRPr sz="1000" dirty="0">
              <a:latin typeface="Arial"/>
              <a:cs typeface="Arial"/>
            </a:endParaRPr>
          </a:p>
        </p:txBody>
      </p:sp>
      <p:sp>
        <p:nvSpPr>
          <p:cNvPr id="1175" name="text 1">
            <a:extLst>
              <a:ext uri="{FF2B5EF4-FFF2-40B4-BE49-F238E27FC236}">
                <a16:creationId xmlns:a16="http://schemas.microsoft.com/office/drawing/2014/main" id="{EA20878C-A136-C2A2-32F7-257078D6BE2D}"/>
              </a:ext>
            </a:extLst>
          </p:cNvPr>
          <p:cNvSpPr txBox="1"/>
          <p:nvPr/>
        </p:nvSpPr>
        <p:spPr>
          <a:xfrm>
            <a:off x="3848226" y="6296321"/>
            <a:ext cx="1187505" cy="139910"/>
          </a:xfrm>
          <a:prstGeom prst="rect">
            <a:avLst/>
          </a:prstGeom>
        </p:spPr>
        <p:txBody>
          <a:bodyPr vert="horz" wrap="none" lIns="0" tIns="0" rIns="0" bIns="0" rtlCol="0">
            <a:spAutoFit/>
          </a:bodyPr>
          <a:lstStyle/>
          <a:p>
            <a:pPr marL="0">
              <a:lnSpc>
                <a:spcPct val="100000"/>
              </a:lnSpc>
            </a:pPr>
            <a:r>
              <a:rPr lang="en-US" sz="909" spc="10" dirty="0">
                <a:latin typeface="Arial"/>
                <a:cs typeface="Arial"/>
              </a:rPr>
              <a:t>July 2015 – June 2017</a:t>
            </a:r>
            <a:endParaRPr sz="909" spc="10" dirty="0">
              <a:latin typeface="Arial"/>
              <a:cs typeface="Arial"/>
            </a:endParaRPr>
          </a:p>
        </p:txBody>
      </p:sp>
      <p:sp>
        <p:nvSpPr>
          <p:cNvPr id="1176" name="object 44">
            <a:extLst>
              <a:ext uri="{FF2B5EF4-FFF2-40B4-BE49-F238E27FC236}">
                <a16:creationId xmlns:a16="http://schemas.microsoft.com/office/drawing/2014/main" id="{7DA1AF0F-00E8-5ECB-A618-AB1C5A8E36CD}"/>
              </a:ext>
            </a:extLst>
          </p:cNvPr>
          <p:cNvSpPr/>
          <p:nvPr/>
        </p:nvSpPr>
        <p:spPr>
          <a:xfrm>
            <a:off x="2207008" y="6283003"/>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77" name="object 45">
            <a:extLst>
              <a:ext uri="{FF2B5EF4-FFF2-40B4-BE49-F238E27FC236}">
                <a16:creationId xmlns:a16="http://schemas.microsoft.com/office/drawing/2014/main" id="{A17778EE-6EAE-2712-1026-1F4CDA876D76}"/>
              </a:ext>
            </a:extLst>
          </p:cNvPr>
          <p:cNvSpPr/>
          <p:nvPr/>
        </p:nvSpPr>
        <p:spPr>
          <a:xfrm>
            <a:off x="2213104" y="6283003"/>
            <a:ext cx="1591310" cy="6096"/>
          </a:xfrm>
          <a:custGeom>
            <a:avLst/>
            <a:gdLst/>
            <a:ahLst/>
            <a:cxnLst/>
            <a:rect l="l" t="t" r="r" b="b"/>
            <a:pathLst>
              <a:path w="1591310" h="6096">
                <a:moveTo>
                  <a:pt x="0" y="6096"/>
                </a:moveTo>
                <a:lnTo>
                  <a:pt x="1591310" y="6096"/>
                </a:lnTo>
                <a:lnTo>
                  <a:pt x="1591310" y="0"/>
                </a:lnTo>
                <a:lnTo>
                  <a:pt x="0" y="0"/>
                </a:lnTo>
                <a:close/>
              </a:path>
            </a:pathLst>
          </a:custGeom>
          <a:solidFill>
            <a:srgbClr val="000000"/>
          </a:solidFill>
        </p:spPr>
        <p:txBody>
          <a:bodyPr wrap="square" lIns="0" tIns="0" rIns="0" bIns="0" rtlCol="0">
            <a:noAutofit/>
          </a:bodyPr>
          <a:lstStyle/>
          <a:p>
            <a:endParaRPr/>
          </a:p>
        </p:txBody>
      </p:sp>
      <p:sp>
        <p:nvSpPr>
          <p:cNvPr id="1178" name="object 46">
            <a:extLst>
              <a:ext uri="{FF2B5EF4-FFF2-40B4-BE49-F238E27FC236}">
                <a16:creationId xmlns:a16="http://schemas.microsoft.com/office/drawing/2014/main" id="{DF68C0D6-60F7-3309-122E-7D84F64276AC}"/>
              </a:ext>
            </a:extLst>
          </p:cNvPr>
          <p:cNvSpPr/>
          <p:nvPr/>
        </p:nvSpPr>
        <p:spPr>
          <a:xfrm>
            <a:off x="3804541" y="6283003"/>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79" name="object 47">
            <a:extLst>
              <a:ext uri="{FF2B5EF4-FFF2-40B4-BE49-F238E27FC236}">
                <a16:creationId xmlns:a16="http://schemas.microsoft.com/office/drawing/2014/main" id="{3B1817FF-9988-F2A5-C569-5027E02B1123}"/>
              </a:ext>
            </a:extLst>
          </p:cNvPr>
          <p:cNvSpPr/>
          <p:nvPr/>
        </p:nvSpPr>
        <p:spPr>
          <a:xfrm>
            <a:off x="3810637" y="6283003"/>
            <a:ext cx="3594481" cy="6096"/>
          </a:xfrm>
          <a:custGeom>
            <a:avLst/>
            <a:gdLst/>
            <a:ahLst/>
            <a:cxnLst/>
            <a:rect l="l" t="t" r="r" b="b"/>
            <a:pathLst>
              <a:path w="3594481" h="6096">
                <a:moveTo>
                  <a:pt x="0" y="6096"/>
                </a:moveTo>
                <a:lnTo>
                  <a:pt x="3594481" y="6096"/>
                </a:lnTo>
                <a:lnTo>
                  <a:pt x="3594481" y="0"/>
                </a:lnTo>
                <a:lnTo>
                  <a:pt x="0" y="0"/>
                </a:lnTo>
                <a:close/>
              </a:path>
            </a:pathLst>
          </a:custGeom>
          <a:solidFill>
            <a:srgbClr val="000000"/>
          </a:solidFill>
        </p:spPr>
        <p:txBody>
          <a:bodyPr wrap="square" lIns="0" tIns="0" rIns="0" bIns="0" rtlCol="0">
            <a:noAutofit/>
          </a:bodyPr>
          <a:lstStyle/>
          <a:p>
            <a:endParaRPr/>
          </a:p>
        </p:txBody>
      </p:sp>
      <p:sp>
        <p:nvSpPr>
          <p:cNvPr id="1180" name="object 48">
            <a:extLst>
              <a:ext uri="{FF2B5EF4-FFF2-40B4-BE49-F238E27FC236}">
                <a16:creationId xmlns:a16="http://schemas.microsoft.com/office/drawing/2014/main" id="{6114D646-3D14-F22A-6D39-37F661A5436F}"/>
              </a:ext>
            </a:extLst>
          </p:cNvPr>
          <p:cNvSpPr/>
          <p:nvPr/>
        </p:nvSpPr>
        <p:spPr>
          <a:xfrm>
            <a:off x="7405118" y="6283003"/>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81" name="object 49">
            <a:extLst>
              <a:ext uri="{FF2B5EF4-FFF2-40B4-BE49-F238E27FC236}">
                <a16:creationId xmlns:a16="http://schemas.microsoft.com/office/drawing/2014/main" id="{CB83A733-3E9D-2BEE-A05B-1D1034034D8F}"/>
              </a:ext>
            </a:extLst>
          </p:cNvPr>
          <p:cNvSpPr/>
          <p:nvPr/>
        </p:nvSpPr>
        <p:spPr>
          <a:xfrm>
            <a:off x="2207008" y="6289099"/>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1182" name="object 50">
            <a:extLst>
              <a:ext uri="{FF2B5EF4-FFF2-40B4-BE49-F238E27FC236}">
                <a16:creationId xmlns:a16="http://schemas.microsoft.com/office/drawing/2014/main" id="{462DB222-726C-2EC2-9AE1-96FA5C2FB6FF}"/>
              </a:ext>
            </a:extLst>
          </p:cNvPr>
          <p:cNvSpPr/>
          <p:nvPr/>
        </p:nvSpPr>
        <p:spPr>
          <a:xfrm>
            <a:off x="3804541" y="6289099"/>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1183" name="object 51">
            <a:extLst>
              <a:ext uri="{FF2B5EF4-FFF2-40B4-BE49-F238E27FC236}">
                <a16:creationId xmlns:a16="http://schemas.microsoft.com/office/drawing/2014/main" id="{8A53067F-9322-B796-9D18-EAE40574C1CF}"/>
              </a:ext>
            </a:extLst>
          </p:cNvPr>
          <p:cNvSpPr/>
          <p:nvPr/>
        </p:nvSpPr>
        <p:spPr>
          <a:xfrm>
            <a:off x="7405118" y="6289099"/>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1184" name="text 1">
            <a:extLst>
              <a:ext uri="{FF2B5EF4-FFF2-40B4-BE49-F238E27FC236}">
                <a16:creationId xmlns:a16="http://schemas.microsoft.com/office/drawing/2014/main" id="{DED91798-CA3A-5B32-9DB3-8088D933D903}"/>
              </a:ext>
            </a:extLst>
          </p:cNvPr>
          <p:cNvSpPr txBox="1"/>
          <p:nvPr/>
        </p:nvSpPr>
        <p:spPr>
          <a:xfrm>
            <a:off x="2477354" y="6470024"/>
            <a:ext cx="1330172" cy="155299"/>
          </a:xfrm>
          <a:prstGeom prst="rect">
            <a:avLst/>
          </a:prstGeom>
        </p:spPr>
        <p:txBody>
          <a:bodyPr vert="horz" wrap="none" lIns="0" tIns="0" rIns="0" bIns="0" rtlCol="0">
            <a:spAutoFit/>
          </a:bodyPr>
          <a:lstStyle/>
          <a:p>
            <a:pPr marL="0">
              <a:lnSpc>
                <a:spcPct val="100000"/>
              </a:lnSpc>
            </a:pPr>
            <a:r>
              <a:rPr lang="en-US" sz="1009" b="1" spc="10" dirty="0">
                <a:latin typeface="Arial"/>
                <a:cs typeface="Arial"/>
              </a:rPr>
              <a:t>Key Responsibilities</a:t>
            </a:r>
            <a:endParaRPr sz="1000" dirty="0">
              <a:latin typeface="Arial"/>
              <a:cs typeface="Arial"/>
            </a:endParaRPr>
          </a:p>
        </p:txBody>
      </p:sp>
      <p:sp>
        <p:nvSpPr>
          <p:cNvPr id="1185" name="object 52">
            <a:extLst>
              <a:ext uri="{FF2B5EF4-FFF2-40B4-BE49-F238E27FC236}">
                <a16:creationId xmlns:a16="http://schemas.microsoft.com/office/drawing/2014/main" id="{25C625D5-505F-A84E-9FA4-B12418BD76A8}"/>
              </a:ext>
            </a:extLst>
          </p:cNvPr>
          <p:cNvSpPr/>
          <p:nvPr/>
        </p:nvSpPr>
        <p:spPr>
          <a:xfrm>
            <a:off x="2207008" y="6449119"/>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86" name="object 53">
            <a:extLst>
              <a:ext uri="{FF2B5EF4-FFF2-40B4-BE49-F238E27FC236}">
                <a16:creationId xmlns:a16="http://schemas.microsoft.com/office/drawing/2014/main" id="{364116A5-E5DE-9639-5FE7-21021B760CF5}"/>
              </a:ext>
            </a:extLst>
          </p:cNvPr>
          <p:cNvSpPr/>
          <p:nvPr/>
        </p:nvSpPr>
        <p:spPr>
          <a:xfrm>
            <a:off x="2213104" y="6449119"/>
            <a:ext cx="1591310" cy="6096"/>
          </a:xfrm>
          <a:custGeom>
            <a:avLst/>
            <a:gdLst/>
            <a:ahLst/>
            <a:cxnLst/>
            <a:rect l="l" t="t" r="r" b="b"/>
            <a:pathLst>
              <a:path w="1591310" h="6096">
                <a:moveTo>
                  <a:pt x="0" y="6096"/>
                </a:moveTo>
                <a:lnTo>
                  <a:pt x="1591310" y="6096"/>
                </a:lnTo>
                <a:lnTo>
                  <a:pt x="1591310" y="0"/>
                </a:lnTo>
                <a:lnTo>
                  <a:pt x="0" y="0"/>
                </a:lnTo>
                <a:close/>
              </a:path>
            </a:pathLst>
          </a:custGeom>
          <a:solidFill>
            <a:srgbClr val="000000"/>
          </a:solidFill>
        </p:spPr>
        <p:txBody>
          <a:bodyPr wrap="square" lIns="0" tIns="0" rIns="0" bIns="0" rtlCol="0">
            <a:noAutofit/>
          </a:bodyPr>
          <a:lstStyle/>
          <a:p>
            <a:endParaRPr/>
          </a:p>
        </p:txBody>
      </p:sp>
      <p:sp>
        <p:nvSpPr>
          <p:cNvPr id="1187" name="object 54">
            <a:extLst>
              <a:ext uri="{FF2B5EF4-FFF2-40B4-BE49-F238E27FC236}">
                <a16:creationId xmlns:a16="http://schemas.microsoft.com/office/drawing/2014/main" id="{5CE6A304-3760-8DE5-8FEA-5B2456F254FC}"/>
              </a:ext>
            </a:extLst>
          </p:cNvPr>
          <p:cNvSpPr/>
          <p:nvPr/>
        </p:nvSpPr>
        <p:spPr>
          <a:xfrm>
            <a:off x="3804541" y="6449119"/>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88" name="object 55">
            <a:extLst>
              <a:ext uri="{FF2B5EF4-FFF2-40B4-BE49-F238E27FC236}">
                <a16:creationId xmlns:a16="http://schemas.microsoft.com/office/drawing/2014/main" id="{D9A86ADE-07DF-88DB-89E9-03A953C62D40}"/>
              </a:ext>
            </a:extLst>
          </p:cNvPr>
          <p:cNvSpPr/>
          <p:nvPr/>
        </p:nvSpPr>
        <p:spPr>
          <a:xfrm>
            <a:off x="3810637" y="6449119"/>
            <a:ext cx="3594481" cy="6096"/>
          </a:xfrm>
          <a:custGeom>
            <a:avLst/>
            <a:gdLst/>
            <a:ahLst/>
            <a:cxnLst/>
            <a:rect l="l" t="t" r="r" b="b"/>
            <a:pathLst>
              <a:path w="3594481" h="6096">
                <a:moveTo>
                  <a:pt x="0" y="6096"/>
                </a:moveTo>
                <a:lnTo>
                  <a:pt x="3594481" y="6096"/>
                </a:lnTo>
                <a:lnTo>
                  <a:pt x="3594481" y="0"/>
                </a:lnTo>
                <a:lnTo>
                  <a:pt x="0" y="0"/>
                </a:lnTo>
                <a:close/>
              </a:path>
            </a:pathLst>
          </a:custGeom>
          <a:solidFill>
            <a:srgbClr val="000000"/>
          </a:solidFill>
        </p:spPr>
        <p:txBody>
          <a:bodyPr wrap="square" lIns="0" tIns="0" rIns="0" bIns="0" rtlCol="0">
            <a:noAutofit/>
          </a:bodyPr>
          <a:lstStyle/>
          <a:p>
            <a:endParaRPr/>
          </a:p>
        </p:txBody>
      </p:sp>
      <p:sp>
        <p:nvSpPr>
          <p:cNvPr id="1189" name="object 56">
            <a:extLst>
              <a:ext uri="{FF2B5EF4-FFF2-40B4-BE49-F238E27FC236}">
                <a16:creationId xmlns:a16="http://schemas.microsoft.com/office/drawing/2014/main" id="{D9B3C204-8E94-80F0-7DB6-BFEFE345574F}"/>
              </a:ext>
            </a:extLst>
          </p:cNvPr>
          <p:cNvSpPr/>
          <p:nvPr/>
        </p:nvSpPr>
        <p:spPr>
          <a:xfrm>
            <a:off x="7405118" y="6449119"/>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90" name="object 59">
            <a:extLst>
              <a:ext uri="{FF2B5EF4-FFF2-40B4-BE49-F238E27FC236}">
                <a16:creationId xmlns:a16="http://schemas.microsoft.com/office/drawing/2014/main" id="{C0C92CE1-A901-455B-2E02-23A89A52C8C3}"/>
              </a:ext>
            </a:extLst>
          </p:cNvPr>
          <p:cNvSpPr/>
          <p:nvPr/>
        </p:nvSpPr>
        <p:spPr>
          <a:xfrm>
            <a:off x="7405118" y="6455215"/>
            <a:ext cx="6096" cy="161544"/>
          </a:xfrm>
          <a:custGeom>
            <a:avLst/>
            <a:gdLst/>
            <a:ahLst/>
            <a:cxnLst/>
            <a:rect l="l" t="t" r="r" b="b"/>
            <a:pathLst>
              <a:path w="6096" h="161544">
                <a:moveTo>
                  <a:pt x="0" y="161544"/>
                </a:moveTo>
                <a:lnTo>
                  <a:pt x="6096" y="161544"/>
                </a:lnTo>
                <a:lnTo>
                  <a:pt x="6096" y="0"/>
                </a:lnTo>
                <a:lnTo>
                  <a:pt x="0" y="0"/>
                </a:lnTo>
                <a:close/>
              </a:path>
            </a:pathLst>
          </a:custGeom>
          <a:solidFill>
            <a:srgbClr val="000000"/>
          </a:solidFill>
        </p:spPr>
        <p:txBody>
          <a:bodyPr wrap="square" lIns="0" tIns="0" rIns="0" bIns="0" rtlCol="0">
            <a:noAutofit/>
          </a:bodyPr>
          <a:lstStyle/>
          <a:p>
            <a:endParaRPr/>
          </a:p>
        </p:txBody>
      </p:sp>
      <p:sp>
        <p:nvSpPr>
          <p:cNvPr id="1191" name="object 64">
            <a:extLst>
              <a:ext uri="{FF2B5EF4-FFF2-40B4-BE49-F238E27FC236}">
                <a16:creationId xmlns:a16="http://schemas.microsoft.com/office/drawing/2014/main" id="{DFE8CF12-95D7-655B-5DA2-6FE8A690E278}"/>
              </a:ext>
            </a:extLst>
          </p:cNvPr>
          <p:cNvSpPr/>
          <p:nvPr/>
        </p:nvSpPr>
        <p:spPr>
          <a:xfrm>
            <a:off x="7405118" y="6616759"/>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92" name="object 67">
            <a:extLst>
              <a:ext uri="{FF2B5EF4-FFF2-40B4-BE49-F238E27FC236}">
                <a16:creationId xmlns:a16="http://schemas.microsoft.com/office/drawing/2014/main" id="{84F6A421-7CF6-47F6-F60F-DD53BED8D168}"/>
              </a:ext>
            </a:extLst>
          </p:cNvPr>
          <p:cNvSpPr/>
          <p:nvPr/>
        </p:nvSpPr>
        <p:spPr>
          <a:xfrm>
            <a:off x="7405118" y="6622856"/>
            <a:ext cx="6096" cy="161543"/>
          </a:xfrm>
          <a:custGeom>
            <a:avLst/>
            <a:gdLst/>
            <a:ahLst/>
            <a:cxnLst/>
            <a:rect l="l" t="t" r="r" b="b"/>
            <a:pathLst>
              <a:path w="6096" h="161543">
                <a:moveTo>
                  <a:pt x="0" y="161543"/>
                </a:moveTo>
                <a:lnTo>
                  <a:pt x="6096" y="161543"/>
                </a:lnTo>
                <a:lnTo>
                  <a:pt x="6096" y="0"/>
                </a:lnTo>
                <a:lnTo>
                  <a:pt x="0" y="0"/>
                </a:lnTo>
                <a:close/>
              </a:path>
            </a:pathLst>
          </a:custGeom>
          <a:solidFill>
            <a:srgbClr val="000000"/>
          </a:solidFill>
        </p:spPr>
        <p:txBody>
          <a:bodyPr wrap="square" lIns="0" tIns="0" rIns="0" bIns="0" rtlCol="0">
            <a:noAutofit/>
          </a:bodyPr>
          <a:lstStyle/>
          <a:p>
            <a:endParaRPr/>
          </a:p>
        </p:txBody>
      </p:sp>
      <p:sp>
        <p:nvSpPr>
          <p:cNvPr id="1193" name="object 72">
            <a:extLst>
              <a:ext uri="{FF2B5EF4-FFF2-40B4-BE49-F238E27FC236}">
                <a16:creationId xmlns:a16="http://schemas.microsoft.com/office/drawing/2014/main" id="{CD8E9EF6-4BC0-E129-C6F2-2F20B6566B4C}"/>
              </a:ext>
            </a:extLst>
          </p:cNvPr>
          <p:cNvSpPr/>
          <p:nvPr/>
        </p:nvSpPr>
        <p:spPr>
          <a:xfrm>
            <a:off x="7405118" y="6784399"/>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194" name="object 75">
            <a:extLst>
              <a:ext uri="{FF2B5EF4-FFF2-40B4-BE49-F238E27FC236}">
                <a16:creationId xmlns:a16="http://schemas.microsoft.com/office/drawing/2014/main" id="{81A2E859-6C00-2C71-159C-F3624912291A}"/>
              </a:ext>
            </a:extLst>
          </p:cNvPr>
          <p:cNvSpPr/>
          <p:nvPr/>
        </p:nvSpPr>
        <p:spPr>
          <a:xfrm>
            <a:off x="7405118" y="6790495"/>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1195" name="text 1">
            <a:extLst>
              <a:ext uri="{FF2B5EF4-FFF2-40B4-BE49-F238E27FC236}">
                <a16:creationId xmlns:a16="http://schemas.microsoft.com/office/drawing/2014/main" id="{02080227-C3D0-60AA-E9CD-E2C11EE0596F}"/>
              </a:ext>
            </a:extLst>
          </p:cNvPr>
          <p:cNvSpPr txBox="1"/>
          <p:nvPr/>
        </p:nvSpPr>
        <p:spPr>
          <a:xfrm>
            <a:off x="3866828" y="6451207"/>
            <a:ext cx="3372171" cy="279820"/>
          </a:xfrm>
          <a:prstGeom prst="rect">
            <a:avLst/>
          </a:prstGeom>
        </p:spPr>
        <p:txBody>
          <a:bodyPr vert="horz" wrap="square" lIns="0" tIns="0" rIns="0" bIns="0" rtlCol="0">
            <a:spAutoFit/>
          </a:bodyPr>
          <a:lstStyle/>
          <a:p>
            <a:pPr marL="0">
              <a:lnSpc>
                <a:spcPct val="100000"/>
              </a:lnSpc>
            </a:pPr>
            <a:r>
              <a:rPr lang="en-US" sz="909" spc="10" dirty="0">
                <a:latin typeface="Arial"/>
                <a:cs typeface="Arial"/>
              </a:rPr>
              <a:t>Project Manager, leading preventative maintenance and training programs.</a:t>
            </a:r>
            <a:endParaRPr sz="909" spc="10" dirty="0">
              <a:latin typeface="Arial"/>
              <a:cs typeface="Arial"/>
            </a:endParaRPr>
          </a:p>
        </p:txBody>
      </p:sp>
      <p:sp>
        <p:nvSpPr>
          <p:cNvPr id="1196" name="object 77">
            <a:extLst>
              <a:ext uri="{FF2B5EF4-FFF2-40B4-BE49-F238E27FC236}">
                <a16:creationId xmlns:a16="http://schemas.microsoft.com/office/drawing/2014/main" id="{B81CEAFC-3FE8-8D50-91C9-59E33D1C5A89}"/>
              </a:ext>
            </a:extLst>
          </p:cNvPr>
          <p:cNvSpPr/>
          <p:nvPr/>
        </p:nvSpPr>
        <p:spPr>
          <a:xfrm>
            <a:off x="2224281" y="6778991"/>
            <a:ext cx="1591310" cy="6096"/>
          </a:xfrm>
          <a:custGeom>
            <a:avLst/>
            <a:gdLst/>
            <a:ahLst/>
            <a:cxnLst/>
            <a:rect l="l" t="t" r="r" b="b"/>
            <a:pathLst>
              <a:path w="1591310" h="6096">
                <a:moveTo>
                  <a:pt x="0" y="6096"/>
                </a:moveTo>
                <a:lnTo>
                  <a:pt x="1591310" y="6096"/>
                </a:lnTo>
                <a:lnTo>
                  <a:pt x="1591310" y="1"/>
                </a:lnTo>
                <a:lnTo>
                  <a:pt x="0" y="1"/>
                </a:lnTo>
                <a:close/>
              </a:path>
            </a:pathLst>
          </a:custGeom>
          <a:solidFill>
            <a:srgbClr val="000000"/>
          </a:solidFill>
        </p:spPr>
        <p:txBody>
          <a:bodyPr wrap="square" lIns="0" tIns="0" rIns="0" bIns="0" rtlCol="0">
            <a:noAutofit/>
          </a:bodyPr>
          <a:lstStyle/>
          <a:p>
            <a:endParaRPr/>
          </a:p>
        </p:txBody>
      </p:sp>
      <p:sp>
        <p:nvSpPr>
          <p:cNvPr id="1197" name="object 79">
            <a:extLst>
              <a:ext uri="{FF2B5EF4-FFF2-40B4-BE49-F238E27FC236}">
                <a16:creationId xmlns:a16="http://schemas.microsoft.com/office/drawing/2014/main" id="{7128B743-2491-C189-24B1-85D8FE1F9D08}"/>
              </a:ext>
            </a:extLst>
          </p:cNvPr>
          <p:cNvSpPr/>
          <p:nvPr/>
        </p:nvSpPr>
        <p:spPr>
          <a:xfrm>
            <a:off x="3805683" y="6778953"/>
            <a:ext cx="3594481" cy="6096"/>
          </a:xfrm>
          <a:custGeom>
            <a:avLst/>
            <a:gdLst/>
            <a:ahLst/>
            <a:cxnLst/>
            <a:rect l="l" t="t" r="r" b="b"/>
            <a:pathLst>
              <a:path w="3594481" h="6096">
                <a:moveTo>
                  <a:pt x="0" y="6096"/>
                </a:moveTo>
                <a:lnTo>
                  <a:pt x="3594481" y="6096"/>
                </a:lnTo>
                <a:lnTo>
                  <a:pt x="3594481" y="1"/>
                </a:lnTo>
                <a:lnTo>
                  <a:pt x="0" y="1"/>
                </a:lnTo>
                <a:close/>
              </a:path>
            </a:pathLst>
          </a:custGeom>
          <a:solidFill>
            <a:srgbClr val="000000"/>
          </a:solidFill>
        </p:spPr>
        <p:txBody>
          <a:bodyPr wrap="square" lIns="0" tIns="0" rIns="0" bIns="0" rtlCol="0">
            <a:noAutofit/>
          </a:bodyPr>
          <a:lstStyle/>
          <a:p>
            <a:endParaRPr/>
          </a:p>
        </p:txBody>
      </p:sp>
      <p:sp>
        <p:nvSpPr>
          <p:cNvPr id="1198" name="object 80">
            <a:extLst>
              <a:ext uri="{FF2B5EF4-FFF2-40B4-BE49-F238E27FC236}">
                <a16:creationId xmlns:a16="http://schemas.microsoft.com/office/drawing/2014/main" id="{BE577F8E-73EF-63F8-8BFF-70DA4DBBF85C}"/>
              </a:ext>
            </a:extLst>
          </p:cNvPr>
          <p:cNvSpPr/>
          <p:nvPr/>
        </p:nvSpPr>
        <p:spPr>
          <a:xfrm>
            <a:off x="7405118" y="6950515"/>
            <a:ext cx="6096" cy="6096"/>
          </a:xfrm>
          <a:custGeom>
            <a:avLst/>
            <a:gdLst/>
            <a:ahLst/>
            <a:cxnLst/>
            <a:rect l="l" t="t" r="r" b="b"/>
            <a:pathLst>
              <a:path w="6096" h="6096">
                <a:moveTo>
                  <a:pt x="0" y="6096"/>
                </a:moveTo>
                <a:lnTo>
                  <a:pt x="6096" y="6096"/>
                </a:lnTo>
                <a:lnTo>
                  <a:pt x="6096" y="1"/>
                </a:lnTo>
                <a:lnTo>
                  <a:pt x="0" y="1"/>
                </a:lnTo>
                <a:close/>
              </a:path>
            </a:pathLst>
          </a:custGeom>
          <a:solidFill>
            <a:srgbClr val="000000"/>
          </a:solidFill>
        </p:spPr>
        <p:txBody>
          <a:bodyPr wrap="square" lIns="0" tIns="0" rIns="0" bIns="0" rtlCol="0">
            <a:noAutofit/>
          </a:bodyPr>
          <a:lstStyle/>
          <a:p>
            <a:endParaRPr/>
          </a:p>
        </p:txBody>
      </p:sp>
      <p:sp>
        <p:nvSpPr>
          <p:cNvPr id="1199" name="object 83">
            <a:extLst>
              <a:ext uri="{FF2B5EF4-FFF2-40B4-BE49-F238E27FC236}">
                <a16:creationId xmlns:a16="http://schemas.microsoft.com/office/drawing/2014/main" id="{A8B0B9C3-6B56-72C3-0D98-6359367FD50B}"/>
              </a:ext>
            </a:extLst>
          </p:cNvPr>
          <p:cNvSpPr/>
          <p:nvPr/>
        </p:nvSpPr>
        <p:spPr>
          <a:xfrm>
            <a:off x="7405118" y="6956611"/>
            <a:ext cx="6096" cy="161544"/>
          </a:xfrm>
          <a:custGeom>
            <a:avLst/>
            <a:gdLst/>
            <a:ahLst/>
            <a:cxnLst/>
            <a:rect l="l" t="t" r="r" b="b"/>
            <a:pathLst>
              <a:path w="6096" h="161544">
                <a:moveTo>
                  <a:pt x="0" y="161544"/>
                </a:moveTo>
                <a:lnTo>
                  <a:pt x="6096" y="161544"/>
                </a:lnTo>
                <a:lnTo>
                  <a:pt x="6096" y="0"/>
                </a:lnTo>
                <a:lnTo>
                  <a:pt x="0" y="0"/>
                </a:lnTo>
                <a:close/>
              </a:path>
            </a:pathLst>
          </a:custGeom>
          <a:solidFill>
            <a:srgbClr val="000000"/>
          </a:solidFill>
        </p:spPr>
        <p:txBody>
          <a:bodyPr wrap="square" lIns="0" tIns="0" rIns="0" bIns="0" rtlCol="0">
            <a:noAutofit/>
          </a:bodyPr>
          <a:lstStyle/>
          <a:p>
            <a:endParaRPr/>
          </a:p>
        </p:txBody>
      </p:sp>
      <p:sp>
        <p:nvSpPr>
          <p:cNvPr id="1200" name="text 1">
            <a:extLst>
              <a:ext uri="{FF2B5EF4-FFF2-40B4-BE49-F238E27FC236}">
                <a16:creationId xmlns:a16="http://schemas.microsoft.com/office/drawing/2014/main" id="{585E2C28-3C37-43E0-E595-BA4397654BCD}"/>
              </a:ext>
            </a:extLst>
          </p:cNvPr>
          <p:cNvSpPr txBox="1"/>
          <p:nvPr/>
        </p:nvSpPr>
        <p:spPr>
          <a:xfrm>
            <a:off x="2862837" y="6800411"/>
            <a:ext cx="892232" cy="155299"/>
          </a:xfrm>
          <a:prstGeom prst="rect">
            <a:avLst/>
          </a:prstGeom>
        </p:spPr>
        <p:txBody>
          <a:bodyPr vert="horz" wrap="none" lIns="0" tIns="0" rIns="0" bIns="0" rtlCol="0">
            <a:spAutoFit/>
          </a:bodyPr>
          <a:lstStyle/>
          <a:p>
            <a:pPr marL="0">
              <a:lnSpc>
                <a:spcPct val="100000"/>
              </a:lnSpc>
            </a:pPr>
            <a:r>
              <a:rPr lang="en-US" sz="1009" b="1" spc="10" dirty="0">
                <a:latin typeface="Arial"/>
                <a:cs typeface="Arial"/>
              </a:rPr>
              <a:t>Achievements</a:t>
            </a:r>
            <a:endParaRPr sz="1000" dirty="0">
              <a:latin typeface="Arial"/>
              <a:cs typeface="Arial"/>
            </a:endParaRPr>
          </a:p>
        </p:txBody>
      </p:sp>
      <p:sp>
        <p:nvSpPr>
          <p:cNvPr id="1201" name="object 85">
            <a:extLst>
              <a:ext uri="{FF2B5EF4-FFF2-40B4-BE49-F238E27FC236}">
                <a16:creationId xmlns:a16="http://schemas.microsoft.com/office/drawing/2014/main" id="{C79CE63E-4FBA-8DC1-6211-4E622FB68FCD}"/>
              </a:ext>
            </a:extLst>
          </p:cNvPr>
          <p:cNvSpPr/>
          <p:nvPr/>
        </p:nvSpPr>
        <p:spPr>
          <a:xfrm>
            <a:off x="2224281" y="7347867"/>
            <a:ext cx="1591310" cy="6097"/>
          </a:xfrm>
          <a:custGeom>
            <a:avLst/>
            <a:gdLst/>
            <a:ahLst/>
            <a:cxnLst/>
            <a:rect l="l" t="t" r="r" b="b"/>
            <a:pathLst>
              <a:path w="1591310" h="6097">
                <a:moveTo>
                  <a:pt x="0" y="6097"/>
                </a:moveTo>
                <a:lnTo>
                  <a:pt x="1591310" y="6097"/>
                </a:lnTo>
                <a:lnTo>
                  <a:pt x="1591310" y="1"/>
                </a:lnTo>
                <a:lnTo>
                  <a:pt x="0" y="1"/>
                </a:lnTo>
                <a:close/>
              </a:path>
            </a:pathLst>
          </a:custGeom>
          <a:solidFill>
            <a:srgbClr val="000000"/>
          </a:solidFill>
        </p:spPr>
        <p:txBody>
          <a:bodyPr wrap="square" lIns="0" tIns="0" rIns="0" bIns="0" rtlCol="0">
            <a:noAutofit/>
          </a:bodyPr>
          <a:lstStyle/>
          <a:p>
            <a:endParaRPr/>
          </a:p>
        </p:txBody>
      </p:sp>
      <p:sp>
        <p:nvSpPr>
          <p:cNvPr id="1202" name="object 87">
            <a:extLst>
              <a:ext uri="{FF2B5EF4-FFF2-40B4-BE49-F238E27FC236}">
                <a16:creationId xmlns:a16="http://schemas.microsoft.com/office/drawing/2014/main" id="{4F6DAC71-713B-DF04-D2A9-C301993CCF58}"/>
              </a:ext>
            </a:extLst>
          </p:cNvPr>
          <p:cNvSpPr/>
          <p:nvPr/>
        </p:nvSpPr>
        <p:spPr>
          <a:xfrm>
            <a:off x="3821814" y="7347867"/>
            <a:ext cx="3594481" cy="6097"/>
          </a:xfrm>
          <a:custGeom>
            <a:avLst/>
            <a:gdLst/>
            <a:ahLst/>
            <a:cxnLst/>
            <a:rect l="l" t="t" r="r" b="b"/>
            <a:pathLst>
              <a:path w="3594481" h="6097">
                <a:moveTo>
                  <a:pt x="0" y="6097"/>
                </a:moveTo>
                <a:lnTo>
                  <a:pt x="3594481" y="6097"/>
                </a:lnTo>
                <a:lnTo>
                  <a:pt x="3594481" y="1"/>
                </a:lnTo>
                <a:lnTo>
                  <a:pt x="0" y="1"/>
                </a:lnTo>
                <a:close/>
              </a:path>
            </a:pathLst>
          </a:custGeom>
          <a:solidFill>
            <a:srgbClr val="000000"/>
          </a:solidFill>
        </p:spPr>
        <p:txBody>
          <a:bodyPr wrap="square" lIns="0" tIns="0" rIns="0" bIns="0" rtlCol="0">
            <a:noAutofit/>
          </a:bodyPr>
          <a:lstStyle/>
          <a:p>
            <a:endParaRPr/>
          </a:p>
        </p:txBody>
      </p:sp>
      <p:sp>
        <p:nvSpPr>
          <p:cNvPr id="1203" name="object 88">
            <a:extLst>
              <a:ext uri="{FF2B5EF4-FFF2-40B4-BE49-F238E27FC236}">
                <a16:creationId xmlns:a16="http://schemas.microsoft.com/office/drawing/2014/main" id="{11C982B8-FF56-24AD-0088-74372D4DDA1A}"/>
              </a:ext>
            </a:extLst>
          </p:cNvPr>
          <p:cNvSpPr/>
          <p:nvPr/>
        </p:nvSpPr>
        <p:spPr>
          <a:xfrm>
            <a:off x="7405118" y="7118155"/>
            <a:ext cx="6096" cy="6097"/>
          </a:xfrm>
          <a:custGeom>
            <a:avLst/>
            <a:gdLst/>
            <a:ahLst/>
            <a:cxnLst/>
            <a:rect l="l" t="t" r="r" b="b"/>
            <a:pathLst>
              <a:path w="6096" h="6097">
                <a:moveTo>
                  <a:pt x="0" y="6097"/>
                </a:moveTo>
                <a:lnTo>
                  <a:pt x="6096" y="6097"/>
                </a:lnTo>
                <a:lnTo>
                  <a:pt x="6096" y="1"/>
                </a:lnTo>
                <a:lnTo>
                  <a:pt x="0" y="1"/>
                </a:lnTo>
                <a:close/>
              </a:path>
            </a:pathLst>
          </a:custGeom>
          <a:solidFill>
            <a:srgbClr val="000000"/>
          </a:solidFill>
        </p:spPr>
        <p:txBody>
          <a:bodyPr wrap="square" lIns="0" tIns="0" rIns="0" bIns="0" rtlCol="0">
            <a:noAutofit/>
          </a:bodyPr>
          <a:lstStyle/>
          <a:p>
            <a:endParaRPr/>
          </a:p>
        </p:txBody>
      </p:sp>
      <p:sp>
        <p:nvSpPr>
          <p:cNvPr id="1204" name="object 92">
            <a:extLst>
              <a:ext uri="{FF2B5EF4-FFF2-40B4-BE49-F238E27FC236}">
                <a16:creationId xmlns:a16="http://schemas.microsoft.com/office/drawing/2014/main" id="{2E82BC89-87D1-12DC-638D-B38C66599B5D}"/>
              </a:ext>
            </a:extLst>
          </p:cNvPr>
          <p:cNvSpPr/>
          <p:nvPr/>
        </p:nvSpPr>
        <p:spPr>
          <a:xfrm>
            <a:off x="2212977" y="7627265"/>
            <a:ext cx="1591310" cy="6096"/>
          </a:xfrm>
          <a:custGeom>
            <a:avLst/>
            <a:gdLst/>
            <a:ahLst/>
            <a:cxnLst/>
            <a:rect l="l" t="t" r="r" b="b"/>
            <a:pathLst>
              <a:path w="1591310" h="6096">
                <a:moveTo>
                  <a:pt x="0" y="6096"/>
                </a:moveTo>
                <a:lnTo>
                  <a:pt x="1591310" y="6096"/>
                </a:lnTo>
                <a:lnTo>
                  <a:pt x="1591310" y="1"/>
                </a:lnTo>
                <a:lnTo>
                  <a:pt x="0" y="1"/>
                </a:lnTo>
                <a:close/>
              </a:path>
            </a:pathLst>
          </a:custGeom>
          <a:solidFill>
            <a:srgbClr val="000000"/>
          </a:solidFill>
        </p:spPr>
        <p:txBody>
          <a:bodyPr wrap="square" lIns="0" tIns="0" rIns="0" bIns="0" rtlCol="0">
            <a:noAutofit/>
          </a:bodyPr>
          <a:lstStyle/>
          <a:p>
            <a:endParaRPr/>
          </a:p>
        </p:txBody>
      </p:sp>
      <p:sp>
        <p:nvSpPr>
          <p:cNvPr id="1205" name="object 95">
            <a:extLst>
              <a:ext uri="{FF2B5EF4-FFF2-40B4-BE49-F238E27FC236}">
                <a16:creationId xmlns:a16="http://schemas.microsoft.com/office/drawing/2014/main" id="{E267B2B2-CE75-AC3A-0C73-550705B4F794}"/>
              </a:ext>
            </a:extLst>
          </p:cNvPr>
          <p:cNvSpPr/>
          <p:nvPr/>
        </p:nvSpPr>
        <p:spPr>
          <a:xfrm>
            <a:off x="3810510" y="7627265"/>
            <a:ext cx="3594481" cy="6096"/>
          </a:xfrm>
          <a:custGeom>
            <a:avLst/>
            <a:gdLst/>
            <a:ahLst/>
            <a:cxnLst/>
            <a:rect l="l" t="t" r="r" b="b"/>
            <a:pathLst>
              <a:path w="3594481" h="6096">
                <a:moveTo>
                  <a:pt x="0" y="6096"/>
                </a:moveTo>
                <a:lnTo>
                  <a:pt x="3594481" y="6096"/>
                </a:lnTo>
                <a:lnTo>
                  <a:pt x="3594481" y="1"/>
                </a:lnTo>
                <a:lnTo>
                  <a:pt x="0" y="1"/>
                </a:lnTo>
                <a:close/>
              </a:path>
            </a:pathLst>
          </a:custGeom>
          <a:solidFill>
            <a:srgbClr val="000000"/>
          </a:solidFill>
        </p:spPr>
        <p:txBody>
          <a:bodyPr wrap="square" lIns="0" tIns="0" rIns="0" bIns="0" rtlCol="0">
            <a:noAutofit/>
          </a:bodyPr>
          <a:lstStyle/>
          <a:p>
            <a:endParaRPr/>
          </a:p>
        </p:txBody>
      </p:sp>
      <p:sp>
        <p:nvSpPr>
          <p:cNvPr id="1206" name="object 96">
            <a:extLst>
              <a:ext uri="{FF2B5EF4-FFF2-40B4-BE49-F238E27FC236}">
                <a16:creationId xmlns:a16="http://schemas.microsoft.com/office/drawing/2014/main" id="{AE4EDC40-68BC-0A00-FBD9-D8C947FA98CC}"/>
              </a:ext>
            </a:extLst>
          </p:cNvPr>
          <p:cNvSpPr/>
          <p:nvPr/>
        </p:nvSpPr>
        <p:spPr>
          <a:xfrm>
            <a:off x="7405118" y="7124250"/>
            <a:ext cx="6096" cy="437389"/>
          </a:xfrm>
          <a:custGeom>
            <a:avLst/>
            <a:gdLst/>
            <a:ahLst/>
            <a:cxnLst/>
            <a:rect l="l" t="t" r="r" b="b"/>
            <a:pathLst>
              <a:path w="6096" h="437389">
                <a:moveTo>
                  <a:pt x="0" y="437389"/>
                </a:moveTo>
                <a:lnTo>
                  <a:pt x="6096" y="437389"/>
                </a:lnTo>
                <a:lnTo>
                  <a:pt x="6096" y="1"/>
                </a:lnTo>
                <a:lnTo>
                  <a:pt x="0" y="1"/>
                </a:lnTo>
                <a:close/>
              </a:path>
            </a:pathLst>
          </a:custGeom>
          <a:solidFill>
            <a:srgbClr val="000000"/>
          </a:solidFill>
        </p:spPr>
        <p:txBody>
          <a:bodyPr wrap="square" lIns="0" tIns="0" rIns="0" bIns="0" rtlCol="0">
            <a:noAutofit/>
          </a:bodyPr>
          <a:lstStyle/>
          <a:p>
            <a:endParaRPr/>
          </a:p>
        </p:txBody>
      </p:sp>
      <p:sp>
        <p:nvSpPr>
          <p:cNvPr id="1207" name="object 97">
            <a:extLst>
              <a:ext uri="{FF2B5EF4-FFF2-40B4-BE49-F238E27FC236}">
                <a16:creationId xmlns:a16="http://schemas.microsoft.com/office/drawing/2014/main" id="{D98203E9-B3F5-C142-F47C-C733620F0B41}"/>
              </a:ext>
            </a:extLst>
          </p:cNvPr>
          <p:cNvSpPr/>
          <p:nvPr/>
        </p:nvSpPr>
        <p:spPr>
          <a:xfrm>
            <a:off x="7405118" y="7561639"/>
            <a:ext cx="6096" cy="6096"/>
          </a:xfrm>
          <a:custGeom>
            <a:avLst/>
            <a:gdLst/>
            <a:ahLst/>
            <a:cxnLst/>
            <a:rect l="l" t="t" r="r" b="b"/>
            <a:pathLst>
              <a:path w="6096" h="6096">
                <a:moveTo>
                  <a:pt x="0" y="6096"/>
                </a:moveTo>
                <a:lnTo>
                  <a:pt x="6096" y="6096"/>
                </a:lnTo>
                <a:lnTo>
                  <a:pt x="6096" y="1"/>
                </a:lnTo>
                <a:lnTo>
                  <a:pt x="0" y="1"/>
                </a:lnTo>
                <a:close/>
              </a:path>
            </a:pathLst>
          </a:custGeom>
          <a:solidFill>
            <a:srgbClr val="000000"/>
          </a:solidFill>
        </p:spPr>
        <p:txBody>
          <a:bodyPr wrap="square" lIns="0" tIns="0" rIns="0" bIns="0" rtlCol="0">
            <a:noAutofit/>
          </a:bodyPr>
          <a:lstStyle/>
          <a:p>
            <a:endParaRPr/>
          </a:p>
        </p:txBody>
      </p:sp>
      <p:sp>
        <p:nvSpPr>
          <p:cNvPr id="1208" name="object 98">
            <a:extLst>
              <a:ext uri="{FF2B5EF4-FFF2-40B4-BE49-F238E27FC236}">
                <a16:creationId xmlns:a16="http://schemas.microsoft.com/office/drawing/2014/main" id="{FA9C2B02-0E7E-1DE7-1A5D-845316060331}"/>
              </a:ext>
            </a:extLst>
          </p:cNvPr>
          <p:cNvSpPr/>
          <p:nvPr/>
        </p:nvSpPr>
        <p:spPr>
          <a:xfrm>
            <a:off x="7405118" y="7561639"/>
            <a:ext cx="6096" cy="6096"/>
          </a:xfrm>
          <a:custGeom>
            <a:avLst/>
            <a:gdLst/>
            <a:ahLst/>
            <a:cxnLst/>
            <a:rect l="l" t="t" r="r" b="b"/>
            <a:pathLst>
              <a:path w="6096" h="6096">
                <a:moveTo>
                  <a:pt x="0" y="6096"/>
                </a:moveTo>
                <a:lnTo>
                  <a:pt x="6096" y="6096"/>
                </a:lnTo>
                <a:lnTo>
                  <a:pt x="6096" y="1"/>
                </a:lnTo>
                <a:lnTo>
                  <a:pt x="0" y="1"/>
                </a:lnTo>
                <a:close/>
              </a:path>
            </a:pathLst>
          </a:custGeom>
          <a:solidFill>
            <a:srgbClr val="000000"/>
          </a:solidFill>
        </p:spPr>
        <p:txBody>
          <a:bodyPr wrap="square" lIns="0" tIns="0" rIns="0" bIns="0" rtlCol="0">
            <a:noAutofit/>
          </a:bodyPr>
          <a:lstStyle/>
          <a:p>
            <a:endParaRPr/>
          </a:p>
        </p:txBody>
      </p:sp>
      <p:sp>
        <p:nvSpPr>
          <p:cNvPr id="1209" name="text 1">
            <a:extLst>
              <a:ext uri="{FF2B5EF4-FFF2-40B4-BE49-F238E27FC236}">
                <a16:creationId xmlns:a16="http://schemas.microsoft.com/office/drawing/2014/main" id="{BD456524-81D5-347A-9E33-F909704D5B19}"/>
              </a:ext>
            </a:extLst>
          </p:cNvPr>
          <p:cNvSpPr txBox="1"/>
          <p:nvPr/>
        </p:nvSpPr>
        <p:spPr>
          <a:xfrm>
            <a:off x="2250295" y="7361518"/>
            <a:ext cx="1544975" cy="139910"/>
          </a:xfrm>
          <a:prstGeom prst="rect">
            <a:avLst/>
          </a:prstGeom>
        </p:spPr>
        <p:txBody>
          <a:bodyPr vert="horz" wrap="none" lIns="0" tIns="0" rIns="0" bIns="0" rtlCol="0">
            <a:spAutoFit/>
          </a:bodyPr>
          <a:lstStyle/>
          <a:p>
            <a:pPr marL="0">
              <a:lnSpc>
                <a:spcPct val="100000"/>
              </a:lnSpc>
            </a:pPr>
            <a:r>
              <a:rPr lang="en-US" sz="909" b="1" spc="10" dirty="0">
                <a:latin typeface="Arial"/>
                <a:cs typeface="Arial"/>
              </a:rPr>
              <a:t>Skills &amp; Technologies Used</a:t>
            </a:r>
            <a:endParaRPr sz="900" dirty="0">
              <a:latin typeface="Arial"/>
              <a:cs typeface="Arial"/>
            </a:endParaRPr>
          </a:p>
        </p:txBody>
      </p:sp>
      <p:sp>
        <p:nvSpPr>
          <p:cNvPr id="1210" name="text 1">
            <a:extLst>
              <a:ext uri="{FF2B5EF4-FFF2-40B4-BE49-F238E27FC236}">
                <a16:creationId xmlns:a16="http://schemas.microsoft.com/office/drawing/2014/main" id="{CABEA846-7B3E-54DA-4F08-17323E5C0E32}"/>
              </a:ext>
            </a:extLst>
          </p:cNvPr>
          <p:cNvSpPr txBox="1"/>
          <p:nvPr/>
        </p:nvSpPr>
        <p:spPr>
          <a:xfrm>
            <a:off x="3866829" y="7345139"/>
            <a:ext cx="3601536" cy="279820"/>
          </a:xfrm>
          <a:prstGeom prst="rect">
            <a:avLst/>
          </a:prstGeom>
        </p:spPr>
        <p:txBody>
          <a:bodyPr vert="horz" wrap="square" lIns="0" tIns="0" rIns="0" bIns="0" rtlCol="0">
            <a:spAutoFit/>
          </a:bodyPr>
          <a:lstStyle/>
          <a:p>
            <a:pPr marL="0">
              <a:lnSpc>
                <a:spcPct val="100000"/>
              </a:lnSpc>
            </a:pPr>
            <a:r>
              <a:rPr lang="en-US" sz="909" spc="10" dirty="0">
                <a:latin typeface="Arial"/>
                <a:cs typeface="Arial"/>
              </a:rPr>
              <a:t>Preventative maintenance, safety protocols, logistical operations, budget management, and armament system maintenance.</a:t>
            </a:r>
            <a:endParaRPr sz="909" spc="10" dirty="0">
              <a:latin typeface="Arial"/>
              <a:cs typeface="Arial"/>
            </a:endParaRPr>
          </a:p>
        </p:txBody>
      </p:sp>
      <p:cxnSp>
        <p:nvCxnSpPr>
          <p:cNvPr id="1211" name="Straight Connector 1210">
            <a:extLst>
              <a:ext uri="{FF2B5EF4-FFF2-40B4-BE49-F238E27FC236}">
                <a16:creationId xmlns:a16="http://schemas.microsoft.com/office/drawing/2014/main" id="{C3E7DA89-7FD0-E91C-CD4C-685B6C8D2063}"/>
              </a:ext>
            </a:extLst>
          </p:cNvPr>
          <p:cNvCxnSpPr/>
          <p:nvPr/>
        </p:nvCxnSpPr>
        <p:spPr>
          <a:xfrm>
            <a:off x="2203960" y="6448635"/>
            <a:ext cx="0" cy="11847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2" name="Straight Connector 1211">
            <a:extLst>
              <a:ext uri="{FF2B5EF4-FFF2-40B4-BE49-F238E27FC236}">
                <a16:creationId xmlns:a16="http://schemas.microsoft.com/office/drawing/2014/main" id="{EE87460C-F729-DFFA-0D0D-B4818EC5DB65}"/>
              </a:ext>
            </a:extLst>
          </p:cNvPr>
          <p:cNvCxnSpPr/>
          <p:nvPr/>
        </p:nvCxnSpPr>
        <p:spPr>
          <a:xfrm>
            <a:off x="3810510" y="6438842"/>
            <a:ext cx="11304" cy="1194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13" name="object 36">
            <a:extLst>
              <a:ext uri="{FF2B5EF4-FFF2-40B4-BE49-F238E27FC236}">
                <a16:creationId xmlns:a16="http://schemas.microsoft.com/office/drawing/2014/main" id="{3872AFAF-A1E0-FCE1-A244-EC5A10D64DA4}"/>
              </a:ext>
            </a:extLst>
          </p:cNvPr>
          <p:cNvSpPr/>
          <p:nvPr/>
        </p:nvSpPr>
        <p:spPr>
          <a:xfrm>
            <a:off x="2203514" y="7776494"/>
            <a:ext cx="5205604" cy="227302"/>
          </a:xfrm>
          <a:custGeom>
            <a:avLst/>
            <a:gdLst/>
            <a:ahLst/>
            <a:cxnLst/>
            <a:rect l="l" t="t" r="r" b="b"/>
            <a:pathLst>
              <a:path w="5060569" h="146305">
                <a:moveTo>
                  <a:pt x="0" y="146305"/>
                </a:moveTo>
                <a:lnTo>
                  <a:pt x="5060569" y="146305"/>
                </a:lnTo>
                <a:lnTo>
                  <a:pt x="5060569" y="0"/>
                </a:lnTo>
                <a:lnTo>
                  <a:pt x="0" y="0"/>
                </a:lnTo>
                <a:close/>
              </a:path>
            </a:pathLst>
          </a:custGeom>
          <a:solidFill>
            <a:srgbClr val="000000"/>
          </a:solidFill>
        </p:spPr>
        <p:txBody>
          <a:bodyPr wrap="square" lIns="0" tIns="0" rIns="0" bIns="0" rtlCol="0">
            <a:noAutofit/>
          </a:bodyPr>
          <a:lstStyle/>
          <a:p>
            <a:endParaRPr lang="en-US" sz="1050" b="1" dirty="0">
              <a:solidFill>
                <a:schemeClr val="bg1"/>
              </a:solidFill>
            </a:endParaRPr>
          </a:p>
        </p:txBody>
      </p:sp>
      <p:sp>
        <p:nvSpPr>
          <p:cNvPr id="1217" name="text 1">
            <a:extLst>
              <a:ext uri="{FF2B5EF4-FFF2-40B4-BE49-F238E27FC236}">
                <a16:creationId xmlns:a16="http://schemas.microsoft.com/office/drawing/2014/main" id="{0C4A45F1-AB62-2F0F-A26C-CAA383EB36D3}"/>
              </a:ext>
            </a:extLst>
          </p:cNvPr>
          <p:cNvSpPr txBox="1"/>
          <p:nvPr/>
        </p:nvSpPr>
        <p:spPr>
          <a:xfrm>
            <a:off x="3349545" y="7998722"/>
            <a:ext cx="408445" cy="155299"/>
          </a:xfrm>
          <a:prstGeom prst="rect">
            <a:avLst/>
          </a:prstGeom>
        </p:spPr>
        <p:txBody>
          <a:bodyPr vert="horz" wrap="none" lIns="0" tIns="0" rIns="0" bIns="0" rtlCol="0">
            <a:spAutoFit/>
          </a:bodyPr>
          <a:lstStyle/>
          <a:p>
            <a:pPr marL="0">
              <a:lnSpc>
                <a:spcPct val="100000"/>
              </a:lnSpc>
            </a:pPr>
            <a:r>
              <a:rPr lang="en-US" sz="1009" b="1" spc="10" dirty="0">
                <a:latin typeface="Arial"/>
                <a:cs typeface="Arial"/>
              </a:rPr>
              <a:t>Period</a:t>
            </a:r>
            <a:endParaRPr sz="1000" dirty="0">
              <a:latin typeface="Arial"/>
              <a:cs typeface="Arial"/>
            </a:endParaRPr>
          </a:p>
        </p:txBody>
      </p:sp>
      <p:sp>
        <p:nvSpPr>
          <p:cNvPr id="1218" name="text 1">
            <a:extLst>
              <a:ext uri="{FF2B5EF4-FFF2-40B4-BE49-F238E27FC236}">
                <a16:creationId xmlns:a16="http://schemas.microsoft.com/office/drawing/2014/main" id="{46BC648B-CC3D-A3A2-133D-55796388FE15}"/>
              </a:ext>
            </a:extLst>
          </p:cNvPr>
          <p:cNvSpPr txBox="1"/>
          <p:nvPr/>
        </p:nvSpPr>
        <p:spPr>
          <a:xfrm>
            <a:off x="3880296" y="7991393"/>
            <a:ext cx="1345561" cy="139910"/>
          </a:xfrm>
          <a:prstGeom prst="rect">
            <a:avLst/>
          </a:prstGeom>
        </p:spPr>
        <p:txBody>
          <a:bodyPr vert="horz" wrap="none" lIns="0" tIns="0" rIns="0" bIns="0" rtlCol="0">
            <a:spAutoFit/>
          </a:bodyPr>
          <a:lstStyle/>
          <a:p>
            <a:pPr marL="0">
              <a:lnSpc>
                <a:spcPct val="100000"/>
              </a:lnSpc>
            </a:pPr>
            <a:r>
              <a:rPr lang="en-US" sz="909" spc="10" dirty="0">
                <a:latin typeface="Arial"/>
                <a:cs typeface="Arial"/>
              </a:rPr>
              <a:t>August 2012 – June 2015</a:t>
            </a:r>
            <a:endParaRPr sz="909" spc="10" dirty="0">
              <a:latin typeface="Arial"/>
              <a:cs typeface="Arial"/>
            </a:endParaRPr>
          </a:p>
        </p:txBody>
      </p:sp>
      <p:sp>
        <p:nvSpPr>
          <p:cNvPr id="1219" name="object 44">
            <a:extLst>
              <a:ext uri="{FF2B5EF4-FFF2-40B4-BE49-F238E27FC236}">
                <a16:creationId xmlns:a16="http://schemas.microsoft.com/office/drawing/2014/main" id="{01C585DC-16BC-9D61-26F4-9CF34F81212F}"/>
              </a:ext>
            </a:extLst>
          </p:cNvPr>
          <p:cNvSpPr/>
          <p:nvPr/>
        </p:nvSpPr>
        <p:spPr>
          <a:xfrm>
            <a:off x="2211135" y="7979649"/>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220" name="object 45">
            <a:extLst>
              <a:ext uri="{FF2B5EF4-FFF2-40B4-BE49-F238E27FC236}">
                <a16:creationId xmlns:a16="http://schemas.microsoft.com/office/drawing/2014/main" id="{9530F9D6-3362-F0FC-2A74-E97414ACBCC6}"/>
              </a:ext>
            </a:extLst>
          </p:cNvPr>
          <p:cNvSpPr/>
          <p:nvPr/>
        </p:nvSpPr>
        <p:spPr>
          <a:xfrm>
            <a:off x="2217231" y="7979649"/>
            <a:ext cx="1591310" cy="6096"/>
          </a:xfrm>
          <a:custGeom>
            <a:avLst/>
            <a:gdLst/>
            <a:ahLst/>
            <a:cxnLst/>
            <a:rect l="l" t="t" r="r" b="b"/>
            <a:pathLst>
              <a:path w="1591310" h="6096">
                <a:moveTo>
                  <a:pt x="0" y="6096"/>
                </a:moveTo>
                <a:lnTo>
                  <a:pt x="1591310" y="6096"/>
                </a:lnTo>
                <a:lnTo>
                  <a:pt x="1591310" y="0"/>
                </a:lnTo>
                <a:lnTo>
                  <a:pt x="0" y="0"/>
                </a:lnTo>
                <a:close/>
              </a:path>
            </a:pathLst>
          </a:custGeom>
          <a:solidFill>
            <a:srgbClr val="000000"/>
          </a:solidFill>
        </p:spPr>
        <p:txBody>
          <a:bodyPr wrap="square" lIns="0" tIns="0" rIns="0" bIns="0" rtlCol="0">
            <a:noAutofit/>
          </a:bodyPr>
          <a:lstStyle/>
          <a:p>
            <a:endParaRPr/>
          </a:p>
        </p:txBody>
      </p:sp>
      <p:sp>
        <p:nvSpPr>
          <p:cNvPr id="1221" name="object 46">
            <a:extLst>
              <a:ext uri="{FF2B5EF4-FFF2-40B4-BE49-F238E27FC236}">
                <a16:creationId xmlns:a16="http://schemas.microsoft.com/office/drawing/2014/main" id="{57E7E2EB-6CD8-8C87-0B77-354DCC91C2A0}"/>
              </a:ext>
            </a:extLst>
          </p:cNvPr>
          <p:cNvSpPr/>
          <p:nvPr/>
        </p:nvSpPr>
        <p:spPr>
          <a:xfrm>
            <a:off x="3808668" y="7979649"/>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222" name="object 47">
            <a:extLst>
              <a:ext uri="{FF2B5EF4-FFF2-40B4-BE49-F238E27FC236}">
                <a16:creationId xmlns:a16="http://schemas.microsoft.com/office/drawing/2014/main" id="{D34F6306-F5F7-F8A0-44BE-447FC8CE0E98}"/>
              </a:ext>
            </a:extLst>
          </p:cNvPr>
          <p:cNvSpPr/>
          <p:nvPr/>
        </p:nvSpPr>
        <p:spPr>
          <a:xfrm>
            <a:off x="3814764" y="7979649"/>
            <a:ext cx="3594481" cy="6096"/>
          </a:xfrm>
          <a:custGeom>
            <a:avLst/>
            <a:gdLst/>
            <a:ahLst/>
            <a:cxnLst/>
            <a:rect l="l" t="t" r="r" b="b"/>
            <a:pathLst>
              <a:path w="3594481" h="6096">
                <a:moveTo>
                  <a:pt x="0" y="6096"/>
                </a:moveTo>
                <a:lnTo>
                  <a:pt x="3594481" y="6096"/>
                </a:lnTo>
                <a:lnTo>
                  <a:pt x="3594481" y="0"/>
                </a:lnTo>
                <a:lnTo>
                  <a:pt x="0" y="0"/>
                </a:lnTo>
                <a:close/>
              </a:path>
            </a:pathLst>
          </a:custGeom>
          <a:solidFill>
            <a:srgbClr val="000000"/>
          </a:solidFill>
        </p:spPr>
        <p:txBody>
          <a:bodyPr wrap="square" lIns="0" tIns="0" rIns="0" bIns="0" rtlCol="0">
            <a:noAutofit/>
          </a:bodyPr>
          <a:lstStyle/>
          <a:p>
            <a:endParaRPr/>
          </a:p>
        </p:txBody>
      </p:sp>
      <p:sp>
        <p:nvSpPr>
          <p:cNvPr id="1223" name="object 48">
            <a:extLst>
              <a:ext uri="{FF2B5EF4-FFF2-40B4-BE49-F238E27FC236}">
                <a16:creationId xmlns:a16="http://schemas.microsoft.com/office/drawing/2014/main" id="{6AA957EA-2337-600C-04C1-C16CFB693317}"/>
              </a:ext>
            </a:extLst>
          </p:cNvPr>
          <p:cNvSpPr/>
          <p:nvPr/>
        </p:nvSpPr>
        <p:spPr>
          <a:xfrm>
            <a:off x="7409245" y="7979649"/>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224" name="object 49">
            <a:extLst>
              <a:ext uri="{FF2B5EF4-FFF2-40B4-BE49-F238E27FC236}">
                <a16:creationId xmlns:a16="http://schemas.microsoft.com/office/drawing/2014/main" id="{BB80C6C6-C1E3-542F-9299-8189FC781198}"/>
              </a:ext>
            </a:extLst>
          </p:cNvPr>
          <p:cNvSpPr/>
          <p:nvPr/>
        </p:nvSpPr>
        <p:spPr>
          <a:xfrm>
            <a:off x="2211135" y="7985745"/>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1225" name="object 50">
            <a:extLst>
              <a:ext uri="{FF2B5EF4-FFF2-40B4-BE49-F238E27FC236}">
                <a16:creationId xmlns:a16="http://schemas.microsoft.com/office/drawing/2014/main" id="{F895CD53-0245-71A5-7AB9-25F8CBB7FCE8}"/>
              </a:ext>
            </a:extLst>
          </p:cNvPr>
          <p:cNvSpPr/>
          <p:nvPr/>
        </p:nvSpPr>
        <p:spPr>
          <a:xfrm>
            <a:off x="3808668" y="7985745"/>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1226" name="object 51">
            <a:extLst>
              <a:ext uri="{FF2B5EF4-FFF2-40B4-BE49-F238E27FC236}">
                <a16:creationId xmlns:a16="http://schemas.microsoft.com/office/drawing/2014/main" id="{603D35C7-79EE-D811-B28A-CF9B53E6CDD4}"/>
              </a:ext>
            </a:extLst>
          </p:cNvPr>
          <p:cNvSpPr/>
          <p:nvPr/>
        </p:nvSpPr>
        <p:spPr>
          <a:xfrm>
            <a:off x="7409245" y="7985745"/>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1227" name="text 1">
            <a:extLst>
              <a:ext uri="{FF2B5EF4-FFF2-40B4-BE49-F238E27FC236}">
                <a16:creationId xmlns:a16="http://schemas.microsoft.com/office/drawing/2014/main" id="{5E48171B-C069-09E4-141C-90E3999B5740}"/>
              </a:ext>
            </a:extLst>
          </p:cNvPr>
          <p:cNvSpPr txBox="1"/>
          <p:nvPr/>
        </p:nvSpPr>
        <p:spPr>
          <a:xfrm>
            <a:off x="2481481" y="8166670"/>
            <a:ext cx="1330172" cy="155299"/>
          </a:xfrm>
          <a:prstGeom prst="rect">
            <a:avLst/>
          </a:prstGeom>
        </p:spPr>
        <p:txBody>
          <a:bodyPr vert="horz" wrap="none" lIns="0" tIns="0" rIns="0" bIns="0" rtlCol="0">
            <a:spAutoFit/>
          </a:bodyPr>
          <a:lstStyle/>
          <a:p>
            <a:pPr marL="0">
              <a:lnSpc>
                <a:spcPct val="100000"/>
              </a:lnSpc>
            </a:pPr>
            <a:r>
              <a:rPr lang="en-US" sz="1009" b="1" spc="10" dirty="0">
                <a:latin typeface="Arial"/>
                <a:cs typeface="Arial"/>
              </a:rPr>
              <a:t>Key Responsibilities</a:t>
            </a:r>
            <a:endParaRPr sz="1000" dirty="0">
              <a:latin typeface="Arial"/>
              <a:cs typeface="Arial"/>
            </a:endParaRPr>
          </a:p>
        </p:txBody>
      </p:sp>
      <p:sp>
        <p:nvSpPr>
          <p:cNvPr id="1228" name="object 52">
            <a:extLst>
              <a:ext uri="{FF2B5EF4-FFF2-40B4-BE49-F238E27FC236}">
                <a16:creationId xmlns:a16="http://schemas.microsoft.com/office/drawing/2014/main" id="{661D55C9-CC86-6511-BCAD-54491A1BAE44}"/>
              </a:ext>
            </a:extLst>
          </p:cNvPr>
          <p:cNvSpPr/>
          <p:nvPr/>
        </p:nvSpPr>
        <p:spPr>
          <a:xfrm>
            <a:off x="2211135" y="8145765"/>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229" name="object 53">
            <a:extLst>
              <a:ext uri="{FF2B5EF4-FFF2-40B4-BE49-F238E27FC236}">
                <a16:creationId xmlns:a16="http://schemas.microsoft.com/office/drawing/2014/main" id="{C6CC46A0-17E6-D7FC-A76C-A034C0707871}"/>
              </a:ext>
            </a:extLst>
          </p:cNvPr>
          <p:cNvSpPr/>
          <p:nvPr/>
        </p:nvSpPr>
        <p:spPr>
          <a:xfrm>
            <a:off x="2217231" y="8145765"/>
            <a:ext cx="1591310" cy="6096"/>
          </a:xfrm>
          <a:custGeom>
            <a:avLst/>
            <a:gdLst/>
            <a:ahLst/>
            <a:cxnLst/>
            <a:rect l="l" t="t" r="r" b="b"/>
            <a:pathLst>
              <a:path w="1591310" h="6096">
                <a:moveTo>
                  <a:pt x="0" y="6096"/>
                </a:moveTo>
                <a:lnTo>
                  <a:pt x="1591310" y="6096"/>
                </a:lnTo>
                <a:lnTo>
                  <a:pt x="1591310" y="0"/>
                </a:lnTo>
                <a:lnTo>
                  <a:pt x="0" y="0"/>
                </a:lnTo>
                <a:close/>
              </a:path>
            </a:pathLst>
          </a:custGeom>
          <a:solidFill>
            <a:srgbClr val="000000"/>
          </a:solidFill>
        </p:spPr>
        <p:txBody>
          <a:bodyPr wrap="square" lIns="0" tIns="0" rIns="0" bIns="0" rtlCol="0">
            <a:noAutofit/>
          </a:bodyPr>
          <a:lstStyle/>
          <a:p>
            <a:endParaRPr/>
          </a:p>
        </p:txBody>
      </p:sp>
      <p:sp>
        <p:nvSpPr>
          <p:cNvPr id="1230" name="object 54">
            <a:extLst>
              <a:ext uri="{FF2B5EF4-FFF2-40B4-BE49-F238E27FC236}">
                <a16:creationId xmlns:a16="http://schemas.microsoft.com/office/drawing/2014/main" id="{23307713-7462-C4BB-DEF9-3AB59A9B6E66}"/>
              </a:ext>
            </a:extLst>
          </p:cNvPr>
          <p:cNvSpPr/>
          <p:nvPr/>
        </p:nvSpPr>
        <p:spPr>
          <a:xfrm>
            <a:off x="3808668" y="8145765"/>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231" name="object 55">
            <a:extLst>
              <a:ext uri="{FF2B5EF4-FFF2-40B4-BE49-F238E27FC236}">
                <a16:creationId xmlns:a16="http://schemas.microsoft.com/office/drawing/2014/main" id="{1F440430-7903-9EF9-1405-16FFA68D1B68}"/>
              </a:ext>
            </a:extLst>
          </p:cNvPr>
          <p:cNvSpPr/>
          <p:nvPr/>
        </p:nvSpPr>
        <p:spPr>
          <a:xfrm>
            <a:off x="3814764" y="8145765"/>
            <a:ext cx="3594481" cy="6096"/>
          </a:xfrm>
          <a:custGeom>
            <a:avLst/>
            <a:gdLst/>
            <a:ahLst/>
            <a:cxnLst/>
            <a:rect l="l" t="t" r="r" b="b"/>
            <a:pathLst>
              <a:path w="3594481" h="6096">
                <a:moveTo>
                  <a:pt x="0" y="6096"/>
                </a:moveTo>
                <a:lnTo>
                  <a:pt x="3594481" y="6096"/>
                </a:lnTo>
                <a:lnTo>
                  <a:pt x="3594481" y="0"/>
                </a:lnTo>
                <a:lnTo>
                  <a:pt x="0" y="0"/>
                </a:lnTo>
                <a:close/>
              </a:path>
            </a:pathLst>
          </a:custGeom>
          <a:solidFill>
            <a:srgbClr val="000000"/>
          </a:solidFill>
        </p:spPr>
        <p:txBody>
          <a:bodyPr wrap="square" lIns="0" tIns="0" rIns="0" bIns="0" rtlCol="0">
            <a:noAutofit/>
          </a:bodyPr>
          <a:lstStyle/>
          <a:p>
            <a:endParaRPr/>
          </a:p>
        </p:txBody>
      </p:sp>
      <p:sp>
        <p:nvSpPr>
          <p:cNvPr id="1232" name="object 56">
            <a:extLst>
              <a:ext uri="{FF2B5EF4-FFF2-40B4-BE49-F238E27FC236}">
                <a16:creationId xmlns:a16="http://schemas.microsoft.com/office/drawing/2014/main" id="{3B545242-88A7-D990-E0B7-58B3ACA2D284}"/>
              </a:ext>
            </a:extLst>
          </p:cNvPr>
          <p:cNvSpPr/>
          <p:nvPr/>
        </p:nvSpPr>
        <p:spPr>
          <a:xfrm>
            <a:off x="7409245" y="8145765"/>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233" name="object 59">
            <a:extLst>
              <a:ext uri="{FF2B5EF4-FFF2-40B4-BE49-F238E27FC236}">
                <a16:creationId xmlns:a16="http://schemas.microsoft.com/office/drawing/2014/main" id="{65B36BFC-A128-CB09-DB0F-F3E48EE88238}"/>
              </a:ext>
            </a:extLst>
          </p:cNvPr>
          <p:cNvSpPr/>
          <p:nvPr/>
        </p:nvSpPr>
        <p:spPr>
          <a:xfrm>
            <a:off x="7409245" y="8151861"/>
            <a:ext cx="6096" cy="161544"/>
          </a:xfrm>
          <a:custGeom>
            <a:avLst/>
            <a:gdLst/>
            <a:ahLst/>
            <a:cxnLst/>
            <a:rect l="l" t="t" r="r" b="b"/>
            <a:pathLst>
              <a:path w="6096" h="161544">
                <a:moveTo>
                  <a:pt x="0" y="161544"/>
                </a:moveTo>
                <a:lnTo>
                  <a:pt x="6096" y="161544"/>
                </a:lnTo>
                <a:lnTo>
                  <a:pt x="6096" y="0"/>
                </a:lnTo>
                <a:lnTo>
                  <a:pt x="0" y="0"/>
                </a:lnTo>
                <a:close/>
              </a:path>
            </a:pathLst>
          </a:custGeom>
          <a:solidFill>
            <a:srgbClr val="000000"/>
          </a:solidFill>
        </p:spPr>
        <p:txBody>
          <a:bodyPr wrap="square" lIns="0" tIns="0" rIns="0" bIns="0" rtlCol="0">
            <a:noAutofit/>
          </a:bodyPr>
          <a:lstStyle/>
          <a:p>
            <a:endParaRPr/>
          </a:p>
        </p:txBody>
      </p:sp>
      <p:sp>
        <p:nvSpPr>
          <p:cNvPr id="1234" name="object 64">
            <a:extLst>
              <a:ext uri="{FF2B5EF4-FFF2-40B4-BE49-F238E27FC236}">
                <a16:creationId xmlns:a16="http://schemas.microsoft.com/office/drawing/2014/main" id="{ED90BD38-EB04-FE32-66AC-BE2E2DE82306}"/>
              </a:ext>
            </a:extLst>
          </p:cNvPr>
          <p:cNvSpPr/>
          <p:nvPr/>
        </p:nvSpPr>
        <p:spPr>
          <a:xfrm>
            <a:off x="7409245" y="8313405"/>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235" name="object 67">
            <a:extLst>
              <a:ext uri="{FF2B5EF4-FFF2-40B4-BE49-F238E27FC236}">
                <a16:creationId xmlns:a16="http://schemas.microsoft.com/office/drawing/2014/main" id="{F80613E0-7DB6-5EB4-1C81-E7503309126B}"/>
              </a:ext>
            </a:extLst>
          </p:cNvPr>
          <p:cNvSpPr/>
          <p:nvPr/>
        </p:nvSpPr>
        <p:spPr>
          <a:xfrm>
            <a:off x="7409245" y="8319502"/>
            <a:ext cx="6096" cy="161543"/>
          </a:xfrm>
          <a:custGeom>
            <a:avLst/>
            <a:gdLst/>
            <a:ahLst/>
            <a:cxnLst/>
            <a:rect l="l" t="t" r="r" b="b"/>
            <a:pathLst>
              <a:path w="6096" h="161543">
                <a:moveTo>
                  <a:pt x="0" y="161543"/>
                </a:moveTo>
                <a:lnTo>
                  <a:pt x="6096" y="161543"/>
                </a:lnTo>
                <a:lnTo>
                  <a:pt x="6096" y="0"/>
                </a:lnTo>
                <a:lnTo>
                  <a:pt x="0" y="0"/>
                </a:lnTo>
                <a:close/>
              </a:path>
            </a:pathLst>
          </a:custGeom>
          <a:solidFill>
            <a:srgbClr val="000000"/>
          </a:solidFill>
        </p:spPr>
        <p:txBody>
          <a:bodyPr wrap="square" lIns="0" tIns="0" rIns="0" bIns="0" rtlCol="0">
            <a:noAutofit/>
          </a:bodyPr>
          <a:lstStyle/>
          <a:p>
            <a:endParaRPr/>
          </a:p>
        </p:txBody>
      </p:sp>
      <p:sp>
        <p:nvSpPr>
          <p:cNvPr id="1236" name="object 72">
            <a:extLst>
              <a:ext uri="{FF2B5EF4-FFF2-40B4-BE49-F238E27FC236}">
                <a16:creationId xmlns:a16="http://schemas.microsoft.com/office/drawing/2014/main" id="{2D7CE78E-A265-FF33-233C-D519861BCC92}"/>
              </a:ext>
            </a:extLst>
          </p:cNvPr>
          <p:cNvSpPr/>
          <p:nvPr/>
        </p:nvSpPr>
        <p:spPr>
          <a:xfrm>
            <a:off x="7409245" y="8481045"/>
            <a:ext cx="6096" cy="6096"/>
          </a:xfrm>
          <a:custGeom>
            <a:avLst/>
            <a:gdLst/>
            <a:ahLst/>
            <a:cxnLst/>
            <a:rect l="l" t="t" r="r" b="b"/>
            <a:pathLst>
              <a:path w="6096" h="6096">
                <a:moveTo>
                  <a:pt x="0" y="6096"/>
                </a:moveTo>
                <a:lnTo>
                  <a:pt x="6096" y="6096"/>
                </a:lnTo>
                <a:lnTo>
                  <a:pt x="6096" y="0"/>
                </a:lnTo>
                <a:lnTo>
                  <a:pt x="0" y="0"/>
                </a:lnTo>
                <a:close/>
              </a:path>
            </a:pathLst>
          </a:custGeom>
          <a:solidFill>
            <a:srgbClr val="000000"/>
          </a:solidFill>
        </p:spPr>
        <p:txBody>
          <a:bodyPr wrap="square" lIns="0" tIns="0" rIns="0" bIns="0" rtlCol="0">
            <a:noAutofit/>
          </a:bodyPr>
          <a:lstStyle/>
          <a:p>
            <a:endParaRPr/>
          </a:p>
        </p:txBody>
      </p:sp>
      <p:sp>
        <p:nvSpPr>
          <p:cNvPr id="1237" name="object 75">
            <a:extLst>
              <a:ext uri="{FF2B5EF4-FFF2-40B4-BE49-F238E27FC236}">
                <a16:creationId xmlns:a16="http://schemas.microsoft.com/office/drawing/2014/main" id="{EC9A4730-D579-DCDC-E7F4-00F482EFAEE9}"/>
              </a:ext>
            </a:extLst>
          </p:cNvPr>
          <p:cNvSpPr/>
          <p:nvPr/>
        </p:nvSpPr>
        <p:spPr>
          <a:xfrm>
            <a:off x="7409245" y="8487141"/>
            <a:ext cx="6096" cy="160020"/>
          </a:xfrm>
          <a:custGeom>
            <a:avLst/>
            <a:gdLst/>
            <a:ahLst/>
            <a:cxnLst/>
            <a:rect l="l" t="t" r="r" b="b"/>
            <a:pathLst>
              <a:path w="6096" h="160020">
                <a:moveTo>
                  <a:pt x="0" y="160020"/>
                </a:moveTo>
                <a:lnTo>
                  <a:pt x="6096" y="160020"/>
                </a:lnTo>
                <a:lnTo>
                  <a:pt x="6096" y="0"/>
                </a:lnTo>
                <a:lnTo>
                  <a:pt x="0" y="0"/>
                </a:lnTo>
                <a:close/>
              </a:path>
            </a:pathLst>
          </a:custGeom>
          <a:solidFill>
            <a:srgbClr val="000000"/>
          </a:solidFill>
        </p:spPr>
        <p:txBody>
          <a:bodyPr wrap="square" lIns="0" tIns="0" rIns="0" bIns="0" rtlCol="0">
            <a:noAutofit/>
          </a:bodyPr>
          <a:lstStyle/>
          <a:p>
            <a:endParaRPr/>
          </a:p>
        </p:txBody>
      </p:sp>
      <p:sp>
        <p:nvSpPr>
          <p:cNvPr id="1238" name="text 1">
            <a:extLst>
              <a:ext uri="{FF2B5EF4-FFF2-40B4-BE49-F238E27FC236}">
                <a16:creationId xmlns:a16="http://schemas.microsoft.com/office/drawing/2014/main" id="{EFE0D20A-AD49-0B40-22BA-92A7412D17BC}"/>
              </a:ext>
            </a:extLst>
          </p:cNvPr>
          <p:cNvSpPr txBox="1"/>
          <p:nvPr/>
        </p:nvSpPr>
        <p:spPr>
          <a:xfrm>
            <a:off x="3870956" y="8147853"/>
            <a:ext cx="3033020" cy="279820"/>
          </a:xfrm>
          <a:prstGeom prst="rect">
            <a:avLst/>
          </a:prstGeom>
        </p:spPr>
        <p:txBody>
          <a:bodyPr vert="horz" wrap="square" lIns="0" tIns="0" rIns="0" bIns="0" rtlCol="0">
            <a:spAutoFit/>
          </a:bodyPr>
          <a:lstStyle/>
          <a:p>
            <a:pPr marL="0">
              <a:lnSpc>
                <a:spcPct val="100000"/>
              </a:lnSpc>
            </a:pPr>
            <a:r>
              <a:rPr lang="en-US" sz="909" spc="10" dirty="0">
                <a:latin typeface="Arial"/>
                <a:cs typeface="Arial"/>
              </a:rPr>
              <a:t>Project Manager, directing ground maintenance projects and preventative maintenance initiatives.</a:t>
            </a:r>
            <a:endParaRPr sz="909" spc="10" dirty="0">
              <a:latin typeface="Arial"/>
              <a:cs typeface="Arial"/>
            </a:endParaRPr>
          </a:p>
        </p:txBody>
      </p:sp>
      <p:sp>
        <p:nvSpPr>
          <p:cNvPr id="1239" name="object 77">
            <a:extLst>
              <a:ext uri="{FF2B5EF4-FFF2-40B4-BE49-F238E27FC236}">
                <a16:creationId xmlns:a16="http://schemas.microsoft.com/office/drawing/2014/main" id="{78189E6C-486F-3574-066F-12C68258E71F}"/>
              </a:ext>
            </a:extLst>
          </p:cNvPr>
          <p:cNvSpPr/>
          <p:nvPr/>
        </p:nvSpPr>
        <p:spPr>
          <a:xfrm>
            <a:off x="2228408" y="8475637"/>
            <a:ext cx="1591310" cy="6096"/>
          </a:xfrm>
          <a:custGeom>
            <a:avLst/>
            <a:gdLst/>
            <a:ahLst/>
            <a:cxnLst/>
            <a:rect l="l" t="t" r="r" b="b"/>
            <a:pathLst>
              <a:path w="1591310" h="6096">
                <a:moveTo>
                  <a:pt x="0" y="6096"/>
                </a:moveTo>
                <a:lnTo>
                  <a:pt x="1591310" y="6096"/>
                </a:lnTo>
                <a:lnTo>
                  <a:pt x="1591310" y="1"/>
                </a:lnTo>
                <a:lnTo>
                  <a:pt x="0" y="1"/>
                </a:lnTo>
                <a:close/>
              </a:path>
            </a:pathLst>
          </a:custGeom>
          <a:solidFill>
            <a:srgbClr val="000000"/>
          </a:solidFill>
        </p:spPr>
        <p:txBody>
          <a:bodyPr wrap="square" lIns="0" tIns="0" rIns="0" bIns="0" rtlCol="0">
            <a:noAutofit/>
          </a:bodyPr>
          <a:lstStyle/>
          <a:p>
            <a:endParaRPr/>
          </a:p>
        </p:txBody>
      </p:sp>
      <p:sp>
        <p:nvSpPr>
          <p:cNvPr id="1240" name="object 79">
            <a:extLst>
              <a:ext uri="{FF2B5EF4-FFF2-40B4-BE49-F238E27FC236}">
                <a16:creationId xmlns:a16="http://schemas.microsoft.com/office/drawing/2014/main" id="{9F9CDDD8-13DE-CE44-EA85-E5861279EA89}"/>
              </a:ext>
            </a:extLst>
          </p:cNvPr>
          <p:cNvSpPr/>
          <p:nvPr/>
        </p:nvSpPr>
        <p:spPr>
          <a:xfrm>
            <a:off x="3809810" y="8475599"/>
            <a:ext cx="3594481" cy="6096"/>
          </a:xfrm>
          <a:custGeom>
            <a:avLst/>
            <a:gdLst/>
            <a:ahLst/>
            <a:cxnLst/>
            <a:rect l="l" t="t" r="r" b="b"/>
            <a:pathLst>
              <a:path w="3594481" h="6096">
                <a:moveTo>
                  <a:pt x="0" y="6096"/>
                </a:moveTo>
                <a:lnTo>
                  <a:pt x="3594481" y="6096"/>
                </a:lnTo>
                <a:lnTo>
                  <a:pt x="3594481" y="1"/>
                </a:lnTo>
                <a:lnTo>
                  <a:pt x="0" y="1"/>
                </a:lnTo>
                <a:close/>
              </a:path>
            </a:pathLst>
          </a:custGeom>
          <a:solidFill>
            <a:srgbClr val="000000"/>
          </a:solidFill>
        </p:spPr>
        <p:txBody>
          <a:bodyPr wrap="square" lIns="0" tIns="0" rIns="0" bIns="0" rtlCol="0">
            <a:noAutofit/>
          </a:bodyPr>
          <a:lstStyle/>
          <a:p>
            <a:endParaRPr/>
          </a:p>
        </p:txBody>
      </p:sp>
      <p:sp>
        <p:nvSpPr>
          <p:cNvPr id="1241" name="object 80">
            <a:extLst>
              <a:ext uri="{FF2B5EF4-FFF2-40B4-BE49-F238E27FC236}">
                <a16:creationId xmlns:a16="http://schemas.microsoft.com/office/drawing/2014/main" id="{B7F6E879-C2C3-C148-432D-86C417D6A925}"/>
              </a:ext>
            </a:extLst>
          </p:cNvPr>
          <p:cNvSpPr/>
          <p:nvPr/>
        </p:nvSpPr>
        <p:spPr>
          <a:xfrm>
            <a:off x="7409245" y="8647161"/>
            <a:ext cx="6096" cy="6096"/>
          </a:xfrm>
          <a:custGeom>
            <a:avLst/>
            <a:gdLst/>
            <a:ahLst/>
            <a:cxnLst/>
            <a:rect l="l" t="t" r="r" b="b"/>
            <a:pathLst>
              <a:path w="6096" h="6096">
                <a:moveTo>
                  <a:pt x="0" y="6096"/>
                </a:moveTo>
                <a:lnTo>
                  <a:pt x="6096" y="6096"/>
                </a:lnTo>
                <a:lnTo>
                  <a:pt x="6096" y="1"/>
                </a:lnTo>
                <a:lnTo>
                  <a:pt x="0" y="1"/>
                </a:lnTo>
                <a:close/>
              </a:path>
            </a:pathLst>
          </a:custGeom>
          <a:solidFill>
            <a:srgbClr val="000000"/>
          </a:solidFill>
        </p:spPr>
        <p:txBody>
          <a:bodyPr wrap="square" lIns="0" tIns="0" rIns="0" bIns="0" rtlCol="0">
            <a:noAutofit/>
          </a:bodyPr>
          <a:lstStyle/>
          <a:p>
            <a:endParaRPr/>
          </a:p>
        </p:txBody>
      </p:sp>
      <p:sp>
        <p:nvSpPr>
          <p:cNvPr id="1242" name="object 83">
            <a:extLst>
              <a:ext uri="{FF2B5EF4-FFF2-40B4-BE49-F238E27FC236}">
                <a16:creationId xmlns:a16="http://schemas.microsoft.com/office/drawing/2014/main" id="{732F9B44-28AF-46B9-A7CC-FD6BA7336C31}"/>
              </a:ext>
            </a:extLst>
          </p:cNvPr>
          <p:cNvSpPr/>
          <p:nvPr/>
        </p:nvSpPr>
        <p:spPr>
          <a:xfrm>
            <a:off x="7409245" y="8653257"/>
            <a:ext cx="6096" cy="161544"/>
          </a:xfrm>
          <a:custGeom>
            <a:avLst/>
            <a:gdLst/>
            <a:ahLst/>
            <a:cxnLst/>
            <a:rect l="l" t="t" r="r" b="b"/>
            <a:pathLst>
              <a:path w="6096" h="161544">
                <a:moveTo>
                  <a:pt x="0" y="161544"/>
                </a:moveTo>
                <a:lnTo>
                  <a:pt x="6096" y="161544"/>
                </a:lnTo>
                <a:lnTo>
                  <a:pt x="6096" y="0"/>
                </a:lnTo>
                <a:lnTo>
                  <a:pt x="0" y="0"/>
                </a:lnTo>
                <a:close/>
              </a:path>
            </a:pathLst>
          </a:custGeom>
          <a:solidFill>
            <a:srgbClr val="000000"/>
          </a:solidFill>
        </p:spPr>
        <p:txBody>
          <a:bodyPr wrap="square" lIns="0" tIns="0" rIns="0" bIns="0" rtlCol="0">
            <a:noAutofit/>
          </a:bodyPr>
          <a:lstStyle/>
          <a:p>
            <a:endParaRPr/>
          </a:p>
        </p:txBody>
      </p:sp>
      <p:sp>
        <p:nvSpPr>
          <p:cNvPr id="1243" name="text 1">
            <a:extLst>
              <a:ext uri="{FF2B5EF4-FFF2-40B4-BE49-F238E27FC236}">
                <a16:creationId xmlns:a16="http://schemas.microsoft.com/office/drawing/2014/main" id="{5708E174-77AB-3AA4-BBE9-50915AC7D74B}"/>
              </a:ext>
            </a:extLst>
          </p:cNvPr>
          <p:cNvSpPr txBox="1"/>
          <p:nvPr/>
        </p:nvSpPr>
        <p:spPr>
          <a:xfrm>
            <a:off x="2866964" y="8497057"/>
            <a:ext cx="892232" cy="155299"/>
          </a:xfrm>
          <a:prstGeom prst="rect">
            <a:avLst/>
          </a:prstGeom>
        </p:spPr>
        <p:txBody>
          <a:bodyPr vert="horz" wrap="none" lIns="0" tIns="0" rIns="0" bIns="0" rtlCol="0">
            <a:spAutoFit/>
          </a:bodyPr>
          <a:lstStyle/>
          <a:p>
            <a:pPr marL="0">
              <a:lnSpc>
                <a:spcPct val="100000"/>
              </a:lnSpc>
            </a:pPr>
            <a:r>
              <a:rPr lang="en-US" sz="1009" b="1" spc="10" dirty="0">
                <a:latin typeface="Arial"/>
                <a:cs typeface="Arial"/>
              </a:rPr>
              <a:t>Achievements</a:t>
            </a:r>
            <a:endParaRPr sz="1000" dirty="0">
              <a:latin typeface="Arial"/>
              <a:cs typeface="Arial"/>
            </a:endParaRPr>
          </a:p>
        </p:txBody>
      </p:sp>
      <p:sp>
        <p:nvSpPr>
          <p:cNvPr id="1244" name="object 85">
            <a:extLst>
              <a:ext uri="{FF2B5EF4-FFF2-40B4-BE49-F238E27FC236}">
                <a16:creationId xmlns:a16="http://schemas.microsoft.com/office/drawing/2014/main" id="{EA5251EE-BD49-3D19-4657-52D344AD3631}"/>
              </a:ext>
            </a:extLst>
          </p:cNvPr>
          <p:cNvSpPr/>
          <p:nvPr/>
        </p:nvSpPr>
        <p:spPr>
          <a:xfrm>
            <a:off x="2228408" y="9044513"/>
            <a:ext cx="1591310" cy="6097"/>
          </a:xfrm>
          <a:custGeom>
            <a:avLst/>
            <a:gdLst/>
            <a:ahLst/>
            <a:cxnLst/>
            <a:rect l="l" t="t" r="r" b="b"/>
            <a:pathLst>
              <a:path w="1591310" h="6097">
                <a:moveTo>
                  <a:pt x="0" y="6097"/>
                </a:moveTo>
                <a:lnTo>
                  <a:pt x="1591310" y="6097"/>
                </a:lnTo>
                <a:lnTo>
                  <a:pt x="1591310" y="1"/>
                </a:lnTo>
                <a:lnTo>
                  <a:pt x="0" y="1"/>
                </a:lnTo>
                <a:close/>
              </a:path>
            </a:pathLst>
          </a:custGeom>
          <a:solidFill>
            <a:srgbClr val="000000"/>
          </a:solidFill>
        </p:spPr>
        <p:txBody>
          <a:bodyPr wrap="square" lIns="0" tIns="0" rIns="0" bIns="0" rtlCol="0">
            <a:noAutofit/>
          </a:bodyPr>
          <a:lstStyle/>
          <a:p>
            <a:endParaRPr/>
          </a:p>
        </p:txBody>
      </p:sp>
      <p:sp>
        <p:nvSpPr>
          <p:cNvPr id="1245" name="object 87">
            <a:extLst>
              <a:ext uri="{FF2B5EF4-FFF2-40B4-BE49-F238E27FC236}">
                <a16:creationId xmlns:a16="http://schemas.microsoft.com/office/drawing/2014/main" id="{990C33AF-FCF4-E4A6-6E54-992E56F05E88}"/>
              </a:ext>
            </a:extLst>
          </p:cNvPr>
          <p:cNvSpPr/>
          <p:nvPr/>
        </p:nvSpPr>
        <p:spPr>
          <a:xfrm>
            <a:off x="3825941" y="9044513"/>
            <a:ext cx="3594481" cy="6097"/>
          </a:xfrm>
          <a:custGeom>
            <a:avLst/>
            <a:gdLst/>
            <a:ahLst/>
            <a:cxnLst/>
            <a:rect l="l" t="t" r="r" b="b"/>
            <a:pathLst>
              <a:path w="3594481" h="6097">
                <a:moveTo>
                  <a:pt x="0" y="6097"/>
                </a:moveTo>
                <a:lnTo>
                  <a:pt x="3594481" y="6097"/>
                </a:lnTo>
                <a:lnTo>
                  <a:pt x="3594481" y="1"/>
                </a:lnTo>
                <a:lnTo>
                  <a:pt x="0" y="1"/>
                </a:lnTo>
                <a:close/>
              </a:path>
            </a:pathLst>
          </a:custGeom>
          <a:solidFill>
            <a:srgbClr val="000000"/>
          </a:solidFill>
        </p:spPr>
        <p:txBody>
          <a:bodyPr wrap="square" lIns="0" tIns="0" rIns="0" bIns="0" rtlCol="0">
            <a:noAutofit/>
          </a:bodyPr>
          <a:lstStyle/>
          <a:p>
            <a:endParaRPr/>
          </a:p>
        </p:txBody>
      </p:sp>
      <p:sp>
        <p:nvSpPr>
          <p:cNvPr id="1246" name="object 88">
            <a:extLst>
              <a:ext uri="{FF2B5EF4-FFF2-40B4-BE49-F238E27FC236}">
                <a16:creationId xmlns:a16="http://schemas.microsoft.com/office/drawing/2014/main" id="{2900BA7E-03DB-AC4C-2430-E6FEE943196F}"/>
              </a:ext>
            </a:extLst>
          </p:cNvPr>
          <p:cNvSpPr/>
          <p:nvPr/>
        </p:nvSpPr>
        <p:spPr>
          <a:xfrm>
            <a:off x="7409245" y="8814801"/>
            <a:ext cx="6096" cy="6097"/>
          </a:xfrm>
          <a:custGeom>
            <a:avLst/>
            <a:gdLst/>
            <a:ahLst/>
            <a:cxnLst/>
            <a:rect l="l" t="t" r="r" b="b"/>
            <a:pathLst>
              <a:path w="6096" h="6097">
                <a:moveTo>
                  <a:pt x="0" y="6097"/>
                </a:moveTo>
                <a:lnTo>
                  <a:pt x="6096" y="6097"/>
                </a:lnTo>
                <a:lnTo>
                  <a:pt x="6096" y="1"/>
                </a:lnTo>
                <a:lnTo>
                  <a:pt x="0" y="1"/>
                </a:lnTo>
                <a:close/>
              </a:path>
            </a:pathLst>
          </a:custGeom>
          <a:solidFill>
            <a:srgbClr val="000000"/>
          </a:solidFill>
        </p:spPr>
        <p:txBody>
          <a:bodyPr wrap="square" lIns="0" tIns="0" rIns="0" bIns="0" rtlCol="0">
            <a:noAutofit/>
          </a:bodyPr>
          <a:lstStyle/>
          <a:p>
            <a:endParaRPr/>
          </a:p>
        </p:txBody>
      </p:sp>
      <p:sp>
        <p:nvSpPr>
          <p:cNvPr id="1247" name="object 92">
            <a:extLst>
              <a:ext uri="{FF2B5EF4-FFF2-40B4-BE49-F238E27FC236}">
                <a16:creationId xmlns:a16="http://schemas.microsoft.com/office/drawing/2014/main" id="{FDF95D30-B167-3CED-A7CB-C9717944D0F1}"/>
              </a:ext>
            </a:extLst>
          </p:cNvPr>
          <p:cNvSpPr/>
          <p:nvPr/>
        </p:nvSpPr>
        <p:spPr>
          <a:xfrm>
            <a:off x="2217104" y="9323911"/>
            <a:ext cx="1591310" cy="6096"/>
          </a:xfrm>
          <a:custGeom>
            <a:avLst/>
            <a:gdLst/>
            <a:ahLst/>
            <a:cxnLst/>
            <a:rect l="l" t="t" r="r" b="b"/>
            <a:pathLst>
              <a:path w="1591310" h="6096">
                <a:moveTo>
                  <a:pt x="0" y="6096"/>
                </a:moveTo>
                <a:lnTo>
                  <a:pt x="1591310" y="6096"/>
                </a:lnTo>
                <a:lnTo>
                  <a:pt x="1591310" y="1"/>
                </a:lnTo>
                <a:lnTo>
                  <a:pt x="0" y="1"/>
                </a:lnTo>
                <a:close/>
              </a:path>
            </a:pathLst>
          </a:custGeom>
          <a:solidFill>
            <a:srgbClr val="000000"/>
          </a:solidFill>
        </p:spPr>
        <p:txBody>
          <a:bodyPr wrap="square" lIns="0" tIns="0" rIns="0" bIns="0" rtlCol="0">
            <a:noAutofit/>
          </a:bodyPr>
          <a:lstStyle/>
          <a:p>
            <a:endParaRPr/>
          </a:p>
        </p:txBody>
      </p:sp>
      <p:sp>
        <p:nvSpPr>
          <p:cNvPr id="1248" name="object 95">
            <a:extLst>
              <a:ext uri="{FF2B5EF4-FFF2-40B4-BE49-F238E27FC236}">
                <a16:creationId xmlns:a16="http://schemas.microsoft.com/office/drawing/2014/main" id="{687B2B76-044F-67F6-E9D0-8B159DF580BA}"/>
              </a:ext>
            </a:extLst>
          </p:cNvPr>
          <p:cNvSpPr/>
          <p:nvPr/>
        </p:nvSpPr>
        <p:spPr>
          <a:xfrm>
            <a:off x="3814637" y="9323911"/>
            <a:ext cx="3594481" cy="6096"/>
          </a:xfrm>
          <a:custGeom>
            <a:avLst/>
            <a:gdLst/>
            <a:ahLst/>
            <a:cxnLst/>
            <a:rect l="l" t="t" r="r" b="b"/>
            <a:pathLst>
              <a:path w="3594481" h="6096">
                <a:moveTo>
                  <a:pt x="0" y="6096"/>
                </a:moveTo>
                <a:lnTo>
                  <a:pt x="3594481" y="6096"/>
                </a:lnTo>
                <a:lnTo>
                  <a:pt x="3594481" y="1"/>
                </a:lnTo>
                <a:lnTo>
                  <a:pt x="0" y="1"/>
                </a:lnTo>
                <a:close/>
              </a:path>
            </a:pathLst>
          </a:custGeom>
          <a:solidFill>
            <a:srgbClr val="000000"/>
          </a:solidFill>
        </p:spPr>
        <p:txBody>
          <a:bodyPr wrap="square" lIns="0" tIns="0" rIns="0" bIns="0" rtlCol="0">
            <a:noAutofit/>
          </a:bodyPr>
          <a:lstStyle/>
          <a:p>
            <a:endParaRPr/>
          </a:p>
        </p:txBody>
      </p:sp>
      <p:sp>
        <p:nvSpPr>
          <p:cNvPr id="1249" name="object 96">
            <a:extLst>
              <a:ext uri="{FF2B5EF4-FFF2-40B4-BE49-F238E27FC236}">
                <a16:creationId xmlns:a16="http://schemas.microsoft.com/office/drawing/2014/main" id="{C4B8DCEF-81E4-C3B1-8A97-541191CCB322}"/>
              </a:ext>
            </a:extLst>
          </p:cNvPr>
          <p:cNvSpPr/>
          <p:nvPr/>
        </p:nvSpPr>
        <p:spPr>
          <a:xfrm>
            <a:off x="7409245" y="8820896"/>
            <a:ext cx="6096" cy="437389"/>
          </a:xfrm>
          <a:custGeom>
            <a:avLst/>
            <a:gdLst/>
            <a:ahLst/>
            <a:cxnLst/>
            <a:rect l="l" t="t" r="r" b="b"/>
            <a:pathLst>
              <a:path w="6096" h="437389">
                <a:moveTo>
                  <a:pt x="0" y="437389"/>
                </a:moveTo>
                <a:lnTo>
                  <a:pt x="6096" y="437389"/>
                </a:lnTo>
                <a:lnTo>
                  <a:pt x="6096" y="1"/>
                </a:lnTo>
                <a:lnTo>
                  <a:pt x="0" y="1"/>
                </a:lnTo>
                <a:close/>
              </a:path>
            </a:pathLst>
          </a:custGeom>
          <a:solidFill>
            <a:srgbClr val="000000"/>
          </a:solidFill>
        </p:spPr>
        <p:txBody>
          <a:bodyPr wrap="square" lIns="0" tIns="0" rIns="0" bIns="0" rtlCol="0">
            <a:noAutofit/>
          </a:bodyPr>
          <a:lstStyle/>
          <a:p>
            <a:endParaRPr/>
          </a:p>
        </p:txBody>
      </p:sp>
      <p:sp>
        <p:nvSpPr>
          <p:cNvPr id="1250" name="object 97">
            <a:extLst>
              <a:ext uri="{FF2B5EF4-FFF2-40B4-BE49-F238E27FC236}">
                <a16:creationId xmlns:a16="http://schemas.microsoft.com/office/drawing/2014/main" id="{A39D0E49-0BE5-CB2E-7E4A-2356C8400119}"/>
              </a:ext>
            </a:extLst>
          </p:cNvPr>
          <p:cNvSpPr/>
          <p:nvPr/>
        </p:nvSpPr>
        <p:spPr>
          <a:xfrm>
            <a:off x="7409245" y="9258285"/>
            <a:ext cx="6096" cy="6096"/>
          </a:xfrm>
          <a:custGeom>
            <a:avLst/>
            <a:gdLst/>
            <a:ahLst/>
            <a:cxnLst/>
            <a:rect l="l" t="t" r="r" b="b"/>
            <a:pathLst>
              <a:path w="6096" h="6096">
                <a:moveTo>
                  <a:pt x="0" y="6096"/>
                </a:moveTo>
                <a:lnTo>
                  <a:pt x="6096" y="6096"/>
                </a:lnTo>
                <a:lnTo>
                  <a:pt x="6096" y="1"/>
                </a:lnTo>
                <a:lnTo>
                  <a:pt x="0" y="1"/>
                </a:lnTo>
                <a:close/>
              </a:path>
            </a:pathLst>
          </a:custGeom>
          <a:solidFill>
            <a:srgbClr val="000000"/>
          </a:solidFill>
        </p:spPr>
        <p:txBody>
          <a:bodyPr wrap="square" lIns="0" tIns="0" rIns="0" bIns="0" rtlCol="0">
            <a:noAutofit/>
          </a:bodyPr>
          <a:lstStyle/>
          <a:p>
            <a:endParaRPr/>
          </a:p>
        </p:txBody>
      </p:sp>
      <p:sp>
        <p:nvSpPr>
          <p:cNvPr id="1251" name="object 98">
            <a:extLst>
              <a:ext uri="{FF2B5EF4-FFF2-40B4-BE49-F238E27FC236}">
                <a16:creationId xmlns:a16="http://schemas.microsoft.com/office/drawing/2014/main" id="{C77478E9-854B-0357-B812-E071610294E4}"/>
              </a:ext>
            </a:extLst>
          </p:cNvPr>
          <p:cNvSpPr/>
          <p:nvPr/>
        </p:nvSpPr>
        <p:spPr>
          <a:xfrm>
            <a:off x="7409245" y="9258285"/>
            <a:ext cx="6096" cy="6096"/>
          </a:xfrm>
          <a:custGeom>
            <a:avLst/>
            <a:gdLst/>
            <a:ahLst/>
            <a:cxnLst/>
            <a:rect l="l" t="t" r="r" b="b"/>
            <a:pathLst>
              <a:path w="6096" h="6096">
                <a:moveTo>
                  <a:pt x="0" y="6096"/>
                </a:moveTo>
                <a:lnTo>
                  <a:pt x="6096" y="6096"/>
                </a:lnTo>
                <a:lnTo>
                  <a:pt x="6096" y="1"/>
                </a:lnTo>
                <a:lnTo>
                  <a:pt x="0" y="1"/>
                </a:lnTo>
                <a:close/>
              </a:path>
            </a:pathLst>
          </a:custGeom>
          <a:solidFill>
            <a:srgbClr val="000000"/>
          </a:solidFill>
        </p:spPr>
        <p:txBody>
          <a:bodyPr wrap="square" lIns="0" tIns="0" rIns="0" bIns="0" rtlCol="0">
            <a:noAutofit/>
          </a:bodyPr>
          <a:lstStyle/>
          <a:p>
            <a:endParaRPr/>
          </a:p>
        </p:txBody>
      </p:sp>
      <p:sp>
        <p:nvSpPr>
          <p:cNvPr id="1252" name="text 1">
            <a:extLst>
              <a:ext uri="{FF2B5EF4-FFF2-40B4-BE49-F238E27FC236}">
                <a16:creationId xmlns:a16="http://schemas.microsoft.com/office/drawing/2014/main" id="{8E55484B-F9FB-AB3C-4B27-23406B437C9C}"/>
              </a:ext>
            </a:extLst>
          </p:cNvPr>
          <p:cNvSpPr txBox="1"/>
          <p:nvPr/>
        </p:nvSpPr>
        <p:spPr>
          <a:xfrm>
            <a:off x="2254422" y="9058164"/>
            <a:ext cx="1544975" cy="139910"/>
          </a:xfrm>
          <a:prstGeom prst="rect">
            <a:avLst/>
          </a:prstGeom>
        </p:spPr>
        <p:txBody>
          <a:bodyPr vert="horz" wrap="none" lIns="0" tIns="0" rIns="0" bIns="0" rtlCol="0">
            <a:spAutoFit/>
          </a:bodyPr>
          <a:lstStyle/>
          <a:p>
            <a:pPr marL="0">
              <a:lnSpc>
                <a:spcPct val="100000"/>
              </a:lnSpc>
            </a:pPr>
            <a:r>
              <a:rPr lang="en-US" sz="909" b="1" spc="10" dirty="0">
                <a:latin typeface="Arial"/>
                <a:cs typeface="Arial"/>
              </a:rPr>
              <a:t>Skills &amp; Technologies Used</a:t>
            </a:r>
            <a:endParaRPr sz="900" dirty="0">
              <a:latin typeface="Arial"/>
              <a:cs typeface="Arial"/>
            </a:endParaRPr>
          </a:p>
        </p:txBody>
      </p:sp>
      <p:sp>
        <p:nvSpPr>
          <p:cNvPr id="1253" name="text 1">
            <a:extLst>
              <a:ext uri="{FF2B5EF4-FFF2-40B4-BE49-F238E27FC236}">
                <a16:creationId xmlns:a16="http://schemas.microsoft.com/office/drawing/2014/main" id="{FF3CCD13-096E-BB91-857E-23156B26C98E}"/>
              </a:ext>
            </a:extLst>
          </p:cNvPr>
          <p:cNvSpPr txBox="1"/>
          <p:nvPr/>
        </p:nvSpPr>
        <p:spPr>
          <a:xfrm>
            <a:off x="3870956" y="9041785"/>
            <a:ext cx="3601536" cy="279820"/>
          </a:xfrm>
          <a:prstGeom prst="rect">
            <a:avLst/>
          </a:prstGeom>
        </p:spPr>
        <p:txBody>
          <a:bodyPr vert="horz" wrap="square" lIns="0" tIns="0" rIns="0" bIns="0" rtlCol="0">
            <a:spAutoFit/>
          </a:bodyPr>
          <a:lstStyle/>
          <a:p>
            <a:pPr marL="0">
              <a:lnSpc>
                <a:spcPct val="100000"/>
              </a:lnSpc>
            </a:pPr>
            <a:r>
              <a:rPr lang="en-US" sz="909" spc="10" dirty="0">
                <a:latin typeface="Arial"/>
                <a:cs typeface="Arial"/>
              </a:rPr>
              <a:t>Project scheduling, resource allocation, stakeholder engagement, risk management, logistics for deployments.</a:t>
            </a:r>
            <a:endParaRPr sz="909" spc="10" dirty="0">
              <a:latin typeface="Arial"/>
              <a:cs typeface="Arial"/>
            </a:endParaRPr>
          </a:p>
        </p:txBody>
      </p:sp>
      <p:cxnSp>
        <p:nvCxnSpPr>
          <p:cNvPr id="1254" name="Straight Connector 1253">
            <a:extLst>
              <a:ext uri="{FF2B5EF4-FFF2-40B4-BE49-F238E27FC236}">
                <a16:creationId xmlns:a16="http://schemas.microsoft.com/office/drawing/2014/main" id="{26B653B1-F4D0-9528-DB40-AB98DE53ABFB}"/>
              </a:ext>
            </a:extLst>
          </p:cNvPr>
          <p:cNvCxnSpPr/>
          <p:nvPr/>
        </p:nvCxnSpPr>
        <p:spPr>
          <a:xfrm>
            <a:off x="2208087" y="8145281"/>
            <a:ext cx="0" cy="11847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5" name="Straight Connector 1254">
            <a:extLst>
              <a:ext uri="{FF2B5EF4-FFF2-40B4-BE49-F238E27FC236}">
                <a16:creationId xmlns:a16="http://schemas.microsoft.com/office/drawing/2014/main" id="{A41AC26C-327E-38A2-2F47-C9BF01D56AE3}"/>
              </a:ext>
            </a:extLst>
          </p:cNvPr>
          <p:cNvCxnSpPr/>
          <p:nvPr/>
        </p:nvCxnSpPr>
        <p:spPr>
          <a:xfrm>
            <a:off x="3814637" y="8135488"/>
            <a:ext cx="11304" cy="1194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56" name="TextBox 1255">
            <a:extLst>
              <a:ext uri="{FF2B5EF4-FFF2-40B4-BE49-F238E27FC236}">
                <a16:creationId xmlns:a16="http://schemas.microsoft.com/office/drawing/2014/main" id="{59109EDD-FB51-3CB5-9638-066C7BF0A745}"/>
              </a:ext>
            </a:extLst>
          </p:cNvPr>
          <p:cNvSpPr txBox="1"/>
          <p:nvPr/>
        </p:nvSpPr>
        <p:spPr>
          <a:xfrm>
            <a:off x="2190318" y="6059892"/>
            <a:ext cx="2000682" cy="246221"/>
          </a:xfrm>
          <a:prstGeom prst="rect">
            <a:avLst/>
          </a:prstGeom>
          <a:noFill/>
        </p:spPr>
        <p:txBody>
          <a:bodyPr wrap="square">
            <a:spAutoFit/>
          </a:bodyPr>
          <a:lstStyle/>
          <a:p>
            <a:r>
              <a:rPr lang="en-US" sz="1010" b="1" dirty="0">
                <a:solidFill>
                  <a:schemeClr val="bg1"/>
                </a:solidFill>
              </a:rPr>
              <a:t>U.S. Army | CW4 | 913A</a:t>
            </a:r>
          </a:p>
        </p:txBody>
      </p:sp>
      <p:sp>
        <p:nvSpPr>
          <p:cNvPr id="1257" name="TextBox 1256">
            <a:extLst>
              <a:ext uri="{FF2B5EF4-FFF2-40B4-BE49-F238E27FC236}">
                <a16:creationId xmlns:a16="http://schemas.microsoft.com/office/drawing/2014/main" id="{031B3080-148A-EDA3-F2D6-3BD54EA394E1}"/>
              </a:ext>
            </a:extLst>
          </p:cNvPr>
          <p:cNvSpPr txBox="1"/>
          <p:nvPr/>
        </p:nvSpPr>
        <p:spPr>
          <a:xfrm>
            <a:off x="2179842" y="7765095"/>
            <a:ext cx="1477757" cy="246221"/>
          </a:xfrm>
          <a:prstGeom prst="rect">
            <a:avLst/>
          </a:prstGeom>
          <a:noFill/>
        </p:spPr>
        <p:txBody>
          <a:bodyPr wrap="square">
            <a:spAutoFit/>
          </a:bodyPr>
          <a:lstStyle/>
          <a:p>
            <a:r>
              <a:rPr lang="en-US" sz="1010" b="1" dirty="0">
                <a:solidFill>
                  <a:schemeClr val="bg1"/>
                </a:solidFill>
              </a:rPr>
              <a:t>U.S. Army | CW2 | 913A</a:t>
            </a:r>
          </a:p>
        </p:txBody>
      </p:sp>
      <p:sp>
        <p:nvSpPr>
          <p:cNvPr id="1259" name="text 1">
            <a:extLst>
              <a:ext uri="{FF2B5EF4-FFF2-40B4-BE49-F238E27FC236}">
                <a16:creationId xmlns:a16="http://schemas.microsoft.com/office/drawing/2014/main" id="{E7366522-508D-B6DF-AEE9-67242C19A5E7}"/>
              </a:ext>
            </a:extLst>
          </p:cNvPr>
          <p:cNvSpPr txBox="1"/>
          <p:nvPr/>
        </p:nvSpPr>
        <p:spPr>
          <a:xfrm>
            <a:off x="3866828" y="6811017"/>
            <a:ext cx="3481139" cy="419730"/>
          </a:xfrm>
          <a:prstGeom prst="rect">
            <a:avLst/>
          </a:prstGeom>
        </p:spPr>
        <p:txBody>
          <a:bodyPr vert="horz" wrap="square" lIns="0" tIns="0" rIns="0" bIns="0" rtlCol="0">
            <a:spAutoFit/>
          </a:bodyPr>
          <a:lstStyle/>
          <a:p>
            <a:pPr marL="0">
              <a:lnSpc>
                <a:spcPct val="100000"/>
              </a:lnSpc>
            </a:pPr>
            <a:r>
              <a:rPr lang="en-US" sz="909" spc="10" dirty="0">
                <a:latin typeface="Arial"/>
                <a:cs typeface="Arial"/>
              </a:rPr>
              <a:t>Reduced operational downtime by 15% and increased equipment life expectancy by 25%. led the revision of safety procedures that reduced work-related injuries by 40%.</a:t>
            </a:r>
            <a:endParaRPr sz="909" spc="10" dirty="0">
              <a:latin typeface="Arial"/>
              <a:cs typeface="Arial"/>
            </a:endParaRPr>
          </a:p>
        </p:txBody>
      </p:sp>
      <p:sp>
        <p:nvSpPr>
          <p:cNvPr id="1260" name="text 1">
            <a:extLst>
              <a:ext uri="{FF2B5EF4-FFF2-40B4-BE49-F238E27FC236}">
                <a16:creationId xmlns:a16="http://schemas.microsoft.com/office/drawing/2014/main" id="{6C4102C6-6B3D-7AC1-AA9E-D53C336CC2A6}"/>
              </a:ext>
            </a:extLst>
          </p:cNvPr>
          <p:cNvSpPr txBox="1"/>
          <p:nvPr/>
        </p:nvSpPr>
        <p:spPr>
          <a:xfrm>
            <a:off x="3882859" y="8478647"/>
            <a:ext cx="3506957" cy="419730"/>
          </a:xfrm>
          <a:prstGeom prst="rect">
            <a:avLst/>
          </a:prstGeom>
        </p:spPr>
        <p:txBody>
          <a:bodyPr vert="horz" wrap="square" lIns="0" tIns="0" rIns="0" bIns="0" rtlCol="0">
            <a:spAutoFit/>
          </a:bodyPr>
          <a:lstStyle/>
          <a:p>
            <a:pPr marL="0">
              <a:lnSpc>
                <a:spcPct val="100000"/>
              </a:lnSpc>
            </a:pPr>
            <a:r>
              <a:rPr lang="en-US" sz="909" spc="10" dirty="0">
                <a:latin typeface="Arial"/>
                <a:cs typeface="Arial"/>
              </a:rPr>
              <a:t>Enhanced operational readiness by 15%, boosted armament system longevity by 20%, and reduced system downtimes by 15%. Fostered a 30% increase in team proficiency through training.</a:t>
            </a:r>
            <a:endParaRPr sz="909" spc="10" dirty="0">
              <a:latin typeface="Arial"/>
              <a:cs typeface="Arial"/>
            </a:endParaRPr>
          </a:p>
        </p:txBody>
      </p:sp>
      <p:cxnSp>
        <p:nvCxnSpPr>
          <p:cNvPr id="15" name="Straight Connector 14">
            <a:extLst>
              <a:ext uri="{FF2B5EF4-FFF2-40B4-BE49-F238E27FC236}">
                <a16:creationId xmlns:a16="http://schemas.microsoft.com/office/drawing/2014/main" id="{25496DEB-1840-76BC-ED1F-264D898BC390}"/>
              </a:ext>
            </a:extLst>
          </p:cNvPr>
          <p:cNvCxnSpPr/>
          <p:nvPr/>
        </p:nvCxnSpPr>
        <p:spPr>
          <a:xfrm>
            <a:off x="7376160" y="2443599"/>
            <a:ext cx="0" cy="1140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6B60FCF-7F16-B6EA-0D01-F50D744CCDAB}"/>
              </a:ext>
            </a:extLst>
          </p:cNvPr>
          <p:cNvCxnSpPr/>
          <p:nvPr/>
        </p:nvCxnSpPr>
        <p:spPr>
          <a:xfrm flipV="1">
            <a:off x="7394451" y="4177847"/>
            <a:ext cx="0" cy="7172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82DEEF7-2057-15B7-182C-F632925AC911}"/>
              </a:ext>
            </a:extLst>
          </p:cNvPr>
          <p:cNvCxnSpPr/>
          <p:nvPr/>
        </p:nvCxnSpPr>
        <p:spPr>
          <a:xfrm>
            <a:off x="7402517" y="5876541"/>
            <a:ext cx="0" cy="65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A5B0318-A29A-DADB-8E1E-8BC622CC38F6}"/>
              </a:ext>
            </a:extLst>
          </p:cNvPr>
          <p:cNvCxnSpPr/>
          <p:nvPr/>
        </p:nvCxnSpPr>
        <p:spPr>
          <a:xfrm>
            <a:off x="7402517" y="7561639"/>
            <a:ext cx="6601" cy="71722"/>
          </a:xfrm>
          <a:prstGeom prst="line">
            <a:avLst/>
          </a:prstGeom>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E0ACF1D3-44E0-A438-F5A6-98A80E616F94}"/>
              </a:ext>
            </a:extLst>
          </p:cNvPr>
          <p:cNvCxnSpPr>
            <a:cxnSpLocks/>
          </p:cNvCxnSpPr>
          <p:nvPr/>
        </p:nvCxnSpPr>
        <p:spPr>
          <a:xfrm flipH="1" flipV="1">
            <a:off x="7410582" y="9187791"/>
            <a:ext cx="5713" cy="142216"/>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15124</TotalTime>
  <Words>895</Words>
  <Application>Microsoft Office PowerPoint</Application>
  <PresentationFormat>Custom</PresentationFormat>
  <Paragraphs>95</Paragraphs>
  <Slides>2</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9" baseType="lpstr">
      <vt:lpstr>Aptos</vt:lpstr>
      <vt:lpstr>Arial</vt:lpstr>
      <vt:lpstr>Calibri</vt:lpstr>
      <vt:lpstr>Söhne</vt:lpstr>
      <vt:lpstr>Times New Roman</vt:lpstr>
      <vt:lpstr>Office Theme</vt:lpstr>
      <vt:lpstr>Adobe Acrobat Document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parham</dc:creator>
  <cp:lastModifiedBy>james parham</cp:lastModifiedBy>
  <cp:revision>60</cp:revision>
  <dcterms:created xsi:type="dcterms:W3CDTF">2024-02-11T08:47:30Z</dcterms:created>
  <dcterms:modified xsi:type="dcterms:W3CDTF">2024-03-29T17:47:17Z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2024-02-11T00:00:00Z</vt:filetime>
  </property>
  <property fmtid="{D5CDD505-2E9C-101B-9397-08002B2CF9AE}" pid="3" name="LastSaved">
    <vt:filetime>2024-02-11T00:00:00Z</vt:filetime>
  </property>
</Properties>
</file>